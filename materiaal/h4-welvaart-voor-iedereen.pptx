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10.jpg" ContentType="image/jpg"/>
  <Override PartName="/ppt/media/image11.jpg" ContentType="image/jpg"/>
  <Override PartName="/ppt/media/image17.jpg" ContentType="image/jpg"/>
  <Override PartName="/ppt/media/image18.jpg" ContentType="image/jpg"/>
  <Override PartName="/ppt/media/image19.jpg" ContentType="image/jpg"/>
  <Override PartName="/ppt/media/image2.jpg" ContentType="image/jpg"/>
  <Override PartName="/ppt/media/image21.jpg" ContentType="image/jpg"/>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media/image3.jpg" ContentType="image/jpg"/>
  <Override PartName="/ppt/media/image37.jpg" ContentType="image/jpg"/>
  <Override PartName="/ppt/media/image38.jpg" ContentType="image/jpg"/>
  <Override PartName="/ppt/media/image41.jpg" ContentType="image/jpg"/>
  <Override PartName="/ppt/media/image48.jpg" ContentType="image/jpg"/>
  <Override PartName="/ppt/media/image49.jpg" ContentType="image/jpg"/>
  <Override PartName="/ppt/media/image7.jpg" ContentType="image/jpg"/>
  <Override PartName="/ppt/media/image8.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82" d="100"/>
          <a:sy n="82" d="100"/>
        </p:scale>
        <p:origin x="192"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320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Welkom bij hoofdstuk 4. Laat de klas eerst even naar de foto kijken: mensen in hun nette kleren die vol verbazing naar één klein zwart-wit schermpje staren. Vraag: "Waarom kijken deze mensen zo geïnteresseerd naar een tv?" Voor ons is een tv heel gewoon, in 1951 was het een wonder. In dit hoofdstuk ontdekken we hoe Nederland van een arm, verwoest land na de oorlog uitgroeide tot een land waar (bijna) iedereen welvaart heeft.
VISUEEL &amp; ANIMATIE
Achtergrond: sfeerbeeld van een tv-demonstratie (AI-illustratie, labeltje rechtsonder). Klik 1: ondertitel zweeft omhoog (Float In), direct gevolgd door "Economie · 3 mavo". De overgang naar de volgende dia is Morph: de witte kaart schuift mee en verandert van vorm.
VIDEO / MULTIMEDIA
Optioneel als opener: Schooltv – "De televisie: voor het eerst televisiekijken in Nederland" https://schooltv.nl/video-item/de-televisie-voor-het-eerst-televisiekijken-in-nederland</a:t>
            </a:r>
          </a:p>
        </p:txBody>
      </p:sp>
      <p:sp>
        <p:nvSpPr>
          <p:cNvPr id="4" name="Slide Number Placeholder 3"/>
          <p:cNvSpPr>
            <a:spLocks noGrp="1"/>
          </p:cNvSpPr>
          <p:nvPr>
            <p:ph type="sldNum" sz="quarter" idx="10"/>
          </p:nvPr>
        </p:nvSpPr>
        <p:spPr/>
        <p:txBody>
          <a:bodyPr/>
          <a:lstStyle/>
          <a:p>
            <a:fld id="{F7021451-1387-4CA6-816F-3879F97B5CBC}" type="slidenum">
              <a:rPr lang="nl-NL"/>
              <a:t>1</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Vertel het verhaal uit de inleiding: een echtpaar met hun zoon gaat in hun beste kleren naar de beurs om het nieuwe wonder van de techniek te zien: de televisie. Een klein vierkant toestel met zwart-wit beeld. In 1951 was de eerste tv-uitzending, er was maar één zender (de tweede kwam pas in 1964) en om half elf was het afgelopen, want iedereen moest de volgende dag vroeg op.
Laat de klas raden hoeveel een tv kostte. Antwoord: in 1963 kostte een gewone tv twee volle maandsalarissen van een vakman. Het was normaal om eerst te sparen en dan pas te kopen.
Brug naar het hoofdstuk: vanaf 1960 ging het goed met de economie. Fiets werd bromfiets, bromfiets werd auto. Philips groeide uit tot een van de grootste elektronicabedrijven ter wereld. Hoe kon dat, zo kort na de oorlog? Dat is de vraag van vandaag.
VISUEEL &amp; ANIMATIE
Echte bron uit het boek (foto 1954). Klik 1: oranje kader om de tv's (Zoom met kleine 'pop'), direct daarna vergrootglas-cirkel met uitsnede van de tv. Klik 2: vraagkaart vliegt van rechts in. Klik 3: antwoord popt (Zoom). Klik 4-6: drie feiten zweven één voor één omhoog. Blauwe knop rechtsonder opent de Schooltv-video.
VIDEO / MULTIMEDIA
Schooltv – "De televisie: voor het eerst televisiekijken in Nederland" (kort, geschikt als opener) https://schooltv.nl/video-item/de-televisie-voor-het-eerst-televisiekijken-in-nederland</a:t>
            </a:r>
          </a:p>
        </p:txBody>
      </p:sp>
      <p:sp>
        <p:nvSpPr>
          <p:cNvPr id="4" name="Slide Number Placeholder 3"/>
          <p:cNvSpPr>
            <a:spLocks noGrp="1"/>
          </p:cNvSpPr>
          <p:nvPr>
            <p:ph type="sldNum" sz="quarter" idx="10"/>
          </p:nvPr>
        </p:nvSpPr>
        <p:spPr/>
        <p:txBody>
          <a:bodyPr/>
          <a:lstStyle/>
          <a:p>
            <a:fld id="{F7021451-1387-4CA6-816F-3879F97B5CBC}" type="slidenum">
              <a:rPr lang="nl-NL"/>
              <a:t>2</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Dit is de 'kaart' van het hoofdstuk. Lees de hoofdvraag samen hardop. Leg uit dat we een tijdreis maken in vijf stappen: de oorlog, de wederopbouw, de welvaart van de jaren 60, de crisis van de jaren 70 en tot slot Nederland nu. Bij elke stap zoomen we in, en daarna komen we steeds terug op deze kaart, zodat leerlingen zien waar ze zijn.
Vraag: "Welke plaatjes herken je al? Wat denk je dat er in elk deel gebeurt?"
VISUEEL &amp; ANIMATIE
Prezi-overzicht. Klik 1: tegel 1 popt in beeld. Klik 2-5: steeds tekent een stippellijn zich van links naar rechts (Wipe) naar de volgende tegel, die daarna popt (Zoom). De stippellijn is de 'rode draad' van het hoofdstuk.
De volgende dia gebruikt Morph: de eerste tegel (infographic) heeft in beide dia's de naam "!!tile1", daardoor zoomt PowerPoint vloeiend de tegel in tot schermvullend beeld. Op de latere overzichtsdia's zijn de tegels klikbaar (hyperlink) zodat je ook vrij kunt springen.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Dit is de hele infographic in één keer: laat de leerlingen 20 seconden kijken zonder dat je iets zegt. Vraag: "Welke twee delen zie je?" Links 1940-1943: de bezetting, waarin de Duitsers de Nederlandse economie steeds meer uitbuiten. Rechts 1944-1945: alles stort in en er komt hongersnood.
Kernboodschap: in de oorlog ontdekte Nederland opnieuw hoe afhankelijk de economie is van het buitenland. We gaan nu inzoomen en steeds zoeken naar oorzaak en gevolg.
VISUEEL &amp; ANIMATIE
Morph vanaf het overzicht: de kleine tegel zoomt uit tot deze schermvullende infographic. Klik 1: oranje kader + chip "FASE 1" poppen om het kopje 1940-1943. Klik 2: hetzelfde voor 1944-1945. Tip: de volgende dia's gebruiken dezelfde afbeelding (zelfde naam "!!info_oorlog"), alleen veel groter en verschoven. Morph maakt daar een camera-zoom van, zoals in Prezi.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4</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Op 10 mei 1940 viel Duitsland Nederland aan. Na vijf dagen was de strijd voorbij en begon de bezetting. Verrassend: in 1940 en 1941 ging het juist goed met de Nederlandse economie. De Duitsers bestelden veel bij Nederlandse bedrijven, er was volop werk en de Duitsers betaalden goed.
Vraag: "Is dit goed nieuws of slecht nieuws?" Laat de klas discussiëren: goed voor werk en loon, maar je werkt wel voor de bezetter.
VISUEEL &amp; ANIMATIE
Morph zoomt de camera in op de fabriek (dezelfde afbeelding, 3,5× vergroot en verschoven). Klik 1: oranje cirkel popt rond de fabriek. Klik 2: OORZAAK vliegt van links in. Klik 3: een oranje pijl 'schiet' naar beneden (Wipe) en direct daarna popt het GEVOLG (Zoom met kleine overshoot). Onderaan loopt de 'rode draad' van het hele hoofdstuk mee; het bolletje staat op Oorlog.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5</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Toen de oorlog steeds slechter ging voor de Duitsers, veranderde dat. Er moesten steeds meer spullen voor het Duitse leger gemaakt worden, en er werden minder gewone consumptiegoederen gemaakt. Erger nog: de Duitsers betaalden slecht, bijvoorbeeld met Duits geld dat in Nederland onbruikbaar was. Eigenlijk werd de Nederlandse productie gewoon ingepikt.
Laat de gebroken bankbiljet-afbeelding zien: "Waarom is dit biljet gebroken?"
VISUEEL &amp; ANIMATIE
Morph 'pant' de camera naar rechts, naar het gebroken biljet. Zelfde opbouw: cirkel → oorzaak (Fly In) → pijl (Wipe) → gevolg (Zoom-pop).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6</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Hoe langer de oorlog duurde, hoe meer Duitse mannen in het leger moesten. Hun plaatsen in Duitse fabrieken werden opgevuld door Nederlandse arbeiders. Eerst waren dat vooral werklozen die vrijwillig gingen. Later werden honderdduizenden Nederlandse mannen gedwongen om in Duitsland te werken: de Arbeitseinsatz. Alleen mannen die 'economisch essentieel' waren, hoefden niet.
Extra: vanaf mei 1943 moesten alle mannen van 18 tot 35 jaar zich melden. Veel mannen doken onder. Uiteindelijk hebben ruim een half miljoen Nederlanders in Duitsland gewerkt.
VISUEEL &amp; ANIMATIE
Camera schuift naar het spoor met de mannen. Cirkel, oorzaak, pijl, gevolg. Het begrip Arbeitseinsatz verschijnt als label onder het gevolg. Schooltv-knop rechtsonder.
VIDEO / MULTIMEDIA
Schooltv – "Arbeitseinsatz in oorlog" (ooggetuigen Joop en Co vertellen) https://schooltv.nl/video-item/arbeitseinsatz-te-werk-worden-gesteld-in-de-tweede-wereldoorlog</a:t>
            </a:r>
          </a:p>
        </p:txBody>
      </p:sp>
      <p:sp>
        <p:nvSpPr>
          <p:cNvPr id="4" name="Slide Number Placeholder 3"/>
          <p:cNvSpPr>
            <a:spLocks noGrp="1"/>
          </p:cNvSpPr>
          <p:nvPr>
            <p:ph type="sldNum" sz="quarter" idx="10"/>
          </p:nvPr>
        </p:nvSpPr>
        <p:spPr/>
        <p:txBody>
          <a:bodyPr/>
          <a:lstStyle/>
          <a:p>
            <a:fld id="{F7021451-1387-4CA6-816F-3879F97B5CBC}" type="slidenum">
              <a:rPr lang="nl-NL"/>
              <a:t>7</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Nieuw kopje: Gebrek aan alles. In de oorlog bleek opnieuw dat de Nederlandse economie afhankelijk is van het buitenland: veel grondstoffen kwamen uit het buitenland en veel producten waren bedoeld voor export. Die handel viel bijna helemaal stil.
In het laatste oorlogsjaar braken de Duitsers in Rotterdam de bruikbare haveninstallaties af en sleepten ze naar Duitsland. Toen dat niet meer lukte, vernielden ze ongeveer een derde van de kranen. Ook namen ze alles mee wat ze konden gebruiken: auto's, paarden en vee, fietsen, brandstof, machines en meubels.
Vraag: "Waarom is een kapotte haven zo'n groot probleem voor Nederland?" (Zonder haven geen handel, en zonder handel geen grondstoffen en geen export.)
VISUEEL &amp; ANIMATIE
Camera zoomt naar de rechterhelft van de infographic: de kraan. Deze dia heeft twee oorzaken: klik 2 en klik 3 laten ze één voor één invliegen, klik 4 schiet de pijl naar het gevolg.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8</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Het roven van spullen was een van de oorzaken van de Hongerwinter in de winter van 1944-1945. In het westen van het land was er geen brandstof, geen eten en geen vervoer om voedsel te brengen. Mensen aten tulpenbollen en suikerbieten en liepen kilometers voor een beetje eten. Naar schatting 20.000 mensen overleefden de Hongerwinter niet.
Koppeling naar later: na de oorlog wilde de regering dat Nederland NOOIT meer honger zou hebben. Dat zie je terug bij de veranderingen in de landbouw.
VISUEEL &amp; ANIMATIE
Camera schuift naar de Hongerwinter-illustratie (hand in de sneeuw). Cirkel, oorzaak, pijl, gevolg. Schooltv-knop voor de High Speed History-video.
VIDEO / MULTIMEDIA
Schooltv – "High Speed History: Wat was de hongerwinter?" (kort) https://schooltv.nl/video-item/high-speed-history-wat-was-de-hongerwinter
Alternatief, langer: "Hoe erg was de hongerwinter?" https://schooltv.nl/item/hoe-erg-was-de-hongerwinter</a:t>
            </a:r>
          </a:p>
        </p:txBody>
      </p:sp>
      <p:sp>
        <p:nvSpPr>
          <p:cNvPr id="4" name="Slide Number Placeholder 3"/>
          <p:cNvSpPr>
            <a:spLocks noGrp="1"/>
          </p:cNvSpPr>
          <p:nvPr>
            <p:ph type="sldNum" sz="quarter" idx="10"/>
          </p:nvPr>
        </p:nvSpPr>
        <p:spPr/>
        <p:txBody>
          <a:bodyPr/>
          <a:lstStyle/>
          <a:p>
            <a:fld id="{F7021451-1387-4CA6-816F-3879F97B5CBC}" type="slidenum">
              <a:rPr lang="nl-NL"/>
              <a:t>9</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Bron 44: tijdens de bezetting kwam er een distributiestelsel. Iedereen kreeg bonnen; alleen met een bon mocht je bijvoorbeeld brood, suiker of koffie kopen. Zo was er genoeg voor iedereen. Voor sommige producten bleven de bonnen nog jaren na de oorlog bestaan. Pas in 1952 verdwenen de laatste distributiebonnen, en was ook koffie weer gewoon vrij te koop.
Laat de leerlingen de tekst op het schoolbord voorlezen: "Niet langer getreurd, met de koffiebon is het gebeurd!" Vraag: "Waarom is dat zo'n feest?" en "Waarom duurde het na de oorlog nog 7 jaar voordat de bonnen weg waren?" (Er was nog steeds te weinig van alles.)
VISUEEL &amp; ANIMATIE
Echte bronfoto uit het boek. Klik 1: oranje kader om het schoolbord, direct daarna een vergrootglas-cirkel met de uitsnede (zoom-in op het detail van de bron). Klik 2: vraag vliegt in. Klik 3: antwoord popt. Klik 4: begrip 'distributie' met de bonkaart uit de infographic zweeft omhoog.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10</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Terug naar de kaart. Vraag een leerling om in één zin samen te vatten wat er in de oorlog met de economie gebeurde. (Eerst veel werk, daarna roof, dwangarbeid en honger.) Volgende stap: hoe bouw je een land weer op?
VISUEEL &amp; ANIMATIE
Morph zoomt terug uit naar het overzicht. Klik 1: groen vinkje popt op tegel 1. Klik 2: oranje kader + "VOLGENDE" rond tegel 2. De tegels zijn klikbaar (hyperlink naar het begin van elk deel).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11</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Op 5 mei 1945 was de vreugde over het einde van de bezetting groot. Maar voor veel mensen was de blijdschap van korte duur. Van de negen miljoen Nederlanders had een kwart miljoen de oorlog niet overleefd. Ruim een half miljoen mensen had geen huis meer. In de zomer van 1945 waren er 800.000 mensen die alleen de kleren hadden die ze droegen.
Voor de regering was duidelijk: dit moest snel beter. Maar dat kon alleen als de bevolking daar zelf aan meewerkte: hard werken én genoegen nemen met een laag loon.
Vraag: "Wat zou jij als eerste opbouwen: huizen, fabrieken of de haven? Waarom?" (In werkelijkheid kregen havens, bruggen en fabrieken voorrang, daarna pas huizen.)
VISUEEL &amp; ANIMATIE
Morph vanaf het overzicht: tegel 2 groeit uit tot schermvullend beeld (sfeerbeeld van een verwoeste stad, AI-illustratie). Klik 1: inleiding zweeft in. Klik 2-4: telkens popt een icoon (uitgesneden uit de oorlogsinfographic) en vliegt het getal van rechts in. Klik 5: de opdracht popt.
VIDEO / MULTIMEDIA
Schooltv – "Wederopbouw en woningnood in de jaren 50" https://schooltv.nl/video-item/wederopbouw-en-woningnood-in-de-jaren-50-nederland-na-de-tweede-wereldoorlog</a:t>
            </a:r>
          </a:p>
        </p:txBody>
      </p:sp>
      <p:sp>
        <p:nvSpPr>
          <p:cNvPr id="4" name="Slide Number Placeholder 3"/>
          <p:cNvSpPr>
            <a:spLocks noGrp="1"/>
          </p:cNvSpPr>
          <p:nvPr>
            <p:ph type="sldNum" sz="quarter" idx="10"/>
          </p:nvPr>
        </p:nvSpPr>
        <p:spPr/>
        <p:txBody>
          <a:bodyPr/>
          <a:lstStyle/>
          <a:p>
            <a:fld id="{F7021451-1387-4CA6-816F-3879F97B5CBC}" type="slidenum">
              <a:rPr lang="nl-NL"/>
              <a:t>12</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Deze infographic laat de hele wederopbouw zien als één weg van 1945 naar 1960. Vier fases: (1) 1945, de sobere start; (2) 1948-1954, Marshallhulp en harmoniemodel; (3) 1955-1960, industrie, landbouw en export; (4) rond 1960, de opkomst van de consumptiemaatschappij.
Vraag: "Kijk naar de kleuren van links naar rechts. Wat vertellen die?" (Van grijs en somber naar kleurrijk en vrolijk: van armoede naar welvaart.)
VISUEEL &amp; ANIMATIE
Klik 1: een oranje 'rode draad' tekent zich van links naar rechts over het scherm (Wipe, 1,2 s) en badge 1 popt. Klik 2-4: badges 2, 3 en 4 poppen. Daarna zoomt Morph per fase in. De rode draad blijft onderaan zichtbaar als fase-balk in de kaart, zodat de context van de hele lijn nooit verdwijnt.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13</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Fase 1: de sobere start. Nederland had enorme oorlogsschade en een groot tekort aan woningen. Er was extreme schaarste: eten en kleding bleven op de bon. De regering wist: we komen er alleen uit als iedereen hard werkt en genoegen neemt met een laag loon.
Vraag: "Zou jij hard willen werken voor weinig geld? Wat zou je in ruil willen hebben?" (Dit komt terug bij het harmoniemodel.)
VISUEEL &amp; ANIMATIE
Morph zoomt de camera in op fase 1 (ruïnes en gezin). Klik 1: fase-label popt. Klik 2-4: drie kernpunten zweven omhoog. Onderaan in de kaart de fase-balk: het oranje bolletje staat op 1945.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14</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Fase 2: in deze periode kwamen twee dingen samen die het herstel versnelden. Van buiten: de Marshallhulp uit Amerika. Van binnen: het harmoniemodel, waarin overheid, werkgevers en vakbonden samenwerkten. Die twee gaan we nu allebei uitdiepen, eerst de Marshallhulp.
VISUEEL &amp; ANIMATIE
Morph 'rijdt' de camera over de lijn naar fase 2; het oranje bolletje in de fase-balk schuift mee naar '48–'54. Klik 1: fase-label, klik 2-4: kernpunten.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15</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De Marshallhulp in één plaatje. Lees de infographic van links naar rechts: links het PROBLEEM (Nederland in crisis), in het midden de 'rivier' van dollars, rechts het RESULTAAT (herstel en welvaart).
De Amerikaanse minister van Buitenlandse Zaken, George Marshall, bood in 1947 alle Europese landen hulp aan om hun economie te herstellen. Nederland ontving tussen 1948 en 1954 ruim een miljard dollar.
Extra (niet in het boek, wel handig): Amerika hielp niet alleen uit vriendelijkheid. Een sterk Europa was een goede klant voor Amerikaanse producten én een bondgenoot tegen het communisme.
VISUEEL &amp; ANIMATIE
Andere infographic, dus hier maakt Morph een zachte overvloeiing. Klik 1: chip PROBLEEM popt links. Klik 2: een grote oranje pijl 'Marshallhulp' schiet van links naar rechts (Wipe) en direct daarna popt de chip RESULTAAT. Startpunt van de kaart is linksboven: 'Een land in puin'. Daar zoomt de volgende dia op in.
VIDEO / MULTIMEDIA
Schooltv – "High Speed History: Wat was het Marshallplan?" (± 2 min, past precies hier) https://schooltv.nl/video-item/high-speed-history-wat-was-het-marshallplan</a:t>
            </a:r>
          </a:p>
        </p:txBody>
      </p:sp>
      <p:sp>
        <p:nvSpPr>
          <p:cNvPr id="4" name="Slide Number Placeholder 3"/>
          <p:cNvSpPr>
            <a:spLocks noGrp="1"/>
          </p:cNvSpPr>
          <p:nvPr>
            <p:ph type="sldNum" sz="quarter" idx="10"/>
          </p:nvPr>
        </p:nvSpPr>
        <p:spPr/>
        <p:txBody>
          <a:bodyPr/>
          <a:lstStyle/>
          <a:p>
            <a:fld id="{F7021451-1387-4CA6-816F-3879F97B5CBC}" type="slidenum">
              <a:rPr lang="nl-NL"/>
              <a:t>16</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Startpunt: een land in puin. Enorme oorlogsschade, verwoeste wegen en bruggen, en een groot tekort aan geld en grondstoffen. Na de Hongerwinter en de bezetting waren mensen bang dat de economie helemaal zou instorten en dat er onrust zou komen.
Vraag: "Waarom kan een land zonder geld en grondstoffen zichzelf moeilijk herstellen?" (Je hebt machines en grondstoffen nodig om te produceren, maar zonder productie verdien je geen geld om ze te kopen: een vicieuze cirkel.)
VISUEEL &amp; ANIMATIE
Morph zoomt in op het startpunt linksboven (ruïnes + mensen). In de kaart staat een stappenbalk 1-5 (oorzaak-gevolgketen); stap 1 'Probleem' licht oranje op. Klik 1-3: kernpunten zweven omhoog.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17</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Stap 2: de hulp. George Marshall bood in 1947 hulp aan. Europese landen kregen geld, goederen, grondstoffen en voedsel. Nederland kreeg tussen 1948 en 1954 ruim een miljard dollar.
Laat de leerlingen de 'rivier' van dollars volgen: waar stroomt het geld naartoe? (Naar tandwielen, machines en zakken met grondstoffen: het geld wordt omgezet in spullen om mee te produceren.)
VISUEEL &amp; ANIMATIE
Camera schuift naar Marshall en de dollarrivier. Klik 1-2: kernpunten. Klik 3: vier oranje pijlen 'schieten' één voor één over de dollarrivier naar rechtsonder (Fly In, snel achter elkaar), richting de volgende stap.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18</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Stap 3: investering. Met de dollars werden essentiële machines en grondstoffen gekocht voor de industrie en de landbouw. Fabrieken draaiden weer, schepen voeren weer, en boeren kregen tractoren.
Het resultaat kwam snel: in 1950 was de Nederlandse economie weer net zo groot als vlak voor de oorlog.
VISUEEL &amp; ANIMATIE
Camera schuift naar 'Investering in productie' (fabrieken, haven, tractoren). Klik 1-2: kernpunten. Klik 3: oranje resultaatkaart popt met 1950.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19</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Stap 4 en 5: resultaat en toekomst. De Marshallhulp was als een startmotor: de hulp legde de basis voor de latere groei van de industrie en uiteindelijk voor de consumptiemaatschappij met auto's, wasmachines en televisies.
Vraag: "Zie je op het plaatje al dingen die in de jaren 60 heel gewoon worden?" (Wasmachine, koelkast, tv, auto's, snelwegen.)
VISUEEL &amp; ANIMATIE
Camera schuift naar het einde van de kaart: 'Fundament voor welvaart'. Klik 1-2: kernpunten. Klik 3: een lange oranje 'toekomstlijn' schiet onderaan over het beeld naar rechts (Wipe, 1 s) met het label 'naar de jaren 60'.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20</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Samenvatting van de Marshallhulp als keten van oorzaak en gevolg. Laat leerlingen de ketting hardop 'voorlezen' met het woordje 'daardoor': Door de oorlogsschade was hulp nodig → daardoor kwam de Marshallhulp → daardoor kon Nederland machines en grondstoffen kopen → daardoor steeg de productie → daardoor groeide de welvaart.
Check: laat één leerling de keten met gesloten ogen herhalen.
VISUEEL &amp; ANIMATIE
Morph zoomt helemaal uit naar de hele infographic. Klik 1: titel van de ketting + eerste blokje popt. Klik 2-5: telkens schiet een pijl naar rechts (Wipe) en popt het volgende blokje (Zoom). Het laatste blokje 'Welvaart' is oranje: de toekomstlijn.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21</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Na de oorlog vond bijna iedereen dat overheid, werkgevers en werknemers elkaar nodig hadden. De meeste arbeiders, ook vakbondsleden, wilden liever samenwerken met hun bazen en de overheid dan steeds staken. De vakbonden zaten daarom vaker aan de onderhandelingstafel dan dat ze stakingen organiseerden.
Bij die onderhandelingen ging het steeds om dezelfde vraag: "Hoe kunnen we elkaar het beste helpen nu het economisch zo slecht gaat?"
Bron 45: kijk naar de foto uit 1954. Vraag: "Wie zitten er aan tafel? Waarom is het bijzonder dat ze samen aan één tafel zitten?" (Vóór de oorlog stonden vakbonden en werkgevers vaak lijnrecht tegenover elkaar, met stakingen.)
VISUEEL &amp; ANIMATIE
Echte bronfoto uit het boek links. Klik 1-3: de drie partijen poppen één voor één in een driehoek (Zoom), met hun naam. Klik 4: de verbindingslijnen tekenen zich (Wipe) en daarna popt in het midden 'Samenwerken in plaats van staken'. Klik 5: definitie zweeft omhoog.
VIDEO / MULTIMEDIA
Achtergrond voor de docent: Schooltv – "Armoede en Amerikanisering in de jaren 50" (o.a. over de lagelonenpolitiek) https://schooltv.nl/video-item/armoede-en-amerikanisering-in-de-jaren-50-de-opkomst-van-de-supermarkt-in-nederland</a:t>
            </a:r>
          </a:p>
        </p:txBody>
      </p:sp>
      <p:sp>
        <p:nvSpPr>
          <p:cNvPr id="4" name="Slide Number Placeholder 3"/>
          <p:cNvSpPr>
            <a:spLocks noGrp="1"/>
          </p:cNvSpPr>
          <p:nvPr>
            <p:ph type="sldNum" sz="quarter" idx="10"/>
          </p:nvPr>
        </p:nvSpPr>
        <p:spPr/>
        <p:txBody>
          <a:bodyPr/>
          <a:lstStyle/>
          <a:p>
            <a:fld id="{F7021451-1387-4CA6-816F-3879F97B5CBC}" type="slidenum">
              <a:rPr lang="nl-NL"/>
              <a:t>22</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De afspraak van het harmoniemodel: de vakbonden vroegen niet om meer loon, de werkgevers beloofden zoveel mogelijk mensen aan een baan te helpen, en de overheid gaf geld aan bedrijven zodat die zich konden herstellen.
De vorm die dit kreeg heet de geleide loonpolitiek: werkgevers, vakbonden en regering waren het eens dat de lonen een paar jaar laag moesten blijven. Al het geld was nodig om de oorlogsschade te herstellen.
In ruil voor de lage lonen maakte de regering nieuwe sociale wetten die zwakkeren in de samenleving beschermden: uitkeringen voor ouderen, arbeidsongeschikten en werklozen, en ook voor weduwen en wezen. (Bijvoorbeeld de AOW in 1957.)
VISUEEL &amp; ANIMATIE
Klik 1-3: de drie kaarten vliegen van onderen in (Fly In), één per partij. Klik 4: definitie geleide loonpolitiek popt. Klik 5: 'In ruil' vliegt van links in. Morph zorgt dat titel en ondertitel blijven staan terwijl de rest wisselt.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23</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Denk-deel-uitwisselmoment: laat leerlingen eerst 30 seconden zelf nadenken, dan met hun buur overleggen, dan pas het antwoord klikken.
Goede antwoorden: het land moest weer opgebouwd worden; iedereen deed mee; met lage lonen waren producten goedkoop (dat zien we zo bij de industrie); in ruil kwamen er sociale wetten en uitkeringen.
Doorvraag: "Wat gebeurt er met het harmoniemodel als het economisch weer héél goed gaat?" (Dan willen arbeiders ook meer loon. Dat gebeurt vanaf 1963.)
VISUEEL &amp; ANIMATIE
Rustige vraagdia. Klik 1: vraagkaart vliegt van rechts in. Klik 2: antwoord popt (Zoom) met gloeilamp-icoon.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24</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Even uitzoomen: waar zijn we op de lijn? Fase 1 (sobere start) en fase 2 (Marshallhulp en harmoniemodel) zijn klaar: die badges zijn nu groen. We gaan naar fase 3: industrie, landbouw en export.
VISUEEL &amp; ANIMATIE
Morph brengt de hele infographic terug in beeld. De badges 1 en 2 zijn groen (klaar), 3 en 4 oranje. Klik 1: oranje ring + chip 'WE ZIJN HIER' poppen rond badge 3. Deze tussendia houdt de context van de hele lijn vast.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25</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Fase 3: de economie gaat echt draaien. In de landbouw komen machines en grotere akkers. In de industrie worden dankzij de lage lonen goedkope producten gemaakt, die verkocht worden aan het buitenland. We diepen beide uit: eerst de landbouw, dan de industrie.
VISUEEL &amp; ANIMATIE
Morph zoomt in op fase 3 (fabriek, wereldbol, silo's en tractor). Het bolletje in de fase-balk schuift naar '55–'60.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26</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Naast de oorlogsschade was er na de oorlog nog een probleem: de bevolking groeide heel snel. In 1950 had Nederland al twee keer zoveel inwoners als in 1900. Er waren huizen nodig, maar ook banen: in de jaren 50 kwamen er elk jaar ongeveer 35.000 mensen bij op de arbeidsmarkt.
Die banen kwamen niet uit de landbouw, want daar was juist minder werk. De boeren kregen de opdracht om te zorgen dat Nederland nooit meer een hongersnood zou krijgen. Daarvoor moest de landbouw moderniseren: mechanisatie en schaalvergroting, want alleen op grote akkers kun je goed met machines werken. Het land werd op veel plaatsen omgespit en opnieuw verdeeld (ruilverkaveling).
Vraag: "Welk begrip past bij: een boer koopt een melkmachine?" (mechanisatie) en "twee boeren voegen hun land samen?" (schaalvergroting).
VISUEEL &amp; ANIMATIE
Klik 1-3: probleem, doel en oplossing vliegen één voor één van links in. Klik 4-5: de twee begrippen poppen rechts. Klik 6: extra begrip ruilverkaveling. Schooltv-knop rechtsonder.
VIDEO / MULTIMEDIA
Schooltv – "Wederopbouw van de landbouw: nooit meer honger" https://schooltv.nl/video-item/het-ontstaan-en-de-inrichting-van-nederland-wederopbouw-van-de-landbouw-nooit-meer-honger
Kort extra: "Wat is ruilverkaveling?" https://schooltv.nl/video-item/wat-is-ruilverkaveling-landbouwgrond-ruilen-om-efficienter-te-produceren</a:t>
            </a:r>
          </a:p>
        </p:txBody>
      </p:sp>
      <p:sp>
        <p:nvSpPr>
          <p:cNvPr id="4" name="Slide Number Placeholder 3"/>
          <p:cNvSpPr>
            <a:spLocks noGrp="1"/>
          </p:cNvSpPr>
          <p:nvPr>
            <p:ph type="sldNum" sz="quarter" idx="10"/>
          </p:nvPr>
        </p:nvSpPr>
        <p:spPr/>
        <p:txBody>
          <a:bodyPr/>
          <a:lstStyle/>
          <a:p>
            <a:fld id="{F7021451-1387-4CA6-816F-3879F97B5CBC}" type="slidenum">
              <a:rPr lang="nl-NL"/>
              <a:t>27</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Een getal dat blijft hangen: in 1950 waren er nog 265.000 trekpaarden aan het werk. Twintig jaar later waren ze allemaal vervangen door tractoren.
Door de mechanisatie nam de werkgelegenheid in de landbouw tussen 1947 en 1960 met bijna de helft af. Vraag: "Waar moesten al die boerenzoons en -dochters dan werken?" Antwoord: in de industrie. Dat is het volgende kopje.
VISUEEL &amp; ANIMATIE
Klik 1: paardenkaart popt met het getal 265.000. Klik 2: pijl schiet naar rechts (Wipe) en de tractorkaart popt met '0' (tractor uitgesneden uit de wederopbouw-infographic). Klik 3: het gevolg zweeft omhoog.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28</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Volgens de regering moest de groeiende bevolking vooral in de industrie gaan werken. De producten uit de fabrieken konden aan het buitenland verkocht worden (export). Zo wilde de regering twee dingen tegelijk bereiken: meer mensen aan het werk én meer geld verdienen.
Hier komt alles samen: dankzij de lage lonen (geleide loonpolitiek!) waren Nederlandse producten goedkoper dan die uit Duitsland, Engeland of Frankrijk. Daar waren bedrijven meer geld kwijt aan lonen. Dus werden er veel Nederlandse producten verkocht. Er kwam veel geld binnen, en een deel daarvan werd weer gebruikt om nieuwe fabrieken te bouwen. Op den duur zou er zo werk zijn voor iedereen.
Bron: de poster uit 1950 'Nederland industrialiseert'. Vraag: "Wat zie je de man op de poster doen? Wat wil de regering hiermee zeggen?" (Een arbeider schildert de Nederlandse vlag op een stalen wand: industrie = de toekomst van Nederland.)
VISUEEL &amp; ANIMATIE
Echte bron (poster 1950) links. Rechts een vliegwiel: klik 1 laat het midden poppen, klik 2-6 laten één voor één een blokje poppen, waarna automatisch een pijl naar het volgende blokje schiet (Wipe). Het vijfde blokje wijst terug naar het eerste: de cirkel is rond, de economie 'draait'.
VIDEO / MULTIMEDIA
Schooltv – "Nederland industrialiseert in de jaren 50" (Philips-televisiefabriek, minder boeren nodig) https://schooltv.nl/video-item/nederland-industrialiseert-in-de-jaren-50-modernisering-door-industrialisatie/de-jaren-50-na-de-tweede-wereldoorlog</a:t>
            </a:r>
          </a:p>
        </p:txBody>
      </p:sp>
      <p:sp>
        <p:nvSpPr>
          <p:cNvPr id="4" name="Slide Number Placeholder 3"/>
          <p:cNvSpPr>
            <a:spLocks noGrp="1"/>
          </p:cNvSpPr>
          <p:nvPr>
            <p:ph type="sldNum" sz="quarter" idx="10"/>
          </p:nvPr>
        </p:nvSpPr>
        <p:spPr/>
        <p:txBody>
          <a:bodyPr/>
          <a:lstStyle/>
          <a:p>
            <a:fld id="{F7021451-1387-4CA6-816F-3879F97B5CBC}" type="slidenum">
              <a:rPr lang="nl-NL"/>
              <a:t>29</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Het werkte. In 1950 was de economie weer net zo goed als een jaar vóór het begin van de oorlog. En daar hield het niet op: de economie bleef groeien, en snel ook. In de jaren zestig waren er in Nederland zelfs te weinig arbeiders. Werkgevers en de overheid gingen daarom in het buitenland op zoek naar nieuwe arbeiders. Al snel kwamen duizenden gastarbeiders naar Nederland: eerst vooral uit Spanje en Griekenland, later uit Marokko en Turkije.
Vraag: "Waarom heetten ze gastarbeiders?" (Het idee was dat ze na een paar jaar terug zouden gaan. Veel van hen bleven en haalden hun gezin over.) Let op: sommige leerlingen hebben (over)grootouders die als gastarbeider kwamen. Nodig ze uit hun verhaal te delen als ze willen.
VISUEEL &amp; ANIMATIE
Klik 1: een oranje tijdlijn tekent zich (Wipe) en het eerste punt popt. Klik 2-3: volgende punten. Klik 4: begrip gastarbeiders vliegt van onderen in.
VIDEO / MULTIMEDIA
Schooltv – "Waarom kwamen er gastarbeiders naar Nederland?" https://schooltv.nl/video-item/waarom-kwamen-er-gastarbeiders-naar-nederland-arbeiders-uit-andere-landen-aan-het-werk-in-nederland
Kort en toegankelijk: Het Klokhuis – "De gastarbeiders" https://schooltv.nl/video-item/het-klokhuis-de-gastarbeiders</a:t>
            </a:r>
          </a:p>
        </p:txBody>
      </p:sp>
      <p:sp>
        <p:nvSpPr>
          <p:cNvPr id="4" name="Slide Number Placeholder 3"/>
          <p:cNvSpPr>
            <a:spLocks noGrp="1"/>
          </p:cNvSpPr>
          <p:nvPr>
            <p:ph type="sldNum" sz="quarter" idx="10"/>
          </p:nvPr>
        </p:nvSpPr>
        <p:spPr/>
        <p:txBody>
          <a:bodyPr/>
          <a:lstStyle/>
          <a:p>
            <a:fld id="{F7021451-1387-4CA6-816F-3879F97B5CBC}" type="slidenum">
              <a:rPr lang="nl-NL"/>
              <a:t>30</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Fase 4, het eindpunt van de lijn: rond 1960 stijgt de welvaart explosief. Luxeproducten zoals televisies worden bereikbaar voor gewone gezinnen. De wederopbouw is achter de rug. Kijk nog eens naar de kleuren: van grijs in 1945 naar kleurrijk rond 1960.
VISUEEL &amp; ANIMATIE
Morph zoomt in op fase 4 (gezin voor de tv, auto voor de deur). Omdat fase 4 aan de rechterrand van de infographic ligt, glijdt de witte kaart met Morph naar links, zodat het beeld rechts vrij blijft. Het bolletje in de fase-balk staat nu op ± 1960 en de eerste drie bolletjes zijn groen.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31</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Terug naar de kaart: de wederopbouw is klaar. Snelle check: "Noem drie oorzaken waardoor Nederland zo snel herstelde." (Marshallhulp, harmoniemodel/lage lonen, industrie en export, modernere landbouw.)
VISUEEL &amp; ANIMATIE
Morph zoomt terug naar het overzicht. Klik 1: vinkje op tegel 2. Klik 2: kader 'VOLGENDE' rond tegel 3.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32</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In de jaren zestig ging het geweldig met de economie. Er was veel optimisme; sommige mensen dachten dat er nooit een einde zou komen aan de goede tijden. Dat gevoel werd nog sterker toen vanaf 1963 de lonen snel stegen. Omdat het zo goed ging, vond de regering de geleide loonpolitiek niet meer nodig. Door de stijgende lonen konden bijna alle Nederlanders steeds meer geld uitgeven aan luxeproducten. Nederland werd een consumptiemaatschappij.
Verbind met het harmoniemodel: eerst jarenlang lage lonen voor de wederopbouw, nu krijgen arbeiders hun beloning.
VISUEEL &amp; ANIMATIE
Morph vanaf het overzicht: tegel 3 groeit uit tot schermvullende woonkamer (AI-illustratie). Klik 1-4: kernpunten zweven omhoog. Klik 5: begrip popt. Op de volgende dia zoomt de camera in dezelfde foto in op de details.
VIDEO / MULTIMEDIA
Schooltv – "De jaren zestig in de klas: Welvaart" (brommers, kleurentelevisie, vakanties, gastarbeiders) https://schooltv.nl/video-item/de-jaren-zestig-in-de-klas-welvaart</a:t>
            </a:r>
          </a:p>
        </p:txBody>
      </p:sp>
      <p:sp>
        <p:nvSpPr>
          <p:cNvPr id="4" name="Slide Number Placeholder 3"/>
          <p:cNvSpPr>
            <a:spLocks noGrp="1"/>
          </p:cNvSpPr>
          <p:nvPr>
            <p:ph type="sldNum" sz="quarter" idx="10"/>
          </p:nvPr>
        </p:nvSpPr>
        <p:spPr/>
        <p:txBody>
          <a:bodyPr/>
          <a:lstStyle/>
          <a:p>
            <a:fld id="{F7021451-1387-4CA6-816F-3879F97B5CBC}" type="slidenum">
              <a:rPr lang="nl-NL"/>
              <a:t>33</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Kijkopdracht. Laat leerlingen eerst zelf opnoemen wat ze zien, en klik dan pas de labels. Radio, televisie, stofzuiger en wasmachine: allemaal apparaten die het leven makkelijker of leuker maken. Vraag: "Welk apparaat scheelde het meeste werk in het huishouden?" (De wasmachine: wassen met de hand kostte vroeger een hele dag.)
Let op: dit is een AI-illustratie, geen echte foto uit de jaren 60. Het is een sfeerbeeld om over te praten, geen historische bron.
VISUEEL &amp; ANIMATIE
Morph zoomt in dezelfde afbeelding in (zelfde naam "!!tile3", 1,4× vergroot en naar rechts geschoven). Klik 1: vraag vliegt in. Klik 2-5: om elk apparaat popt een oranje kader met label (Zoom).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34</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Door de welvaartsgroei konden steeds meer mensen luxe kopen. De fiets werd vervangen door de bromfiets, en die maakte daarna snel plaats voor een auto. Ook het winkelen veranderde: in plaats van de kruidenier achter de toonbank kwam de supermarkt met zelfbediening.
De Nederlandse industrie profiteerde sterk van de welvaartsgroei. Philips drong door tot de wereldwijde top tien van de elektronica-industrie: rond 1970 werkten er wereldwijd een half miljoen mensen, van wie bijna honderdduizend in Nederland. Conclusie uit het boek: in Nederland begon de industriële revolutie laat, maar na de Tweede Wereldoorlog hoorde ons land bij de belangrijkste industrielanden van de wereld.
Vraag: "Welk product uit jouw huis zou een gezin in 1955 als pure luxe zien?"
VISUEEL &amp; ANIMATIE
Links een sfeerbeeld van een supermarkt (AI-illustratie). Rechts: klik 1 titel + fiets, klik 2-3 telkens pijl (Wipe) → volgend vervoermiddel popt. Klik 4: Philips-kaart vliegt van onderen in.
VIDEO / MULTIMEDIA
Schooltv – "Armoede en Amerikanisering in de jaren 50: de opkomst van de supermarkt" https://schooltv.nl/video-item/armoede-en-amerikanisering-in-de-jaren-50-de-opkomst-van-de-supermarkt-in-nederland</a:t>
            </a:r>
          </a:p>
        </p:txBody>
      </p:sp>
      <p:sp>
        <p:nvSpPr>
          <p:cNvPr id="4" name="Slide Number Placeholder 3"/>
          <p:cNvSpPr>
            <a:spLocks noGrp="1"/>
          </p:cNvSpPr>
          <p:nvPr>
            <p:ph type="sldNum" sz="quarter" idx="10"/>
          </p:nvPr>
        </p:nvSpPr>
        <p:spPr/>
        <p:txBody>
          <a:bodyPr/>
          <a:lstStyle/>
          <a:p>
            <a:fld id="{F7021451-1387-4CA6-816F-3879F97B5CBC}" type="slidenum">
              <a:rPr lang="nl-NL"/>
              <a:t>35</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Terug naar de kaart. "Welvaart voor iedereen": is dat nu gelukt? Laat de klas stemmen: duim omhoog of omlaag. Maak dan de cliffhanger: "Maar de goede tijden duren niet eeuwig..."
VISUEEL &amp; ANIMATIE
Morph zoomt terug. Klik 1: vinkje op tegel 3. Klik 2: kader 'VOLGENDE' rond tegel 4.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36</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Na 1970 nam het aantal mensen dat in de Nederlandse industrie werkte af. Daar waren twee oorzaken.
1. Sommige soorten industrie verdwenen bijna helemaal uit Nederland, zoals de scheepsbouw. In andere delen van de wereld konden schepen veel goedkoper gemaakt worden. Grote Nederlandse scheepsbouwers gingen failliet. Hetzelfde gebeurde met textielfabrieken: die konden de concurrentie met landen met veel lagere lonen niet volhouden.
2. Mechanisatie: vooral door de computer werden veel arbeiders overbodig. Een robot die door een computer wordt aangestuurd, kan 24 uur per dag en 7 dagen per week werken.
Bron 47: robots in de auto-industrie (het boek noemt de NedCar-fabriek in Born). Vraag: "Hoeveel mensen zie je op deze foto?" (Bijna geen!) "Wat betekent dat voor werk in de fabriek?"
Let op het verband: in de wederopbouw waren lage lonen ons voordeel. Nu zijn de lonen hoog, en hebben andere landen dat voordeel.
VISUEEL &amp; ANIMATIE
Morph vanaf het overzicht: tegel 4 groeit uit tot de schermvullende bronfoto. Klik 1: inleiding. Klik 2-3: per oorzaak popt een icoon en vliegen titel en uitleg van rechts in.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37</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In 1973 was de eerste oliecrisis. Enkele Arabische landen weigerden tijdelijk om olie aan Nederland te leveren. Daardoor werd duidelijk dat de economie en de samenleving zonder olie in grote problemen komen. Plotseling bleek hoe kwetsbaar de Nederlandse economie eigenlijk was. Om benzine te besparen kwam er een distributiestelsel (benzine op de bon) en waren er autoloze zondagen: op zondag mocht je niet autorijden. Mensen gingen wandelen, fietsen en rolschaatsen op de snelweg.
Zes jaar later, in 1979, kwam een tweede oliecrisis, met nog grotere gevolgen. De regering investeerde veel geld om de economie weer op gang te brengen, maar dat lukte niet. Net als in de jaren dertig gingen duizenden bedrijven failliet en waren er honderdduizenden werklozen.
Vraag: "Stel dat er morgen geen benzine meer is. Wat verandert er in jouw leven?"
VISUEEL &amp; ANIMATIE
Sfeerbeeld van een autoloze zondag (AI-illustratie; op de echte bordjes stond 'autoloze zondag'). Klik 1-4: kernpunten zweven één voor één omhoog in de kaart.
Tip: een echte foto van een lege snelweg op 4 november 1973 vind je in de Bronnenbox van het Nationaal Archief: https://www.nationaalarchief.nl/beleven/onderwijs/bronnenbox/autoloze-zondag-in-nederland-1973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38</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Joop den Uyl (1919-1987) was een socialistische politicus. Als minister van Economische Zaken probeerde hij met enorme subsidies beroepsgroepen te steunen die het moeilijk hadden, zoals de scheepsbouw. Dat mislukte: ook nadat de overheid er miljarden in had gestoken, gingen deze bedrijven failliet.
Toen Den Uyl premier was, brak de eerste oliecrisis uit. Hij voerde een distributiestelsel voor benzine in en er kwamen autoloze zondagen. In een televisietoespraak in 1973 zei hij dat we niet konden doorgaan met het verbruik van brandstoffen en grondstoffen zoals in de afgelopen 25 jaar. "De wereld van vóór de oliecrisis keert niet terug."
Actualiteit: vraag of leerlingen verbanden zien met nu (energieprijzen, duurzaamheid, zuinig met energie).
VISUEEL &amp; ANIMATIE
Echte foto uit het boek. Klik 1: feitje over de scheepsbouw. Klik 2: citaatkaart verschijnt, het citaat vloeit rustig in. Klik 3: vraag vliegt in. Klik 4: antwoord popt.
VIDEO / MULTIMEDIA
Schooltv – "Joop den Uyl: de premier die een uitweg zocht in de oliecrisis" https://schooltv.nl/video-item/joop-den-uyl-de-premier-die-een-uitweg-zocht-in-de-oliecrisis-watzoujijdoen</a:t>
            </a:r>
          </a:p>
        </p:txBody>
      </p:sp>
      <p:sp>
        <p:nvSpPr>
          <p:cNvPr id="4" name="Slide Number Placeholder 3"/>
          <p:cNvSpPr>
            <a:spLocks noGrp="1"/>
          </p:cNvSpPr>
          <p:nvPr>
            <p:ph type="sldNum" sz="quarter" idx="10"/>
          </p:nvPr>
        </p:nvSpPr>
        <p:spPr/>
        <p:txBody>
          <a:bodyPr/>
          <a:lstStyle/>
          <a:p>
            <a:fld id="{F7021451-1387-4CA6-816F-3879F97B5CBC}" type="slidenum">
              <a:rPr lang="nl-NL"/>
              <a:t>39</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Terug naar de kaart. Na de crisis verandert de Nederlandse economie van karakter: minder fabrieken, meer handel en diensten. Laatste stap!
VISUEEL &amp; ANIMATIE
Morph zoomt terug. Klik 1: vinkje op tegel 4. Klik 2: kader 'VOLGENDE' rond tegel 5.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40</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In Nederland is steeds minder plaats voor de 'maakindustrie': in andere landen kunnen producten veel goedkoper gemaakt worden. Net als in de Gouden Eeuw richt Nederland zich nu vooral op handel en transport. Schiphol en de Rotterdamse haven zijn steeds groter en belangrijker geworden. Hetzelfde geldt voor banken en verzekeraars: sinds 1970 is het aantal mensen dat daar werkt drie keer zo groot geworden.
Bron 48: de haven van Rotterdam, een van de grootste overslaghavens ter wereld. Computergestuurde kranen zetten containers van het schip op het opslagterrein. Vraag: "Waar komen de spullen in die containers vandaan, en waar gaan ze naartoe?"
VISUEEL &amp; ANIMATIE
Morph vanaf het overzicht: tegel 5 wordt de schermvullende bronfoto. Klik 1-4: kernpunten zweven omhoog.
VIDEO / MULTIMEDIA
Schooltv – "Een containeroverslag: de haven van Rotterdam" https://schooltv.nl/video-item/een-containeroverslag-de-haven-van-rotterdam-is-de-grootste-overslaghaven-van-europa</a:t>
            </a:r>
          </a:p>
        </p:txBody>
      </p:sp>
      <p:sp>
        <p:nvSpPr>
          <p:cNvPr id="4" name="Slide Number Placeholder 3"/>
          <p:cNvSpPr>
            <a:spLocks noGrp="1"/>
          </p:cNvSpPr>
          <p:nvPr>
            <p:ph type="sldNum" sz="quarter" idx="10"/>
          </p:nvPr>
        </p:nvSpPr>
        <p:spPr/>
        <p:txBody>
          <a:bodyPr/>
          <a:lstStyle/>
          <a:p>
            <a:fld id="{F7021451-1387-4CA6-816F-3879F97B5CBC}" type="slidenum">
              <a:rPr lang="nl-NL"/>
              <a:t>41</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Het nadeel van een economie die draait op handel, transport en diensten: de Rotterdamse haven, Schiphol, de banken en de verzekeraars zijn allemaal sterk afhankelijk van het buitenland. Gaat het in het buitenland slecht, dan heeft dat direct gevolgen voor deze bedrijven. Toen in 2008 wereldwijd een economische crisis uitbrak, merkte Nederland dat meteen.
Omdat er minder mensen in de landbouw en de industrie werken en meer in de dienstverlening, is Nederland nog afhankelijker geworden van het buitenland. Naast alle voordelen is er dus één groot risico: kwetsbaarheid.
Verband met het hele hoofdstuk: in de oorlog bleek al dat Nederland afhankelijk is van het buitenland. Dat is nog steeds zo.
VISUEEL &amp; ANIMATIE
Klik 1: eerste blok popt. Klik 2-4: telkens schiet een pijl (Wipe) naar het volgende blok (Zoom): een kettingreactie van oorzaak en gevolg. Klik 5: vraag vliegt in. Klik 6: antwoord popt.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42</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Loop de vijf fases nog één keer door. Laat per kolom een leerling één begrip uitleggen in eigen woorden. Tip: laat de klas eerst gokken welk begrip er onder elke kop komt voordat je klikt.
De rode draad van het hele hoofdstuk: de Nederlandse economie is afhankelijk van het buitenland. In de oorlog viel de handel stil, na de oorlog hielp het buitenland (Marshallhulp) en werd export de motor, in de jaren 70 bleek hoe afhankelijk we van olie waren, en nu verdienen we vooral aan handel en transport.
VISUEEL &amp; ANIMATIE
Klik 1-5: per klik verschijnt één kolom: de gekleurde kop popt en de begrippen zweven er automatisch één voor één onder (Float In, kort na elkaar). De kleuren komen overeen met de tegels en de rode draad.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43</a:t>
            </a:fld>
            <a:endParaRPr lang="nl-NL"/>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DOCENTENVERHAAL
Exit-ticket: laat leerlingen de hoofdvraag in drie zinnen beantwoorden op een briefje of in hun schrift, met minstens drie van de woorden. Geef ze 4 minuten. Laat daarna het voorbeeldantwoord zien en laat ze hun eigen antwoord nakijken: staat er iets over (1) na de oorlog, (2) de groei, en (3) wat er na 1970 veranderde?
VISUEEL &amp; ANIMATIE
Klik 1: hoofdvraag popt. Klik 2: woordenlijst: de woorden poppen automatisch één voor één. Klik 3: voorbeeldantwoord zweeft omhoog.
VIDEO / MULTIMEDIA
Geen video bij deze dia.</a:t>
            </a:r>
          </a:p>
        </p:txBody>
      </p:sp>
      <p:sp>
        <p:nvSpPr>
          <p:cNvPr id="4" name="Slide Number Placeholder 3"/>
          <p:cNvSpPr>
            <a:spLocks noGrp="1"/>
          </p:cNvSpPr>
          <p:nvPr>
            <p:ph type="sldNum" sz="quarter" idx="10"/>
          </p:nvPr>
        </p:nvSpPr>
        <p:spPr/>
        <p:txBody>
          <a:bodyPr/>
          <a:lstStyle/>
          <a:p>
            <a:fld id="{F7021451-1387-4CA6-816F-3879F97B5CBC}" type="slidenum">
              <a:rPr lang="nl-NL"/>
              <a:t>44</a:t>
            </a:fld>
            <a:endParaRPr lang="nl-NL"/>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schooltv.nl/video-item/de-televisie-voor-het-eerst-televisiekijken-in-nederland" TargetMode="External"/><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4.png"/><Relationship Id="rId5" Type="http://schemas.openxmlformats.org/officeDocument/2006/relationships/hyperlink" Target="https://schooltv.nl/video-item/arbeitseinsatz-te-werk-worden-gesteld-in-de-tweede-wereldoorlog" TargetMode="External"/><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16.png"/><Relationship Id="rId5" Type="http://schemas.openxmlformats.org/officeDocument/2006/relationships/hyperlink" Target="https://schooltv.nl/video-item/high-speed-history-wat-was-de-hongerwinter" TargetMode="External"/><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slide" Target="slide4.xml"/><Relationship Id="rId4" Type="http://schemas.openxmlformats.org/officeDocument/2006/relationships/image" Target="../media/image7.jpg"/><Relationship Id="rId5" Type="http://schemas.openxmlformats.org/officeDocument/2006/relationships/image" Target="../media/image20.png"/><Relationship Id="rId6" Type="http://schemas.openxmlformats.org/officeDocument/2006/relationships/slide" Target="slide12.xml"/><Relationship Id="rId7" Type="http://schemas.openxmlformats.org/officeDocument/2006/relationships/image" Target="../media/image8.jpg"/><Relationship Id="rId8" Type="http://schemas.openxmlformats.org/officeDocument/2006/relationships/slide" Target="slide33.xml"/><Relationship Id="rId9" Type="http://schemas.openxmlformats.org/officeDocument/2006/relationships/image" Target="../media/image9.jpg"/><Relationship Id="rId10" Type="http://schemas.openxmlformats.org/officeDocument/2006/relationships/slide" Target="slide37.xml"/><Relationship Id="rId11" Type="http://schemas.openxmlformats.org/officeDocument/2006/relationships/image" Target="../media/image10.jpg"/><Relationship Id="rId12" Type="http://schemas.openxmlformats.org/officeDocument/2006/relationships/slide" Target="slide41.xml"/><Relationship Id="rId1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21.jpg"/><Relationship Id="rId5" Type="http://schemas.openxmlformats.org/officeDocument/2006/relationships/image" Target="../media/image22.jpg"/><Relationship Id="rId6" Type="http://schemas.openxmlformats.org/officeDocument/2006/relationships/image" Target="../media/image23.jpg"/><Relationship Id="rId7" Type="http://schemas.openxmlformats.org/officeDocument/2006/relationships/hyperlink" Target="https://schooltv.nl/video-item/wederopbouw-en-woningnood-in-de-jaren-50-nederland-na-de-tweede-wereldoorlog" TargetMode="External"/><Relationship Id="rId8"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jpg"/><Relationship Id="rId4" Type="http://schemas.openxmlformats.org/officeDocument/2006/relationships/hyperlink" Target="https://schooltv.nl/video-item/high-speed-history-wat-was-het-marshallplan" TargetMode="External"/><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jp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2.png"/><Relationship Id="rId4" Type="http://schemas.openxmlformats.org/officeDocument/2006/relationships/image" Target="../media/image4.png"/><Relationship Id="rId5"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hyperlink" Target="https://schooltv.nl/video-item/het-ontstaan-en-de-inrichting-van-nederland-wederopbouw-van-de-landbouw-nooit-meer-honger" TargetMode="External"/><Relationship Id="rId7"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8.jpg"/><Relationship Id="rId4" Type="http://schemas.openxmlformats.org/officeDocument/2006/relationships/image" Target="../media/image39.png"/><Relationship Id="rId5" Type="http://schemas.openxmlformats.org/officeDocument/2006/relationships/hyperlink" Target="https://schooltv.nl/video-item/nederland-industrialiseert-in-de-jaren-50-modernisering-door-industrialisatie/de-jaren-50-na-de-tweede-wereldoorlog" TargetMode="External"/><Relationship Id="rId6"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hyperlink" Target="https://schooltv.nl/video-item/waarom-kwamen-er-gastarbeiders-naar-nederland-arbeiders-uit-andere-landen-aan-het-werk-in-nederland" TargetMode="External"/><Relationship Id="rId5"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slide" Target="slide4.xml"/><Relationship Id="rId4" Type="http://schemas.openxmlformats.org/officeDocument/2006/relationships/image" Target="../media/image7.jpg"/><Relationship Id="rId5" Type="http://schemas.openxmlformats.org/officeDocument/2006/relationships/image" Target="../media/image20.png"/><Relationship Id="rId6" Type="http://schemas.openxmlformats.org/officeDocument/2006/relationships/slide" Target="slide12.xml"/><Relationship Id="rId7" Type="http://schemas.openxmlformats.org/officeDocument/2006/relationships/image" Target="../media/image8.jpg"/><Relationship Id="rId8" Type="http://schemas.openxmlformats.org/officeDocument/2006/relationships/slide" Target="slide33.xml"/><Relationship Id="rId9" Type="http://schemas.openxmlformats.org/officeDocument/2006/relationships/image" Target="../media/image9.jpg"/><Relationship Id="rId10" Type="http://schemas.openxmlformats.org/officeDocument/2006/relationships/slide" Target="slide37.xml"/><Relationship Id="rId11" Type="http://schemas.openxmlformats.org/officeDocument/2006/relationships/image" Target="../media/image10.jpg"/><Relationship Id="rId12" Type="http://schemas.openxmlformats.org/officeDocument/2006/relationships/slide" Target="slide41.xml"/><Relationship Id="rId13" Type="http://schemas.openxmlformats.org/officeDocument/2006/relationships/image" Target="../media/image1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jpg"/><Relationship Id="rId4" Type="http://schemas.openxmlformats.org/officeDocument/2006/relationships/hyperlink" Target="https://schooltv.nl/video-item/de-jaren-zestig-in-de-klas-welvaart" TargetMode="External"/><Relationship Id="rId5"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1.jp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hyperlink" Target="https://schooltv.nl/video-item/armoede-en-amerikanisering-in-de-jaren-50-de-opkomst-van-de-supermarkt-in-nederland" TargetMode="External"/><Relationship Id="rId9"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slide" Target="slide4.xml"/><Relationship Id="rId4" Type="http://schemas.openxmlformats.org/officeDocument/2006/relationships/image" Target="../media/image7.jpg"/><Relationship Id="rId5" Type="http://schemas.openxmlformats.org/officeDocument/2006/relationships/image" Target="../media/image20.png"/><Relationship Id="rId6" Type="http://schemas.openxmlformats.org/officeDocument/2006/relationships/slide" Target="slide12.xml"/><Relationship Id="rId7" Type="http://schemas.openxmlformats.org/officeDocument/2006/relationships/image" Target="../media/image8.jpg"/><Relationship Id="rId8" Type="http://schemas.openxmlformats.org/officeDocument/2006/relationships/slide" Target="slide33.xml"/><Relationship Id="rId9" Type="http://schemas.openxmlformats.org/officeDocument/2006/relationships/image" Target="../media/image9.jpg"/><Relationship Id="rId10" Type="http://schemas.openxmlformats.org/officeDocument/2006/relationships/slide" Target="slide37.xml"/><Relationship Id="rId11" Type="http://schemas.openxmlformats.org/officeDocument/2006/relationships/image" Target="../media/image10.jpg"/><Relationship Id="rId12" Type="http://schemas.openxmlformats.org/officeDocument/2006/relationships/slide" Target="slide41.xml"/><Relationship Id="rId13" Type="http://schemas.openxmlformats.org/officeDocument/2006/relationships/image" Target="../media/image1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0.jpg"/><Relationship Id="rId4" Type="http://schemas.openxmlformats.org/officeDocument/2006/relationships/image" Target="../media/image46.png"/><Relationship Id="rId5"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schooltv.nl/video-item/joop-den-uyl-de-premier-die-een-uitweg-zocht-in-de-oliecrisis-watzoujijdoen" TargetMode="External"/><Relationship Id="rId7"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slide" Target="slide4.xml"/><Relationship Id="rId4" Type="http://schemas.openxmlformats.org/officeDocument/2006/relationships/image" Target="../media/image7.jpg"/><Relationship Id="rId5" Type="http://schemas.openxmlformats.org/officeDocument/2006/relationships/image" Target="../media/image20.png"/><Relationship Id="rId6" Type="http://schemas.openxmlformats.org/officeDocument/2006/relationships/slide" Target="slide12.xml"/><Relationship Id="rId7" Type="http://schemas.openxmlformats.org/officeDocument/2006/relationships/image" Target="../media/image8.jpg"/><Relationship Id="rId8" Type="http://schemas.openxmlformats.org/officeDocument/2006/relationships/slide" Target="slide33.xml"/><Relationship Id="rId9" Type="http://schemas.openxmlformats.org/officeDocument/2006/relationships/image" Target="../media/image9.jpg"/><Relationship Id="rId10" Type="http://schemas.openxmlformats.org/officeDocument/2006/relationships/slide" Target="slide37.xml"/><Relationship Id="rId11" Type="http://schemas.openxmlformats.org/officeDocument/2006/relationships/image" Target="../media/image10.jpg"/><Relationship Id="rId12" Type="http://schemas.openxmlformats.org/officeDocument/2006/relationships/slide" Target="slide41.xml"/><Relationship Id="rId13" Type="http://schemas.openxmlformats.org/officeDocument/2006/relationships/image" Target="../media/image1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jpg"/><Relationship Id="rId4" Type="http://schemas.openxmlformats.org/officeDocument/2006/relationships/hyperlink" Target="https://schooltv.nl/video-item/een-containeroverslag-de-haven-van-rotterdam-is-de-grootste-overslaghaven-van-europa" TargetMode="External"/><Relationship Id="rId5"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png"/><Relationship Id="rId8"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hero" descr="tv_ai_169"/>
          <p:cNvPicPr>
            <a:picLocks noChangeAspect="1"/>
          </p:cNvPicPr>
          <p:nvPr/>
        </p:nvPicPr>
        <p:blipFill>
          <a:blip r:embed="rId3"/>
          <a:stretch>
            <a:fillRect/>
          </a:stretch>
        </p:blipFill>
        <p:spPr>
          <a:xfrm>
            <a:off x="0" y="0"/>
            <a:ext cx="12191695" cy="6858000"/>
          </a:xfrm>
          <a:prstGeom prst="rect">
            <a:avLst/>
          </a:prstGeom>
        </p:spPr>
      </p:pic>
      <p:sp>
        <p:nvSpPr>
          <p:cNvPr id="3" name="!!card"/>
          <p:cNvSpPr/>
          <p:nvPr/>
        </p:nvSpPr>
        <p:spPr>
          <a:xfrm>
            <a:off x="548640" y="1234440"/>
            <a:ext cx="5852160" cy="4206240"/>
          </a:xfrm>
          <a:prstGeom prst="roundRect">
            <a:avLst>
              <a:gd name="adj" fmla="val 3478"/>
            </a:avLst>
          </a:prstGeom>
          <a:solidFill>
            <a:srgbClr val="FFFFFF"/>
          </a:solidFill>
          <a:ln/>
          <a:effectLst>
            <a:outerShdw blurRad="127000" dist="38100" dir="5400000" algn="bl" rotWithShape="0">
              <a:srgbClr val="000000">
                <a:alpha val="25000"/>
              </a:srgbClr>
            </a:outerShdw>
          </a:effectLst>
        </p:spPr>
        <p:txBody>
          <a:bodyPr/>
          <a:lstStyle/>
          <a:p>
            <a:endParaRPr lang="nl-NL"/>
          </a:p>
        </p:txBody>
      </p:sp>
      <p:sp>
        <p:nvSpPr>
          <p:cNvPr id="4" name="s1_ch"/>
          <p:cNvSpPr txBox="1"/>
          <p:nvPr/>
        </p:nvSpPr>
        <p:spPr>
          <a:xfrm>
            <a:off x="960120" y="1645920"/>
            <a:ext cx="1350264"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200" b="1" kern="0" spc="100" dirty="0">
                <a:solidFill>
                  <a:srgbClr val="FFFFFF"/>
                </a:solidFill>
                <a:latin typeface="Calibri" pitchFamily="34" charset="0"/>
                <a:ea typeface="Calibri" pitchFamily="34" charset="-122"/>
                <a:cs typeface="Calibri" pitchFamily="34" charset="-120"/>
              </a:rPr>
              <a:t>HOOFDSTUK 4</a:t>
            </a:r>
            <a:endParaRPr lang="nl-NL" sz="1200" dirty="0"/>
          </a:p>
        </p:txBody>
      </p:sp>
      <p:sp>
        <p:nvSpPr>
          <p:cNvPr id="5" name="!!title"/>
          <p:cNvSpPr txBox="1"/>
          <p:nvPr/>
        </p:nvSpPr>
        <p:spPr>
          <a:xfrm>
            <a:off x="960120" y="2057400"/>
            <a:ext cx="5212080" cy="1463040"/>
          </a:xfrm>
          <a:prstGeom prst="rect">
            <a:avLst/>
          </a:prstGeom>
          <a:noFill/>
          <a:ln/>
        </p:spPr>
        <p:txBody>
          <a:bodyPr wrap="square" lIns="0" tIns="0" rIns="0" bIns="0" rtlCol="0" anchor="t"/>
          <a:lstStyle/>
          <a:p>
            <a:pPr marL="0" indent="0" algn="l">
              <a:lnSpc>
                <a:spcPct val="90000"/>
              </a:lnSpc>
              <a:buNone/>
            </a:pPr>
            <a:r>
              <a:rPr lang="nl-NL" sz="4600" b="1" dirty="0">
                <a:solidFill>
                  <a:srgbClr val="1E2A3A"/>
                </a:solidFill>
                <a:latin typeface="Calibri" pitchFamily="34" charset="0"/>
                <a:ea typeface="Calibri" pitchFamily="34" charset="-122"/>
                <a:cs typeface="Calibri" pitchFamily="34" charset="-120"/>
              </a:rPr>
              <a:t>Welvaart voor iedereen</a:t>
            </a:r>
            <a:endParaRPr lang="nl-NL" sz="4600" dirty="0"/>
          </a:p>
        </p:txBody>
      </p:sp>
      <p:sp>
        <p:nvSpPr>
          <p:cNvPr id="6" name="s1_sub"/>
          <p:cNvSpPr txBox="1"/>
          <p:nvPr/>
        </p:nvSpPr>
        <p:spPr>
          <a:xfrm>
            <a:off x="960120" y="3611880"/>
            <a:ext cx="5120640" cy="822960"/>
          </a:xfrm>
          <a:prstGeom prst="rect">
            <a:avLst/>
          </a:prstGeom>
          <a:noFill/>
          <a:ln/>
        </p:spPr>
        <p:txBody>
          <a:bodyPr wrap="square" lIns="0" tIns="0" rIns="0" bIns="0" rtlCol="0" anchor="t"/>
          <a:lstStyle/>
          <a:p>
            <a:pPr marL="0" indent="0" algn="l">
              <a:buNone/>
            </a:pPr>
            <a:r>
              <a:rPr lang="nl-NL" sz="2000" dirty="0">
                <a:solidFill>
                  <a:srgbClr val="5B6B7B"/>
                </a:solidFill>
                <a:latin typeface="Calibri" pitchFamily="34" charset="0"/>
                <a:ea typeface="Calibri" pitchFamily="34" charset="-122"/>
                <a:cs typeface="Calibri" pitchFamily="34" charset="-120"/>
              </a:rPr>
              <a:t>Van oorlog en wederopbouw naar de welvaart van nu</a:t>
            </a:r>
            <a:endParaRPr lang="nl-NL" sz="2000" dirty="0"/>
          </a:p>
        </p:txBody>
      </p:sp>
      <p:sp>
        <p:nvSpPr>
          <p:cNvPr id="7" name="s1_vak"/>
          <p:cNvSpPr txBox="1"/>
          <p:nvPr/>
        </p:nvSpPr>
        <p:spPr>
          <a:xfrm>
            <a:off x="960120" y="4663440"/>
            <a:ext cx="3657600" cy="320040"/>
          </a:xfrm>
          <a:prstGeom prst="rect">
            <a:avLst/>
          </a:prstGeom>
          <a:noFill/>
          <a:ln/>
        </p:spPr>
        <p:txBody>
          <a:bodyPr wrap="square" lIns="0" tIns="0" rIns="0" bIns="0" rtlCol="0" anchor="t"/>
          <a:lstStyle/>
          <a:p>
            <a:pPr marL="0" indent="0" algn="l">
              <a:buNone/>
            </a:pPr>
            <a:r>
              <a:rPr lang="nl-NL" sz="1400" b="1" dirty="0">
                <a:solidFill>
                  <a:srgbClr val="2E8B74"/>
                </a:solidFill>
                <a:latin typeface="Calibri" pitchFamily="34" charset="0"/>
                <a:ea typeface="Calibri" pitchFamily="34" charset="-122"/>
                <a:cs typeface="Calibri" pitchFamily="34" charset="-120"/>
              </a:rPr>
              <a:t>Geschiedenis · 3 mavo</a:t>
            </a:r>
            <a:endParaRPr lang="nl-NL" sz="1400" dirty="0"/>
          </a:p>
        </p:txBody>
      </p:sp>
      <p:sp>
        <p:nvSpPr>
          <p:cNvPr id="8" name="s1_ai"/>
          <p:cNvSpPr txBox="1"/>
          <p:nvPr/>
        </p:nvSpPr>
        <p:spPr>
          <a:xfrm>
            <a:off x="10927080" y="6473952"/>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anim calcmode="lin" valueType="num">
                                      <p:cBhvr additive="base">
                                        <p:cTn id="8" dur="650" decel="100000" fill="hold"/>
                                        <p:tgtEl>
                                          <p:spTgt spid="6"/>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6"/>
                                        </p:tgtEl>
                                        <p:attrNameLst>
                                          <p:attrName>ppt_y</p:attrName>
                                        </p:attrNameLst>
                                      </p:cBhvr>
                                      <p:tavLst>
                                        <p:tav tm="0">
                                          <p:val>
                                            <p:strVal val="#ppt_y+0.06"/>
                                          </p:val>
                                        </p:tav>
                                        <p:tav tm="100000">
                                          <p:val>
                                            <p:strVal val="#ppt_y"/>
                                          </p:val>
                                        </p:tav>
                                      </p:tavLst>
                                    </p:anim>
                                  </p:childTnLst>
                                </p:cTn>
                              </p:par>
                            </p:childTnLst>
                          </p:cTn>
                        </p:par>
                        <p:par>
                          <p:cTn id="10" fill="hold">
                            <p:stCondLst>
                              <p:cond delay="65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50"/>
                                        <p:tgtEl>
                                          <p:spTgt spid="7"/>
                                        </p:tgtEl>
                                      </p:cBhvr>
                                    </p:animEffect>
                                    <p:anim calcmode="lin" valueType="num">
                                      <p:cBhvr additive="base">
                                        <p:cTn id="14"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5" dur="650" decel="100000" fill="hold"/>
                                        <p:tgtEl>
                                          <p:spTgt spid="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INTRODUCTIE</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Televisie</a:t>
            </a:r>
            <a:endParaRPr lang="nl-NL" sz="3400" dirty="0"/>
          </a:p>
        </p:txBody>
      </p:sp>
      <p:sp>
        <p:nvSpPr>
          <p:cNvPr id="4" name="!!card"/>
          <p:cNvSpPr/>
          <p:nvPr/>
        </p:nvSpPr>
        <p:spPr>
          <a:xfrm>
            <a:off x="502920" y="1280160"/>
            <a:ext cx="5660136" cy="4434840"/>
          </a:xfrm>
          <a:prstGeom prst="roundRect">
            <a:avLst>
              <a:gd name="adj" fmla="val 1649"/>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5" name="s2_foto" descr="tv_1954"/>
          <p:cNvPicPr>
            <a:picLocks noChangeAspect="1"/>
          </p:cNvPicPr>
          <p:nvPr/>
        </p:nvPicPr>
        <p:blipFill>
          <a:blip r:embed="rId3"/>
          <a:stretch>
            <a:fillRect/>
          </a:stretch>
        </p:blipFill>
        <p:spPr>
          <a:xfrm>
            <a:off x="548640" y="1325880"/>
            <a:ext cx="5568696" cy="4343400"/>
          </a:xfrm>
          <a:prstGeom prst="rect">
            <a:avLst/>
          </a:prstGeom>
        </p:spPr>
      </p:pic>
      <p:sp>
        <p:nvSpPr>
          <p:cNvPr id="6" name="s2_o1"/>
          <p:cNvSpPr txBox="1"/>
          <p:nvPr/>
        </p:nvSpPr>
        <p:spPr>
          <a:xfrm>
            <a:off x="548640" y="5760720"/>
            <a:ext cx="4023360" cy="27432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Philips-stand op de Firato-beurs in Amsterdam, 1954</a:t>
            </a:r>
            <a:endParaRPr lang="nl-NL" sz="1200" dirty="0"/>
          </a:p>
        </p:txBody>
      </p:sp>
      <p:sp>
        <p:nvSpPr>
          <p:cNvPr id="7" name="s2_box"/>
          <p:cNvSpPr/>
          <p:nvPr/>
        </p:nvSpPr>
        <p:spPr>
          <a:xfrm>
            <a:off x="3778484" y="2628900"/>
            <a:ext cx="1447861" cy="1433322"/>
          </a:xfrm>
          <a:prstGeom prst="roundRect">
            <a:avLst>
              <a:gd name="adj" fmla="val 2552"/>
            </a:avLst>
          </a:prstGeom>
          <a:ln w="44450">
            <a:solidFill>
              <a:srgbClr val="F28C38"/>
            </a:solidFill>
            <a:prstDash val="solid"/>
          </a:ln>
        </p:spPr>
        <p:txBody>
          <a:bodyPr/>
          <a:lstStyle/>
          <a:p>
            <a:endParaRPr lang="nl-NL"/>
          </a:p>
        </p:txBody>
      </p:sp>
      <p:pic>
        <p:nvPicPr>
          <p:cNvPr id="8" name="s2_loupe" descr="loupe_tv"/>
          <p:cNvPicPr>
            <a:picLocks noChangeAspect="1"/>
          </p:cNvPicPr>
          <p:nvPr/>
        </p:nvPicPr>
        <p:blipFill>
          <a:blip r:embed="rId4"/>
          <a:stretch>
            <a:fillRect/>
          </a:stretch>
        </p:blipFill>
        <p:spPr>
          <a:xfrm>
            <a:off x="4709160" y="3611880"/>
            <a:ext cx="2011680" cy="2011680"/>
          </a:xfrm>
          <a:prstGeom prst="ellipse">
            <a:avLst/>
          </a:prstGeom>
        </p:spPr>
      </p:pic>
      <p:sp>
        <p:nvSpPr>
          <p:cNvPr id="9" name="s2_loupe_ring"/>
          <p:cNvSpPr/>
          <p:nvPr/>
        </p:nvSpPr>
        <p:spPr>
          <a:xfrm>
            <a:off x="4709160" y="3611880"/>
            <a:ext cx="2011680" cy="2011680"/>
          </a:xfrm>
          <a:prstGeom prst="ellipse">
            <a:avLst/>
          </a:prstGeom>
          <a:ln w="63500">
            <a:solidFill>
              <a:srgbClr val="F28C38"/>
            </a:solidFill>
            <a:prstDash val="solid"/>
          </a:ln>
        </p:spPr>
        <p:txBody>
          <a:bodyPr/>
          <a:lstStyle/>
          <a:p>
            <a:endParaRPr lang="nl-NL"/>
          </a:p>
        </p:txBody>
      </p:sp>
      <p:sp>
        <p:nvSpPr>
          <p:cNvPr id="10" name="s2_q_bg"/>
          <p:cNvSpPr/>
          <p:nvPr/>
        </p:nvSpPr>
        <p:spPr>
          <a:xfrm>
            <a:off x="6949440" y="1280160"/>
            <a:ext cx="4754880" cy="1472184"/>
          </a:xfrm>
          <a:prstGeom prst="roundRect">
            <a:avLst>
              <a:gd name="adj" fmla="val 6211"/>
            </a:avLst>
          </a:prstGeom>
          <a:solidFill>
            <a:srgbClr val="E5F3EE"/>
          </a:solidFill>
          <a:ln/>
        </p:spPr>
        <p:txBody>
          <a:bodyPr/>
          <a:lstStyle/>
          <a:p>
            <a:endParaRPr lang="nl-NL"/>
          </a:p>
        </p:txBody>
      </p:sp>
      <p:sp>
        <p:nvSpPr>
          <p:cNvPr id="11" name="s2_q_circ"/>
          <p:cNvSpPr/>
          <p:nvPr/>
        </p:nvSpPr>
        <p:spPr>
          <a:xfrm>
            <a:off x="7150608" y="1481328"/>
            <a:ext cx="457200" cy="457200"/>
          </a:xfrm>
          <a:prstGeom prst="ellipse">
            <a:avLst/>
          </a:prstGeom>
          <a:solidFill>
            <a:srgbClr val="2E8B74"/>
          </a:solidFill>
          <a:ln/>
        </p:spPr>
        <p:txBody>
          <a:bodyPr/>
          <a:lstStyle/>
          <a:p>
            <a:endParaRPr lang="nl-NL"/>
          </a:p>
        </p:txBody>
      </p:sp>
      <p:pic>
        <p:nvPicPr>
          <p:cNvPr id="12" name="s2_q_ico" descr="question_w"/>
          <p:cNvPicPr>
            <a:picLocks noChangeAspect="1"/>
          </p:cNvPicPr>
          <p:nvPr/>
        </p:nvPicPr>
        <p:blipFill>
          <a:blip r:embed="rId5"/>
          <a:stretch>
            <a:fillRect/>
          </a:stretch>
        </p:blipFill>
        <p:spPr>
          <a:xfrm>
            <a:off x="7260336" y="1591056"/>
            <a:ext cx="237744" cy="237744"/>
          </a:xfrm>
          <a:prstGeom prst="rect">
            <a:avLst/>
          </a:prstGeom>
        </p:spPr>
      </p:pic>
      <p:sp>
        <p:nvSpPr>
          <p:cNvPr id="13" name="s2_q_lbl"/>
          <p:cNvSpPr txBox="1"/>
          <p:nvPr/>
        </p:nvSpPr>
        <p:spPr>
          <a:xfrm>
            <a:off x="7754112" y="1463040"/>
            <a:ext cx="3749040" cy="237744"/>
          </a:xfrm>
          <a:prstGeom prst="rect">
            <a:avLst/>
          </a:prstGeom>
          <a:noFill/>
          <a:ln/>
        </p:spPr>
        <p:txBody>
          <a:bodyPr wrap="square" lIns="0" tIns="0" rIns="0" bIns="0" rtlCol="0" anchor="t"/>
          <a:lstStyle/>
          <a:p>
            <a:pPr marL="0" indent="0" algn="l">
              <a:buNone/>
            </a:pPr>
            <a:r>
              <a:rPr lang="nl-NL" sz="1100" b="1" kern="0" spc="150" dirty="0">
                <a:solidFill>
                  <a:srgbClr val="2E8B74"/>
                </a:solidFill>
                <a:latin typeface="Calibri" pitchFamily="34" charset="0"/>
                <a:ea typeface="Calibri" pitchFamily="34" charset="-122"/>
                <a:cs typeface="Calibri" pitchFamily="34" charset="-120"/>
              </a:rPr>
              <a:t>VRAAG AAN DE KLAS</a:t>
            </a:r>
            <a:endParaRPr lang="nl-NL" sz="1100" dirty="0"/>
          </a:p>
        </p:txBody>
      </p:sp>
      <p:sp>
        <p:nvSpPr>
          <p:cNvPr id="14" name="s2_q_txt"/>
          <p:cNvSpPr txBox="1"/>
          <p:nvPr/>
        </p:nvSpPr>
        <p:spPr>
          <a:xfrm>
            <a:off x="7754112" y="1719072"/>
            <a:ext cx="3749040" cy="969264"/>
          </a:xfrm>
          <a:prstGeom prst="rect">
            <a:avLst/>
          </a:prstGeom>
          <a:noFill/>
          <a:ln/>
        </p:spPr>
        <p:txBody>
          <a:bodyPr wrap="square" lIns="0" tIns="0" rIns="0" bIns="0" rtlCol="0" anchor="t"/>
          <a:lstStyle/>
          <a:p>
            <a:pPr marL="0" indent="0" algn="l">
              <a:buNone/>
            </a:pPr>
            <a:r>
              <a:rPr lang="nl-NL" sz="2000" b="1" dirty="0">
                <a:solidFill>
                  <a:srgbClr val="1E2A3A"/>
                </a:solidFill>
                <a:latin typeface="Calibri" pitchFamily="34" charset="0"/>
                <a:ea typeface="Calibri" pitchFamily="34" charset="-122"/>
                <a:cs typeface="Calibri" pitchFamily="34" charset="-120"/>
              </a:rPr>
              <a:t>Een tv in 1963: hoeveel maandlonen moest een vakman daarvoor betalen?</a:t>
            </a:r>
            <a:endParaRPr lang="nl-NL" sz="2000" dirty="0"/>
          </a:p>
        </p:txBody>
      </p:sp>
      <p:sp>
        <p:nvSpPr>
          <p:cNvPr id="15" name="s2_a_bg"/>
          <p:cNvSpPr/>
          <p:nvPr/>
        </p:nvSpPr>
        <p:spPr>
          <a:xfrm>
            <a:off x="6949440" y="2916936"/>
            <a:ext cx="4754880" cy="877824"/>
          </a:xfrm>
          <a:prstGeom prst="roundRect">
            <a:avLst>
              <a:gd name="adj" fmla="val 10417"/>
            </a:avLst>
          </a:prstGeom>
          <a:solidFill>
            <a:srgbClr val="FFFFFF"/>
          </a:solidFill>
          <a:ln w="25400">
            <a:solidFill>
              <a:srgbClr val="F28C38"/>
            </a:solidFill>
            <a:prstDash val="solid"/>
          </a:ln>
          <a:effectLst>
            <a:outerShdw blurRad="127000" dist="38100" dir="5400000" algn="bl" rotWithShape="0">
              <a:srgbClr val="000000">
                <a:alpha val="12000"/>
              </a:srgbClr>
            </a:outerShdw>
          </a:effectLst>
        </p:spPr>
        <p:txBody>
          <a:bodyPr/>
          <a:lstStyle/>
          <a:p>
            <a:endParaRPr lang="nl-NL"/>
          </a:p>
        </p:txBody>
      </p:sp>
      <p:pic>
        <p:nvPicPr>
          <p:cNvPr id="16" name="s2_a_ico" descr="bulb_acc"/>
          <p:cNvPicPr>
            <a:picLocks noChangeAspect="1"/>
          </p:cNvPicPr>
          <p:nvPr/>
        </p:nvPicPr>
        <p:blipFill>
          <a:blip r:embed="rId6"/>
          <a:stretch>
            <a:fillRect/>
          </a:stretch>
        </p:blipFill>
        <p:spPr>
          <a:xfrm>
            <a:off x="7178040" y="3172968"/>
            <a:ext cx="365760" cy="365760"/>
          </a:xfrm>
          <a:prstGeom prst="rect">
            <a:avLst/>
          </a:prstGeom>
        </p:spPr>
      </p:pic>
      <p:sp>
        <p:nvSpPr>
          <p:cNvPr id="17" name="s2_a_txt"/>
          <p:cNvSpPr txBox="1"/>
          <p:nvPr/>
        </p:nvSpPr>
        <p:spPr>
          <a:xfrm>
            <a:off x="7754112" y="3054096"/>
            <a:ext cx="3749040" cy="603504"/>
          </a:xfrm>
          <a:prstGeom prst="rect">
            <a:avLst/>
          </a:prstGeom>
          <a:noFill/>
          <a:ln/>
        </p:spPr>
        <p:txBody>
          <a:bodyPr wrap="square" lIns="0" tIns="0" rIns="0" bIns="0" rtlCol="0" anchor="ctr"/>
          <a:lstStyle/>
          <a:p>
            <a:pPr marL="0" indent="0" algn="l">
              <a:buNone/>
            </a:pPr>
            <a:r>
              <a:rPr lang="nl-NL" sz="1800" dirty="0">
                <a:solidFill>
                  <a:srgbClr val="1E2A3A"/>
                </a:solidFill>
                <a:latin typeface="Calibri" pitchFamily="34" charset="0"/>
                <a:ea typeface="Calibri" pitchFamily="34" charset="-122"/>
                <a:cs typeface="Calibri" pitchFamily="34" charset="-120"/>
              </a:rPr>
              <a:t>Twee volle maandsalarissen! Daarom spaarden mensen er jaren voor.</a:t>
            </a:r>
            <a:endParaRPr lang="nl-NL" sz="1800" dirty="0"/>
          </a:p>
        </p:txBody>
      </p:sp>
      <p:sp>
        <p:nvSpPr>
          <p:cNvPr id="18" name="s2_bd0"/>
          <p:cNvSpPr/>
          <p:nvPr/>
        </p:nvSpPr>
        <p:spPr>
          <a:xfrm>
            <a:off x="6995160" y="4159758"/>
            <a:ext cx="118872" cy="118872"/>
          </a:xfrm>
          <a:prstGeom prst="ellipse">
            <a:avLst/>
          </a:prstGeom>
          <a:solidFill>
            <a:srgbClr val="F28C38"/>
          </a:solidFill>
          <a:ln/>
        </p:spPr>
        <p:txBody>
          <a:bodyPr/>
          <a:lstStyle/>
          <a:p>
            <a:endParaRPr lang="nl-NL"/>
          </a:p>
        </p:txBody>
      </p:sp>
      <p:sp>
        <p:nvSpPr>
          <p:cNvPr id="19" name="s2_b0"/>
          <p:cNvSpPr txBox="1"/>
          <p:nvPr/>
        </p:nvSpPr>
        <p:spPr>
          <a:xfrm>
            <a:off x="7269480" y="4069080"/>
            <a:ext cx="4389120"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1951: eerste tv-uitzending in Nederland. Maar één zender!</a:t>
            </a:r>
            <a:endParaRPr lang="nl-NL" sz="1700" dirty="0"/>
          </a:p>
        </p:txBody>
      </p:sp>
      <p:sp>
        <p:nvSpPr>
          <p:cNvPr id="20" name="s2_bd1"/>
          <p:cNvSpPr/>
          <p:nvPr/>
        </p:nvSpPr>
        <p:spPr>
          <a:xfrm>
            <a:off x="6995160" y="4842510"/>
            <a:ext cx="118872" cy="118872"/>
          </a:xfrm>
          <a:prstGeom prst="ellipse">
            <a:avLst/>
          </a:prstGeom>
          <a:solidFill>
            <a:srgbClr val="F28C38"/>
          </a:solidFill>
          <a:ln/>
        </p:spPr>
        <p:txBody>
          <a:bodyPr/>
          <a:lstStyle/>
          <a:p>
            <a:endParaRPr lang="nl-NL"/>
          </a:p>
        </p:txBody>
      </p:sp>
      <p:sp>
        <p:nvSpPr>
          <p:cNvPr id="21" name="s2_b1"/>
          <p:cNvSpPr txBox="1"/>
          <p:nvPr/>
        </p:nvSpPr>
        <p:spPr>
          <a:xfrm>
            <a:off x="7269480" y="4751832"/>
            <a:ext cx="4389120" cy="31394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Eerst sparen, dan pas kopen</a:t>
            </a:r>
            <a:endParaRPr lang="nl-NL" sz="1700" dirty="0"/>
          </a:p>
        </p:txBody>
      </p:sp>
      <p:sp>
        <p:nvSpPr>
          <p:cNvPr id="22" name="s2_bd2"/>
          <p:cNvSpPr/>
          <p:nvPr/>
        </p:nvSpPr>
        <p:spPr>
          <a:xfrm>
            <a:off x="6995160" y="5266182"/>
            <a:ext cx="118872" cy="118872"/>
          </a:xfrm>
          <a:prstGeom prst="ellipse">
            <a:avLst/>
          </a:prstGeom>
          <a:solidFill>
            <a:srgbClr val="F28C38"/>
          </a:solidFill>
          <a:ln/>
        </p:spPr>
        <p:txBody>
          <a:bodyPr/>
          <a:lstStyle/>
          <a:p>
            <a:endParaRPr lang="nl-NL"/>
          </a:p>
        </p:txBody>
      </p:sp>
      <p:sp>
        <p:nvSpPr>
          <p:cNvPr id="23" name="s2_b2"/>
          <p:cNvSpPr txBox="1"/>
          <p:nvPr/>
        </p:nvSpPr>
        <p:spPr>
          <a:xfrm>
            <a:off x="7269480" y="5175504"/>
            <a:ext cx="4389120"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Vanaf 1960: steeds meer mensen kunnen luxe kopen</a:t>
            </a:r>
            <a:endParaRPr lang="nl-NL" sz="1700" dirty="0"/>
          </a:p>
        </p:txBody>
      </p:sp>
      <p:sp>
        <p:nvSpPr>
          <p:cNvPr id="24" name="s2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25" name="s2_tv_dot"/>
          <p:cNvSpPr/>
          <p:nvPr/>
        </p:nvSpPr>
        <p:spPr>
          <a:xfrm>
            <a:off x="8979408" y="6373368"/>
            <a:ext cx="256032" cy="256032"/>
          </a:xfrm>
          <a:prstGeom prst="ellipse">
            <a:avLst/>
          </a:prstGeom>
          <a:solidFill>
            <a:srgbClr val="2F7BB5"/>
          </a:solidFill>
          <a:ln/>
        </p:spPr>
        <p:txBody>
          <a:bodyPr/>
          <a:lstStyle/>
          <a:p>
            <a:endParaRPr lang="nl-NL"/>
          </a:p>
        </p:txBody>
      </p:sp>
      <p:pic>
        <p:nvPicPr>
          <p:cNvPr id="26" name="s2_tv_play" descr="play_w">
            <a:hlinkClick r:id="rId7" tooltip="Open op Schooltv"/>
          </p:cNvPr>
          <p:cNvPicPr>
            <a:picLocks noChangeAspect="1"/>
          </p:cNvPicPr>
          <p:nvPr/>
        </p:nvPicPr>
        <p:blipFill>
          <a:blip r:embed="rId8"/>
          <a:stretch>
            <a:fillRect/>
          </a:stretch>
        </p:blipFill>
        <p:spPr>
          <a:xfrm>
            <a:off x="9052560" y="6437376"/>
            <a:ext cx="128016" cy="128016"/>
          </a:xfrm>
          <a:prstGeom prst="rect">
            <a:avLst/>
          </a:prstGeom>
        </p:spPr>
      </p:pic>
      <p:sp>
        <p:nvSpPr>
          <p:cNvPr id="27" name="s2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7" tooltip="Open op Schooltv">
                  <a:extLst>
                    <a:ext uri="{A12FA001-AC4F-418D-AE19-62706E023703}">
                      <ahyp:hlinkClr xmlns:ahyp="http://schemas.microsoft.com/office/drawing/2018/hyperlinkcolor" val="tx"/>
                    </a:ext>
                  </a:extLst>
                </a:hlinkClick>
              </a:rPr>
              <a:t>Schooltv: Voor het eerst tv-kijken</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7"/>
                                        </p:tgtEl>
                                      </p:cBhvr>
                                    </p:animEffect>
                                  </p:childTnLst>
                                </p:cTn>
                              </p:par>
                            </p:childTnLst>
                          </p:cTn>
                        </p:par>
                        <p:par>
                          <p:cTn id="10" fill="hold">
                            <p:stCondLst>
                              <p:cond delay="55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5" dur="275"/>
                                        <p:tgtEl>
                                          <p:spTgt spid="8"/>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9"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0" dur="275"/>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600" decel="100000" fill="hold"/>
                                        <p:tgtEl>
                                          <p:spTgt spid="10"/>
                                        </p:tgtEl>
                                        <p:attrNameLst>
                                          <p:attrName>ppt_x</p:attrName>
                                        </p:attrNameLst>
                                      </p:cBhvr>
                                      <p:tavLst>
                                        <p:tav tm="0">
                                          <p:val>
                                            <p:strVal val="#ppt_x+0.35"/>
                                          </p:val>
                                        </p:tav>
                                        <p:tav tm="100000">
                                          <p:val>
                                            <p:strVal val="#ppt_x"/>
                                          </p:val>
                                        </p:tav>
                                      </p:tavLst>
                                    </p:anim>
                                    <p:anim calcmode="lin" valueType="num">
                                      <p:cBhvr additive="base">
                                        <p:cTn id="26" dur="600" decel="100000" fill="hold"/>
                                        <p:tgtEl>
                                          <p:spTgt spid="10"/>
                                        </p:tgtEl>
                                        <p:attrNameLst>
                                          <p:attrName>ppt_y</p:attrName>
                                        </p:attrNameLst>
                                      </p:cBhvr>
                                      <p:tavLst>
                                        <p:tav tm="0">
                                          <p:val>
                                            <p:strVal val="#ppt_y"/>
                                          </p:val>
                                        </p:tav>
                                        <p:tav tm="100000">
                                          <p:val>
                                            <p:strVal val="#ppt_y"/>
                                          </p:val>
                                        </p:tav>
                                      </p:tavLst>
                                    </p:anim>
                                    <p:animEffect transition="in" filter="fade">
                                      <p:cBhvr>
                                        <p:cTn id="27" dur="420"/>
                                        <p:tgtEl>
                                          <p:spTgt spid="10"/>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600" decel="100000" fill="hold"/>
                                        <p:tgtEl>
                                          <p:spTgt spid="11"/>
                                        </p:tgtEl>
                                        <p:attrNameLst>
                                          <p:attrName>ppt_x</p:attrName>
                                        </p:attrNameLst>
                                      </p:cBhvr>
                                      <p:tavLst>
                                        <p:tav tm="0">
                                          <p:val>
                                            <p:strVal val="#ppt_x+0.35"/>
                                          </p:val>
                                        </p:tav>
                                        <p:tav tm="100000">
                                          <p:val>
                                            <p:strVal val="#ppt_x"/>
                                          </p:val>
                                        </p:tav>
                                      </p:tavLst>
                                    </p:anim>
                                    <p:anim calcmode="lin" valueType="num">
                                      <p:cBhvr additive="base">
                                        <p:cTn id="31" dur="600" decel="100000" fill="hold"/>
                                        <p:tgtEl>
                                          <p:spTgt spid="11"/>
                                        </p:tgtEl>
                                        <p:attrNameLst>
                                          <p:attrName>ppt_y</p:attrName>
                                        </p:attrNameLst>
                                      </p:cBhvr>
                                      <p:tavLst>
                                        <p:tav tm="0">
                                          <p:val>
                                            <p:strVal val="#ppt_y"/>
                                          </p:val>
                                        </p:tav>
                                        <p:tav tm="100000">
                                          <p:val>
                                            <p:strVal val="#ppt_y"/>
                                          </p:val>
                                        </p:tav>
                                      </p:tavLst>
                                    </p:anim>
                                    <p:animEffect transition="in" filter="fade">
                                      <p:cBhvr>
                                        <p:cTn id="32" dur="420"/>
                                        <p:tgtEl>
                                          <p:spTgt spid="11"/>
                                        </p:tgtEl>
                                      </p:cBhvr>
                                    </p:animEffect>
                                  </p:childTnLst>
                                </p:cTn>
                              </p:par>
                              <p:par>
                                <p:cTn id="33" presetID="2" presetClass="entr" presetSubtype="2"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600" decel="100000" fill="hold"/>
                                        <p:tgtEl>
                                          <p:spTgt spid="12"/>
                                        </p:tgtEl>
                                        <p:attrNameLst>
                                          <p:attrName>ppt_x</p:attrName>
                                        </p:attrNameLst>
                                      </p:cBhvr>
                                      <p:tavLst>
                                        <p:tav tm="0">
                                          <p:val>
                                            <p:strVal val="#ppt_x+0.35"/>
                                          </p:val>
                                        </p:tav>
                                        <p:tav tm="100000">
                                          <p:val>
                                            <p:strVal val="#ppt_x"/>
                                          </p:val>
                                        </p:tav>
                                      </p:tavLst>
                                    </p:anim>
                                    <p:anim calcmode="lin" valueType="num">
                                      <p:cBhvr additive="base">
                                        <p:cTn id="36" dur="600" decel="100000" fill="hold"/>
                                        <p:tgtEl>
                                          <p:spTgt spid="12"/>
                                        </p:tgtEl>
                                        <p:attrNameLst>
                                          <p:attrName>ppt_y</p:attrName>
                                        </p:attrNameLst>
                                      </p:cBhvr>
                                      <p:tavLst>
                                        <p:tav tm="0">
                                          <p:val>
                                            <p:strVal val="#ppt_y"/>
                                          </p:val>
                                        </p:tav>
                                        <p:tav tm="100000">
                                          <p:val>
                                            <p:strVal val="#ppt_y"/>
                                          </p:val>
                                        </p:tav>
                                      </p:tavLst>
                                    </p:anim>
                                    <p:animEffect transition="in" filter="fade">
                                      <p:cBhvr>
                                        <p:cTn id="37" dur="420"/>
                                        <p:tgtEl>
                                          <p:spTgt spid="12"/>
                                        </p:tgtEl>
                                      </p:cBhvr>
                                    </p:animEffect>
                                  </p:childTnLst>
                                </p:cTn>
                              </p:par>
                              <p:par>
                                <p:cTn id="38" presetID="2" presetClass="entr" presetSubtype="2"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600" decel="100000" fill="hold"/>
                                        <p:tgtEl>
                                          <p:spTgt spid="13"/>
                                        </p:tgtEl>
                                        <p:attrNameLst>
                                          <p:attrName>ppt_x</p:attrName>
                                        </p:attrNameLst>
                                      </p:cBhvr>
                                      <p:tavLst>
                                        <p:tav tm="0">
                                          <p:val>
                                            <p:strVal val="#ppt_x+0.35"/>
                                          </p:val>
                                        </p:tav>
                                        <p:tav tm="100000">
                                          <p:val>
                                            <p:strVal val="#ppt_x"/>
                                          </p:val>
                                        </p:tav>
                                      </p:tavLst>
                                    </p:anim>
                                    <p:anim calcmode="lin" valueType="num">
                                      <p:cBhvr additive="base">
                                        <p:cTn id="41" dur="600" decel="100000" fill="hold"/>
                                        <p:tgtEl>
                                          <p:spTgt spid="13"/>
                                        </p:tgtEl>
                                        <p:attrNameLst>
                                          <p:attrName>ppt_y</p:attrName>
                                        </p:attrNameLst>
                                      </p:cBhvr>
                                      <p:tavLst>
                                        <p:tav tm="0">
                                          <p:val>
                                            <p:strVal val="#ppt_y"/>
                                          </p:val>
                                        </p:tav>
                                        <p:tav tm="100000">
                                          <p:val>
                                            <p:strVal val="#ppt_y"/>
                                          </p:val>
                                        </p:tav>
                                      </p:tavLst>
                                    </p:anim>
                                    <p:animEffect transition="in" filter="fade">
                                      <p:cBhvr>
                                        <p:cTn id="42" dur="420"/>
                                        <p:tgtEl>
                                          <p:spTgt spid="13"/>
                                        </p:tgtEl>
                                      </p:cBhvr>
                                    </p:animEffect>
                                  </p:childTnLst>
                                </p:cTn>
                              </p:par>
                              <p:par>
                                <p:cTn id="43" presetID="2" presetClass="entr" presetSubtype="2"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600" decel="100000" fill="hold"/>
                                        <p:tgtEl>
                                          <p:spTgt spid="14"/>
                                        </p:tgtEl>
                                        <p:attrNameLst>
                                          <p:attrName>ppt_x</p:attrName>
                                        </p:attrNameLst>
                                      </p:cBhvr>
                                      <p:tavLst>
                                        <p:tav tm="0">
                                          <p:val>
                                            <p:strVal val="#ppt_x+0.35"/>
                                          </p:val>
                                        </p:tav>
                                        <p:tav tm="100000">
                                          <p:val>
                                            <p:strVal val="#ppt_x"/>
                                          </p:val>
                                        </p:tav>
                                      </p:tavLst>
                                    </p:anim>
                                    <p:anim calcmode="lin" valueType="num">
                                      <p:cBhvr additive="base">
                                        <p:cTn id="46" dur="600" decel="100000" fill="hold"/>
                                        <p:tgtEl>
                                          <p:spTgt spid="14"/>
                                        </p:tgtEl>
                                        <p:attrNameLst>
                                          <p:attrName>ppt_y</p:attrName>
                                        </p:attrNameLst>
                                      </p:cBhvr>
                                      <p:tavLst>
                                        <p:tav tm="0">
                                          <p:val>
                                            <p:strVal val="#ppt_y"/>
                                          </p:val>
                                        </p:tav>
                                        <p:tav tm="100000">
                                          <p:val>
                                            <p:strVal val="#ppt_y"/>
                                          </p:val>
                                        </p:tav>
                                      </p:tavLst>
                                    </p:anim>
                                    <p:animEffect transition="in" filter="fade">
                                      <p:cBhvr>
                                        <p:cTn id="47" dur="42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50" fill="hold"/>
                                        <p:tgtEl>
                                          <p:spTgt spid="1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3" dur="550" fill="hold"/>
                                        <p:tgtEl>
                                          <p:spTgt spid="1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4" dur="275"/>
                                        <p:tgtEl>
                                          <p:spTgt spid="15"/>
                                        </p:tgtEl>
                                      </p:cBhvr>
                                    </p:animEffect>
                                  </p:childTnLst>
                                </p:cTn>
                              </p:par>
                              <p:par>
                                <p:cTn id="55" presetID="53" presetClass="entr" presetSubtype="16"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8"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9" dur="275"/>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3"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4" dur="275"/>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650"/>
                                        <p:tgtEl>
                                          <p:spTgt spid="18"/>
                                        </p:tgtEl>
                                      </p:cBhvr>
                                    </p:animEffect>
                                    <p:anim calcmode="lin" valueType="num">
                                      <p:cBhvr additive="base">
                                        <p:cTn id="70"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71" dur="650" decel="100000" fill="hold"/>
                                        <p:tgtEl>
                                          <p:spTgt spid="18"/>
                                        </p:tgtEl>
                                        <p:attrNameLst>
                                          <p:attrName>ppt_y</p:attrName>
                                        </p:attrNameLst>
                                      </p:cBhvr>
                                      <p:tavLst>
                                        <p:tav tm="0">
                                          <p:val>
                                            <p:strVal val="#ppt_y+0.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650"/>
                                        <p:tgtEl>
                                          <p:spTgt spid="19"/>
                                        </p:tgtEl>
                                      </p:cBhvr>
                                    </p:animEffect>
                                    <p:anim calcmode="lin" valueType="num">
                                      <p:cBhvr additive="base">
                                        <p:cTn id="75"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76" dur="650" decel="100000" fill="hold"/>
                                        <p:tgtEl>
                                          <p:spTgt spid="19"/>
                                        </p:tgtEl>
                                        <p:attrNameLst>
                                          <p:attrName>ppt_y</p:attrName>
                                        </p:attrNameLst>
                                      </p:cBhvr>
                                      <p:tavLst>
                                        <p:tav tm="0">
                                          <p:val>
                                            <p:strVal val="#ppt_y+0.06"/>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650"/>
                                        <p:tgtEl>
                                          <p:spTgt spid="20"/>
                                        </p:tgtEl>
                                      </p:cBhvr>
                                    </p:animEffect>
                                    <p:anim calcmode="lin" valueType="num">
                                      <p:cBhvr additive="base">
                                        <p:cTn id="82"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83" dur="650" decel="100000" fill="hold"/>
                                        <p:tgtEl>
                                          <p:spTgt spid="20"/>
                                        </p:tgtEl>
                                        <p:attrNameLst>
                                          <p:attrName>ppt_y</p:attrName>
                                        </p:attrNameLst>
                                      </p:cBhvr>
                                      <p:tavLst>
                                        <p:tav tm="0">
                                          <p:val>
                                            <p:strVal val="#ppt_y+0.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650"/>
                                        <p:tgtEl>
                                          <p:spTgt spid="21"/>
                                        </p:tgtEl>
                                      </p:cBhvr>
                                    </p:animEffect>
                                    <p:anim calcmode="lin" valueType="num">
                                      <p:cBhvr additive="base">
                                        <p:cTn id="87" dur="650" decel="100000" fill="hold"/>
                                        <p:tgtEl>
                                          <p:spTgt spid="21"/>
                                        </p:tgtEl>
                                        <p:attrNameLst>
                                          <p:attrName>ppt_x</p:attrName>
                                        </p:attrNameLst>
                                      </p:cBhvr>
                                      <p:tavLst>
                                        <p:tav tm="0">
                                          <p:val>
                                            <p:strVal val="#ppt_x"/>
                                          </p:val>
                                        </p:tav>
                                        <p:tav tm="100000">
                                          <p:val>
                                            <p:strVal val="#ppt_x"/>
                                          </p:val>
                                        </p:tav>
                                      </p:tavLst>
                                    </p:anim>
                                    <p:anim calcmode="lin" valueType="num">
                                      <p:cBhvr additive="base">
                                        <p:cTn id="88" dur="650" decel="100000" fill="hold"/>
                                        <p:tgtEl>
                                          <p:spTgt spid="21"/>
                                        </p:tgtEl>
                                        <p:attrNameLst>
                                          <p:attrName>ppt_y</p:attrName>
                                        </p:attrNameLst>
                                      </p:cBhvr>
                                      <p:tavLst>
                                        <p:tav tm="0">
                                          <p:val>
                                            <p:strVal val="#ppt_y+0.06"/>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50"/>
                                        <p:tgtEl>
                                          <p:spTgt spid="22"/>
                                        </p:tgtEl>
                                      </p:cBhvr>
                                    </p:animEffect>
                                    <p:anim calcmode="lin" valueType="num">
                                      <p:cBhvr additive="base">
                                        <p:cTn id="94" dur="650" decel="100000" fill="hold"/>
                                        <p:tgtEl>
                                          <p:spTgt spid="22"/>
                                        </p:tgtEl>
                                        <p:attrNameLst>
                                          <p:attrName>ppt_x</p:attrName>
                                        </p:attrNameLst>
                                      </p:cBhvr>
                                      <p:tavLst>
                                        <p:tav tm="0">
                                          <p:val>
                                            <p:strVal val="#ppt_x"/>
                                          </p:val>
                                        </p:tav>
                                        <p:tav tm="100000">
                                          <p:val>
                                            <p:strVal val="#ppt_x"/>
                                          </p:val>
                                        </p:tav>
                                      </p:tavLst>
                                    </p:anim>
                                    <p:anim calcmode="lin" valueType="num">
                                      <p:cBhvr additive="base">
                                        <p:cTn id="95" dur="650" decel="100000" fill="hold"/>
                                        <p:tgtEl>
                                          <p:spTgt spid="22"/>
                                        </p:tgtEl>
                                        <p:attrNameLst>
                                          <p:attrName>ppt_y</p:attrName>
                                        </p:attrNameLst>
                                      </p:cBhvr>
                                      <p:tavLst>
                                        <p:tav tm="0">
                                          <p:val>
                                            <p:strVal val="#ppt_y+0.06"/>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650"/>
                                        <p:tgtEl>
                                          <p:spTgt spid="23"/>
                                        </p:tgtEl>
                                      </p:cBhvr>
                                    </p:animEffect>
                                    <p:anim calcmode="lin" valueType="num">
                                      <p:cBhvr additive="base">
                                        <p:cTn id="99" dur="650" decel="100000" fill="hold"/>
                                        <p:tgtEl>
                                          <p:spTgt spid="23"/>
                                        </p:tgtEl>
                                        <p:attrNameLst>
                                          <p:attrName>ppt_x</p:attrName>
                                        </p:attrNameLst>
                                      </p:cBhvr>
                                      <p:tavLst>
                                        <p:tav tm="0">
                                          <p:val>
                                            <p:strVal val="#ppt_x"/>
                                          </p:val>
                                        </p:tav>
                                        <p:tav tm="100000">
                                          <p:val>
                                            <p:strVal val="#ppt_x"/>
                                          </p:val>
                                        </p:tav>
                                      </p:tavLst>
                                    </p:anim>
                                    <p:anim calcmode="lin" valueType="num">
                                      <p:cBhvr additive="base">
                                        <p:cTn id="100" dur="650" decel="100000" fill="hold"/>
                                        <p:tgtEl>
                                          <p:spTgt spid="23"/>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OVERZICHT · HOOFDSTUK 4</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a:t>
            </a:r>
            <a:endParaRPr lang="nl-NL" sz="3400" dirty="0"/>
          </a:p>
        </p:txBody>
      </p:sp>
      <p:sp>
        <p:nvSpPr>
          <p:cNvPr id="4" name="!!hv"/>
          <p:cNvSpPr txBox="1"/>
          <p:nvPr/>
        </p:nvSpPr>
        <p:spPr>
          <a:xfrm>
            <a:off x="566928" y="1024128"/>
            <a:ext cx="10058400" cy="365760"/>
          </a:xfrm>
          <a:prstGeom prst="rect">
            <a:avLst/>
          </a:prstGeom>
          <a:noFill/>
          <a:ln/>
        </p:spPr>
        <p:txBody>
          <a:bodyPr wrap="square" lIns="0" tIns="0" rIns="0" bIns="0" rtlCol="0" anchor="t"/>
          <a:lstStyle/>
          <a:p>
            <a:pPr marL="0" indent="0" algn="l">
              <a:buNone/>
            </a:pPr>
            <a:r>
              <a:rPr lang="nl-NL" sz="1900" b="1" dirty="0">
                <a:solidFill>
                  <a:srgbClr val="F28C38"/>
                </a:solidFill>
                <a:latin typeface="Calibri" pitchFamily="34" charset="0"/>
                <a:ea typeface="Calibri" pitchFamily="34" charset="-122"/>
                <a:cs typeface="Calibri" pitchFamily="34" charset="-120"/>
              </a:rPr>
              <a:t>Hoofdvraag: </a:t>
            </a:r>
            <a:r>
              <a:rPr lang="nl-NL" sz="1900" dirty="0">
                <a:solidFill>
                  <a:srgbClr val="5B6B7B"/>
                </a:solidFill>
                <a:latin typeface="Calibri" pitchFamily="34" charset="0"/>
                <a:ea typeface="Calibri" pitchFamily="34" charset="-122"/>
                <a:cs typeface="Calibri" pitchFamily="34" charset="-120"/>
              </a:rPr>
              <a:t>Hoe ontwikkelde de Nederlandse economie zich na de jaren dertig?</a:t>
            </a:r>
            <a:endParaRPr lang="nl-NL" sz="1900" dirty="0"/>
          </a:p>
        </p:txBody>
      </p:sp>
      <p:sp>
        <p:nvSpPr>
          <p:cNvPr id="5" name="!!seg0"/>
          <p:cNvSpPr/>
          <p:nvPr/>
        </p:nvSpPr>
        <p:spPr>
          <a:xfrm>
            <a:off x="1572768" y="2788920"/>
            <a:ext cx="2267712" cy="1737360"/>
          </a:xfrm>
          <a:prstGeom prst="line">
            <a:avLst/>
          </a:prstGeom>
          <a:noFill/>
          <a:ln w="38100">
            <a:solidFill>
              <a:srgbClr val="F28C38"/>
            </a:solidFill>
            <a:prstDash val="dash"/>
          </a:ln>
        </p:spPr>
        <p:txBody>
          <a:bodyPr/>
          <a:lstStyle/>
          <a:p>
            <a:endParaRPr lang="nl-NL"/>
          </a:p>
        </p:txBody>
      </p:sp>
      <p:sp>
        <p:nvSpPr>
          <p:cNvPr id="6" name="!!seg1"/>
          <p:cNvSpPr/>
          <p:nvPr/>
        </p:nvSpPr>
        <p:spPr>
          <a:xfrm flipV="1">
            <a:off x="3840480" y="2788920"/>
            <a:ext cx="2258568" cy="1737360"/>
          </a:xfrm>
          <a:prstGeom prst="line">
            <a:avLst/>
          </a:prstGeom>
          <a:noFill/>
          <a:ln w="38100">
            <a:solidFill>
              <a:srgbClr val="F28C38"/>
            </a:solidFill>
            <a:prstDash val="dash"/>
          </a:ln>
        </p:spPr>
        <p:txBody>
          <a:bodyPr/>
          <a:lstStyle/>
          <a:p>
            <a:endParaRPr lang="nl-NL"/>
          </a:p>
        </p:txBody>
      </p:sp>
      <p:sp>
        <p:nvSpPr>
          <p:cNvPr id="7" name="!!seg2"/>
          <p:cNvSpPr/>
          <p:nvPr/>
        </p:nvSpPr>
        <p:spPr>
          <a:xfrm>
            <a:off x="6099048" y="2788920"/>
            <a:ext cx="2258568" cy="1737360"/>
          </a:xfrm>
          <a:prstGeom prst="line">
            <a:avLst/>
          </a:prstGeom>
          <a:noFill/>
          <a:ln w="38100">
            <a:solidFill>
              <a:srgbClr val="F28C38"/>
            </a:solidFill>
            <a:prstDash val="dash"/>
          </a:ln>
        </p:spPr>
        <p:txBody>
          <a:bodyPr/>
          <a:lstStyle/>
          <a:p>
            <a:endParaRPr lang="nl-NL"/>
          </a:p>
        </p:txBody>
      </p:sp>
      <p:sp>
        <p:nvSpPr>
          <p:cNvPr id="8" name="!!seg3"/>
          <p:cNvSpPr/>
          <p:nvPr/>
        </p:nvSpPr>
        <p:spPr>
          <a:xfrm flipV="1">
            <a:off x="8357616" y="2788920"/>
            <a:ext cx="2258568" cy="1737360"/>
          </a:xfrm>
          <a:prstGeom prst="line">
            <a:avLst/>
          </a:prstGeom>
          <a:noFill/>
          <a:ln w="38100">
            <a:solidFill>
              <a:srgbClr val="F28C38"/>
            </a:solidFill>
            <a:prstDash val="dash"/>
          </a:ln>
        </p:spPr>
        <p:txBody>
          <a:bodyPr/>
          <a:lstStyle/>
          <a:p>
            <a:endParaRPr lang="nl-NL"/>
          </a:p>
        </p:txBody>
      </p:sp>
      <p:sp>
        <p:nvSpPr>
          <p:cNvPr id="9" name="!!tframe1"/>
          <p:cNvSpPr/>
          <p:nvPr/>
        </p:nvSpPr>
        <p:spPr>
          <a:xfrm>
            <a:off x="466344" y="2147139"/>
            <a:ext cx="2212848" cy="1283562"/>
          </a:xfrm>
          <a:prstGeom prst="roundRect">
            <a:avLst>
              <a:gd name="adj" fmla="val 427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0" name="!!tile1" descr="info_oorlog"/>
          <p:cNvPicPr>
            <a:picLocks noChangeAspect="1"/>
          </p:cNvPicPr>
          <p:nvPr/>
        </p:nvPicPr>
        <p:blipFill>
          <a:blip r:embed="rId3"/>
          <a:stretch>
            <a:fillRect/>
          </a:stretch>
        </p:blipFill>
        <p:spPr>
          <a:xfrm>
            <a:off x="521208" y="2202003"/>
            <a:ext cx="2103120" cy="1173834"/>
          </a:xfrm>
          <a:prstGeom prst="rect">
            <a:avLst/>
          </a:prstGeom>
        </p:spPr>
      </p:pic>
      <p:sp>
        <p:nvSpPr>
          <p:cNvPr id="11" name="!!tnum1"/>
          <p:cNvSpPr/>
          <p:nvPr/>
        </p:nvSpPr>
        <p:spPr>
          <a:xfrm>
            <a:off x="521208" y="1497915"/>
            <a:ext cx="384048" cy="384048"/>
          </a:xfrm>
          <a:prstGeom prst="ellipse">
            <a:avLst/>
          </a:prstGeom>
          <a:solidFill>
            <a:srgbClr val="5B6B82"/>
          </a:solidFill>
          <a:ln/>
        </p:spPr>
        <p:txBody>
          <a:bodyPr/>
          <a:lstStyle/>
          <a:p>
            <a:endParaRPr lang="nl-NL"/>
          </a:p>
        </p:txBody>
      </p:sp>
      <p:sp>
        <p:nvSpPr>
          <p:cNvPr id="12" name="!!tnumt1"/>
          <p:cNvSpPr txBox="1"/>
          <p:nvPr/>
        </p:nvSpPr>
        <p:spPr>
          <a:xfrm>
            <a:off x="521208" y="1497915"/>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1</a:t>
            </a:r>
            <a:endParaRPr lang="nl-NL" sz="1600" dirty="0"/>
          </a:p>
        </p:txBody>
      </p:sp>
      <p:sp>
        <p:nvSpPr>
          <p:cNvPr id="13" name="!!tlbl1"/>
          <p:cNvSpPr txBox="1"/>
          <p:nvPr/>
        </p:nvSpPr>
        <p:spPr>
          <a:xfrm>
            <a:off x="996696" y="1452195"/>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Oorlog</a:t>
            </a:r>
            <a:endParaRPr lang="nl-NL" sz="1700" dirty="0"/>
          </a:p>
        </p:txBody>
      </p:sp>
      <p:sp>
        <p:nvSpPr>
          <p:cNvPr id="14" name="!!tyr1"/>
          <p:cNvSpPr txBox="1"/>
          <p:nvPr/>
        </p:nvSpPr>
        <p:spPr>
          <a:xfrm>
            <a:off x="996696" y="1726515"/>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15" name="!!tframe2"/>
          <p:cNvSpPr/>
          <p:nvPr/>
        </p:nvSpPr>
        <p:spPr>
          <a:xfrm>
            <a:off x="2734056"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6" name="!!tile2" descr="rotterdam_169"/>
          <p:cNvPicPr>
            <a:picLocks noChangeAspect="1"/>
          </p:cNvPicPr>
          <p:nvPr/>
        </p:nvPicPr>
        <p:blipFill>
          <a:blip r:embed="rId4"/>
          <a:stretch>
            <a:fillRect/>
          </a:stretch>
        </p:blipFill>
        <p:spPr>
          <a:xfrm>
            <a:off x="2788920" y="3934778"/>
            <a:ext cx="2103120" cy="1183005"/>
          </a:xfrm>
          <a:prstGeom prst="rect">
            <a:avLst/>
          </a:prstGeom>
        </p:spPr>
      </p:pic>
      <p:sp>
        <p:nvSpPr>
          <p:cNvPr id="17" name="!!tnum2"/>
          <p:cNvSpPr/>
          <p:nvPr/>
        </p:nvSpPr>
        <p:spPr>
          <a:xfrm>
            <a:off x="2788920" y="5318951"/>
            <a:ext cx="384048" cy="384048"/>
          </a:xfrm>
          <a:prstGeom prst="ellipse">
            <a:avLst/>
          </a:prstGeom>
          <a:solidFill>
            <a:srgbClr val="2E8B74"/>
          </a:solidFill>
          <a:ln/>
        </p:spPr>
        <p:txBody>
          <a:bodyPr/>
          <a:lstStyle/>
          <a:p>
            <a:endParaRPr lang="nl-NL"/>
          </a:p>
        </p:txBody>
      </p:sp>
      <p:sp>
        <p:nvSpPr>
          <p:cNvPr id="18" name="!!tnumt2"/>
          <p:cNvSpPr txBox="1"/>
          <p:nvPr/>
        </p:nvSpPr>
        <p:spPr>
          <a:xfrm>
            <a:off x="2788920"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2</a:t>
            </a:r>
            <a:endParaRPr lang="nl-NL" sz="1600" dirty="0"/>
          </a:p>
        </p:txBody>
      </p:sp>
      <p:sp>
        <p:nvSpPr>
          <p:cNvPr id="19" name="!!tlbl2"/>
          <p:cNvSpPr txBox="1"/>
          <p:nvPr/>
        </p:nvSpPr>
        <p:spPr>
          <a:xfrm>
            <a:off x="3264408"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Wederopbouw</a:t>
            </a:r>
            <a:endParaRPr lang="nl-NL" sz="1700" dirty="0"/>
          </a:p>
        </p:txBody>
      </p:sp>
      <p:sp>
        <p:nvSpPr>
          <p:cNvPr id="20" name="!!tyr2"/>
          <p:cNvSpPr txBox="1"/>
          <p:nvPr/>
        </p:nvSpPr>
        <p:spPr>
          <a:xfrm>
            <a:off x="3264408"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21" name="!!tframe3"/>
          <p:cNvSpPr/>
          <p:nvPr/>
        </p:nvSpPr>
        <p:spPr>
          <a:xfrm>
            <a:off x="4992624"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2" name="!!tile3" descr="woonkamer_169"/>
          <p:cNvPicPr>
            <a:picLocks noChangeAspect="1"/>
          </p:cNvPicPr>
          <p:nvPr/>
        </p:nvPicPr>
        <p:blipFill>
          <a:blip r:embed="rId5"/>
          <a:stretch>
            <a:fillRect/>
          </a:stretch>
        </p:blipFill>
        <p:spPr>
          <a:xfrm>
            <a:off x="5047488" y="2197417"/>
            <a:ext cx="2103120" cy="1183005"/>
          </a:xfrm>
          <a:prstGeom prst="rect">
            <a:avLst/>
          </a:prstGeom>
        </p:spPr>
      </p:pic>
      <p:sp>
        <p:nvSpPr>
          <p:cNvPr id="23" name="!!tnum3"/>
          <p:cNvSpPr/>
          <p:nvPr/>
        </p:nvSpPr>
        <p:spPr>
          <a:xfrm>
            <a:off x="5047488" y="1493330"/>
            <a:ext cx="384048" cy="384048"/>
          </a:xfrm>
          <a:prstGeom prst="ellipse">
            <a:avLst/>
          </a:prstGeom>
          <a:solidFill>
            <a:srgbClr val="E07A3F"/>
          </a:solidFill>
          <a:ln/>
        </p:spPr>
        <p:txBody>
          <a:bodyPr/>
          <a:lstStyle/>
          <a:p>
            <a:endParaRPr lang="nl-NL"/>
          </a:p>
        </p:txBody>
      </p:sp>
      <p:sp>
        <p:nvSpPr>
          <p:cNvPr id="24" name="!!tnumt3"/>
          <p:cNvSpPr txBox="1"/>
          <p:nvPr/>
        </p:nvSpPr>
        <p:spPr>
          <a:xfrm>
            <a:off x="5047488"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3</a:t>
            </a:r>
            <a:endParaRPr lang="nl-NL" sz="1600" dirty="0"/>
          </a:p>
        </p:txBody>
      </p:sp>
      <p:sp>
        <p:nvSpPr>
          <p:cNvPr id="25" name="!!tlbl3"/>
          <p:cNvSpPr txBox="1"/>
          <p:nvPr/>
        </p:nvSpPr>
        <p:spPr>
          <a:xfrm>
            <a:off x="5522976"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Welvaart</a:t>
            </a:r>
            <a:endParaRPr lang="nl-NL" sz="1700" dirty="0"/>
          </a:p>
        </p:txBody>
      </p:sp>
      <p:sp>
        <p:nvSpPr>
          <p:cNvPr id="26" name="!!tyr3"/>
          <p:cNvSpPr txBox="1"/>
          <p:nvPr/>
        </p:nvSpPr>
        <p:spPr>
          <a:xfrm>
            <a:off x="5522976"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27" name="!!tframe4"/>
          <p:cNvSpPr/>
          <p:nvPr/>
        </p:nvSpPr>
        <p:spPr>
          <a:xfrm>
            <a:off x="7251192"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8" name="!!tile4" descr="robots_169"/>
          <p:cNvPicPr>
            <a:picLocks noChangeAspect="1"/>
          </p:cNvPicPr>
          <p:nvPr/>
        </p:nvPicPr>
        <p:blipFill>
          <a:blip r:embed="rId6"/>
          <a:stretch>
            <a:fillRect/>
          </a:stretch>
        </p:blipFill>
        <p:spPr>
          <a:xfrm>
            <a:off x="7306056" y="3934778"/>
            <a:ext cx="2103120" cy="1183005"/>
          </a:xfrm>
          <a:prstGeom prst="rect">
            <a:avLst/>
          </a:prstGeom>
        </p:spPr>
      </p:pic>
      <p:sp>
        <p:nvSpPr>
          <p:cNvPr id="29" name="!!tnum4"/>
          <p:cNvSpPr/>
          <p:nvPr/>
        </p:nvSpPr>
        <p:spPr>
          <a:xfrm>
            <a:off x="7306056" y="5318951"/>
            <a:ext cx="384048" cy="384048"/>
          </a:xfrm>
          <a:prstGeom prst="ellipse">
            <a:avLst/>
          </a:prstGeom>
          <a:solidFill>
            <a:srgbClr val="8A5A83"/>
          </a:solidFill>
          <a:ln/>
        </p:spPr>
        <p:txBody>
          <a:bodyPr/>
          <a:lstStyle/>
          <a:p>
            <a:endParaRPr lang="nl-NL"/>
          </a:p>
        </p:txBody>
      </p:sp>
      <p:sp>
        <p:nvSpPr>
          <p:cNvPr id="30" name="!!tnumt4"/>
          <p:cNvSpPr txBox="1"/>
          <p:nvPr/>
        </p:nvSpPr>
        <p:spPr>
          <a:xfrm>
            <a:off x="7306056"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4</a:t>
            </a:r>
            <a:endParaRPr lang="nl-NL" sz="1600" dirty="0"/>
          </a:p>
        </p:txBody>
      </p:sp>
      <p:sp>
        <p:nvSpPr>
          <p:cNvPr id="31" name="!!tlbl4"/>
          <p:cNvSpPr txBox="1"/>
          <p:nvPr/>
        </p:nvSpPr>
        <p:spPr>
          <a:xfrm>
            <a:off x="7781544"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Crisis</a:t>
            </a:r>
            <a:endParaRPr lang="nl-NL" sz="1700" dirty="0"/>
          </a:p>
        </p:txBody>
      </p:sp>
      <p:sp>
        <p:nvSpPr>
          <p:cNvPr id="32" name="!!tyr4"/>
          <p:cNvSpPr txBox="1"/>
          <p:nvPr/>
        </p:nvSpPr>
        <p:spPr>
          <a:xfrm>
            <a:off x="7781544"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33" name="!!tframe5"/>
          <p:cNvSpPr/>
          <p:nvPr/>
        </p:nvSpPr>
        <p:spPr>
          <a:xfrm>
            <a:off x="9509760"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4" name="!!tile5" descr="haven_169"/>
          <p:cNvPicPr>
            <a:picLocks noChangeAspect="1"/>
          </p:cNvPicPr>
          <p:nvPr/>
        </p:nvPicPr>
        <p:blipFill>
          <a:blip r:embed="rId7"/>
          <a:stretch>
            <a:fillRect/>
          </a:stretch>
        </p:blipFill>
        <p:spPr>
          <a:xfrm>
            <a:off x="9564624" y="2197417"/>
            <a:ext cx="2103120" cy="1183005"/>
          </a:xfrm>
          <a:prstGeom prst="rect">
            <a:avLst/>
          </a:prstGeom>
        </p:spPr>
      </p:pic>
      <p:sp>
        <p:nvSpPr>
          <p:cNvPr id="35" name="!!tnum5"/>
          <p:cNvSpPr/>
          <p:nvPr/>
        </p:nvSpPr>
        <p:spPr>
          <a:xfrm>
            <a:off x="9564624" y="1493330"/>
            <a:ext cx="384048" cy="384048"/>
          </a:xfrm>
          <a:prstGeom prst="ellipse">
            <a:avLst/>
          </a:prstGeom>
          <a:solidFill>
            <a:srgbClr val="2F7BB5"/>
          </a:solidFill>
          <a:ln/>
        </p:spPr>
        <p:txBody>
          <a:bodyPr/>
          <a:lstStyle/>
          <a:p>
            <a:endParaRPr lang="nl-NL"/>
          </a:p>
        </p:txBody>
      </p:sp>
      <p:sp>
        <p:nvSpPr>
          <p:cNvPr id="36" name="!!tnumt5"/>
          <p:cNvSpPr txBox="1"/>
          <p:nvPr/>
        </p:nvSpPr>
        <p:spPr>
          <a:xfrm>
            <a:off x="9564624"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5</a:t>
            </a:r>
            <a:endParaRPr lang="nl-NL" sz="1600" dirty="0"/>
          </a:p>
        </p:txBody>
      </p:sp>
      <p:sp>
        <p:nvSpPr>
          <p:cNvPr id="37" name="!!tlbl5"/>
          <p:cNvSpPr txBox="1"/>
          <p:nvPr/>
        </p:nvSpPr>
        <p:spPr>
          <a:xfrm>
            <a:off x="10040112"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Nederland nu</a:t>
            </a:r>
            <a:endParaRPr lang="nl-NL" sz="1700" dirty="0"/>
          </a:p>
        </p:txBody>
      </p:sp>
      <p:sp>
        <p:nvSpPr>
          <p:cNvPr id="38" name="!!tyr5"/>
          <p:cNvSpPr txBox="1"/>
          <p:nvPr/>
        </p:nvSpPr>
        <p:spPr>
          <a:xfrm>
            <a:off x="10040112"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9"/>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8"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9" dur="275"/>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3"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4" dur="275"/>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8"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9" dur="275"/>
                                        <p:tgtEl>
                                          <p:spTgt spid="1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3"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4" dur="275"/>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650"/>
                                        <p:tgtEl>
                                          <p:spTgt spid="5"/>
                                        </p:tgtEl>
                                      </p:cBhvr>
                                    </p:animEffect>
                                  </p:childTnLst>
                                </p:cTn>
                              </p:par>
                            </p:childTnLst>
                          </p:cTn>
                        </p:par>
                        <p:par>
                          <p:cTn id="40" fill="hold">
                            <p:stCondLst>
                              <p:cond delay="650"/>
                            </p:stCondLst>
                            <p:childTnLst>
                              <p:par>
                                <p:cTn id="41" presetID="53" presetClass="entr" presetSubtype="16"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50" fill="hold"/>
                                        <p:tgtEl>
                                          <p:spTgt spid="1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4" dur="550" fill="hold"/>
                                        <p:tgtEl>
                                          <p:spTgt spid="1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5" dur="275"/>
                                        <p:tgtEl>
                                          <p:spTgt spid="15"/>
                                        </p:tgtEl>
                                      </p:cBhvr>
                                    </p:animEffect>
                                  </p:childTnLst>
                                </p:cTn>
                              </p:par>
                              <p:par>
                                <p:cTn id="46" presetID="53" presetClass="entr" presetSubtype="16"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9"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0" dur="275"/>
                                        <p:tgtEl>
                                          <p:spTgt spid="1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4"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5" dur="275"/>
                                        <p:tgtEl>
                                          <p:spTgt spid="17"/>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9"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0" dur="275"/>
                                        <p:tgtEl>
                                          <p:spTgt spid="18"/>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50" fill="hold"/>
                                        <p:tgtEl>
                                          <p:spTgt spid="1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4" dur="550" fill="hold"/>
                                        <p:tgtEl>
                                          <p:spTgt spid="1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5" dur="275"/>
                                        <p:tgtEl>
                                          <p:spTgt spid="19"/>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50" fill="hold"/>
                                        <p:tgtEl>
                                          <p:spTgt spid="2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9" dur="550" fill="hold"/>
                                        <p:tgtEl>
                                          <p:spTgt spid="2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0" dur="275"/>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ipe(left)">
                                      <p:cBhvr>
                                        <p:cTn id="75" dur="650"/>
                                        <p:tgtEl>
                                          <p:spTgt spid="6"/>
                                        </p:tgtEl>
                                      </p:cBhvr>
                                    </p:animEffect>
                                  </p:childTnLst>
                                </p:cTn>
                              </p:par>
                            </p:childTnLst>
                          </p:cTn>
                        </p:par>
                        <p:par>
                          <p:cTn id="76" fill="hold">
                            <p:stCondLst>
                              <p:cond delay="650"/>
                            </p:stCondLst>
                            <p:childTnLst>
                              <p:par>
                                <p:cTn id="77" presetID="53" presetClass="entr" presetSubtype="16"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50" fill="hold"/>
                                        <p:tgtEl>
                                          <p:spTgt spid="2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0" dur="550" fill="hold"/>
                                        <p:tgtEl>
                                          <p:spTgt spid="2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1" dur="275"/>
                                        <p:tgtEl>
                                          <p:spTgt spid="21"/>
                                        </p:tgtEl>
                                      </p:cBhvr>
                                    </p:animEffect>
                                  </p:childTnLst>
                                </p:cTn>
                              </p:par>
                              <p:par>
                                <p:cTn id="82" presetID="53" presetClass="entr" presetSubtype="16" fill="hold"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50" fill="hold"/>
                                        <p:tgtEl>
                                          <p:spTgt spid="2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5" dur="550" fill="hold"/>
                                        <p:tgtEl>
                                          <p:spTgt spid="2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6" dur="275"/>
                                        <p:tgtEl>
                                          <p:spTgt spid="22"/>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50" fill="hold"/>
                                        <p:tgtEl>
                                          <p:spTgt spid="2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90" dur="550" fill="hold"/>
                                        <p:tgtEl>
                                          <p:spTgt spid="2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1" dur="275"/>
                                        <p:tgtEl>
                                          <p:spTgt spid="23"/>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94" dur="550" fill="hold"/>
                                        <p:tgtEl>
                                          <p:spTgt spid="2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95" dur="550" fill="hold"/>
                                        <p:tgtEl>
                                          <p:spTgt spid="2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6" dur="275"/>
                                        <p:tgtEl>
                                          <p:spTgt spid="24"/>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50" fill="hold"/>
                                        <p:tgtEl>
                                          <p:spTgt spid="2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0" dur="550" fill="hold"/>
                                        <p:tgtEl>
                                          <p:spTgt spid="2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1" dur="275"/>
                                        <p:tgtEl>
                                          <p:spTgt spid="25"/>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104" dur="550" fill="hold"/>
                                        <p:tgtEl>
                                          <p:spTgt spid="2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5" dur="550" fill="hold"/>
                                        <p:tgtEl>
                                          <p:spTgt spid="2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6" dur="275"/>
                                        <p:tgtEl>
                                          <p:spTgt spid="26"/>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7"/>
                                        </p:tgtEl>
                                        <p:attrNameLst>
                                          <p:attrName>style.visibility</p:attrName>
                                        </p:attrNameLst>
                                      </p:cBhvr>
                                      <p:to>
                                        <p:strVal val="visible"/>
                                      </p:to>
                                    </p:set>
                                    <p:animEffect transition="in" filter="wipe(left)">
                                      <p:cBhvr>
                                        <p:cTn id="111" dur="650"/>
                                        <p:tgtEl>
                                          <p:spTgt spid="7"/>
                                        </p:tgtEl>
                                      </p:cBhvr>
                                    </p:animEffect>
                                  </p:childTnLst>
                                </p:cTn>
                              </p:par>
                            </p:childTnLst>
                          </p:cTn>
                        </p:par>
                        <p:par>
                          <p:cTn id="112" fill="hold">
                            <p:stCondLst>
                              <p:cond delay="650"/>
                            </p:stCondLst>
                            <p:childTnLst>
                              <p:par>
                                <p:cTn id="113" presetID="53" presetClass="entr" presetSubtype="16" fill="hold" grpId="0" nodeType="afterEffect">
                                  <p:stCondLst>
                                    <p:cond delay="0"/>
                                  </p:stCondLst>
                                  <p:childTnLst>
                                    <p:set>
                                      <p:cBhvr>
                                        <p:cTn id="114" dur="1" fill="hold">
                                          <p:stCondLst>
                                            <p:cond delay="0"/>
                                          </p:stCondLst>
                                        </p:cTn>
                                        <p:tgtEl>
                                          <p:spTgt spid="27"/>
                                        </p:tgtEl>
                                        <p:attrNameLst>
                                          <p:attrName>style.visibility</p:attrName>
                                        </p:attrNameLst>
                                      </p:cBhvr>
                                      <p:to>
                                        <p:strVal val="visible"/>
                                      </p:to>
                                    </p:set>
                                    <p:anim calcmode="lin" valueType="num">
                                      <p:cBhvr additive="base">
                                        <p:cTn id="115" dur="550" fill="hold"/>
                                        <p:tgtEl>
                                          <p:spTgt spid="2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16" dur="550" fill="hold"/>
                                        <p:tgtEl>
                                          <p:spTgt spid="2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17" dur="275"/>
                                        <p:tgtEl>
                                          <p:spTgt spid="27"/>
                                        </p:tgtEl>
                                      </p:cBhvr>
                                    </p:animEffect>
                                  </p:childTnLst>
                                </p:cTn>
                              </p:par>
                              <p:par>
                                <p:cTn id="118" presetID="53" presetClass="entr" presetSubtype="16" fill="hold" nodeType="withEffect">
                                  <p:stCondLst>
                                    <p:cond delay="0"/>
                                  </p:stCondLst>
                                  <p:childTnLst>
                                    <p:set>
                                      <p:cBhvr>
                                        <p:cTn id="119" dur="1" fill="hold">
                                          <p:stCondLst>
                                            <p:cond delay="0"/>
                                          </p:stCondLst>
                                        </p:cTn>
                                        <p:tgtEl>
                                          <p:spTgt spid="28"/>
                                        </p:tgtEl>
                                        <p:attrNameLst>
                                          <p:attrName>style.visibility</p:attrName>
                                        </p:attrNameLst>
                                      </p:cBhvr>
                                      <p:to>
                                        <p:strVal val="visible"/>
                                      </p:to>
                                    </p:set>
                                    <p:anim calcmode="lin" valueType="num">
                                      <p:cBhvr additive="base">
                                        <p:cTn id="120" dur="550" fill="hold"/>
                                        <p:tgtEl>
                                          <p:spTgt spid="2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1" dur="550" fill="hold"/>
                                        <p:tgtEl>
                                          <p:spTgt spid="2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2" dur="275"/>
                                        <p:tgtEl>
                                          <p:spTgt spid="28"/>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29"/>
                                        </p:tgtEl>
                                        <p:attrNameLst>
                                          <p:attrName>style.visibility</p:attrName>
                                        </p:attrNameLst>
                                      </p:cBhvr>
                                      <p:to>
                                        <p:strVal val="visible"/>
                                      </p:to>
                                    </p:set>
                                    <p:anim calcmode="lin" valueType="num">
                                      <p:cBhvr additive="base">
                                        <p:cTn id="125" dur="550" fill="hold"/>
                                        <p:tgtEl>
                                          <p:spTgt spid="2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6" dur="550" fill="hold"/>
                                        <p:tgtEl>
                                          <p:spTgt spid="2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7" dur="275"/>
                                        <p:tgtEl>
                                          <p:spTgt spid="29"/>
                                        </p:tgtEl>
                                      </p:cBhvr>
                                    </p:animEffect>
                                  </p:childTnLst>
                                </p:cTn>
                              </p:par>
                              <p:par>
                                <p:cTn id="128" presetID="53" presetClass="entr" presetSubtype="16" fill="hold" grpId="0" nodeType="withEffect">
                                  <p:stCondLst>
                                    <p:cond delay="0"/>
                                  </p:stCondLst>
                                  <p:childTnLst>
                                    <p:set>
                                      <p:cBhvr>
                                        <p:cTn id="129" dur="1" fill="hold">
                                          <p:stCondLst>
                                            <p:cond delay="0"/>
                                          </p:stCondLst>
                                        </p:cTn>
                                        <p:tgtEl>
                                          <p:spTgt spid="30"/>
                                        </p:tgtEl>
                                        <p:attrNameLst>
                                          <p:attrName>style.visibility</p:attrName>
                                        </p:attrNameLst>
                                      </p:cBhvr>
                                      <p:to>
                                        <p:strVal val="visible"/>
                                      </p:to>
                                    </p:set>
                                    <p:anim calcmode="lin" valueType="num">
                                      <p:cBhvr additive="base">
                                        <p:cTn id="130" dur="550" fill="hold"/>
                                        <p:tgtEl>
                                          <p:spTgt spid="3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1" dur="550" fill="hold"/>
                                        <p:tgtEl>
                                          <p:spTgt spid="3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32" dur="275"/>
                                        <p:tgtEl>
                                          <p:spTgt spid="30"/>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31"/>
                                        </p:tgtEl>
                                        <p:attrNameLst>
                                          <p:attrName>style.visibility</p:attrName>
                                        </p:attrNameLst>
                                      </p:cBhvr>
                                      <p:to>
                                        <p:strVal val="visible"/>
                                      </p:to>
                                    </p:set>
                                    <p:anim calcmode="lin" valueType="num">
                                      <p:cBhvr additive="base">
                                        <p:cTn id="135" dur="550" fill="hold"/>
                                        <p:tgtEl>
                                          <p:spTgt spid="3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6" dur="550" fill="hold"/>
                                        <p:tgtEl>
                                          <p:spTgt spid="3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37" dur="275"/>
                                        <p:tgtEl>
                                          <p:spTgt spid="31"/>
                                        </p:tgtEl>
                                      </p:cBhvr>
                                    </p:animEffect>
                                  </p:childTnLst>
                                </p:cTn>
                              </p:par>
                              <p:par>
                                <p:cTn id="138" presetID="53" presetClass="entr" presetSubtype="16" fill="hold" grpId="0" nodeType="withEffect">
                                  <p:stCondLst>
                                    <p:cond delay="0"/>
                                  </p:stCondLst>
                                  <p:childTnLst>
                                    <p:set>
                                      <p:cBhvr>
                                        <p:cTn id="139" dur="1" fill="hold">
                                          <p:stCondLst>
                                            <p:cond delay="0"/>
                                          </p:stCondLst>
                                        </p:cTn>
                                        <p:tgtEl>
                                          <p:spTgt spid="32"/>
                                        </p:tgtEl>
                                        <p:attrNameLst>
                                          <p:attrName>style.visibility</p:attrName>
                                        </p:attrNameLst>
                                      </p:cBhvr>
                                      <p:to>
                                        <p:strVal val="visible"/>
                                      </p:to>
                                    </p:set>
                                    <p:anim calcmode="lin" valueType="num">
                                      <p:cBhvr additive="base">
                                        <p:cTn id="140" dur="550" fill="hold"/>
                                        <p:tgtEl>
                                          <p:spTgt spid="3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41" dur="550" fill="hold"/>
                                        <p:tgtEl>
                                          <p:spTgt spid="3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2" dur="275"/>
                                        <p:tgtEl>
                                          <p:spTgt spid="3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8"/>
                                        </p:tgtEl>
                                        <p:attrNameLst>
                                          <p:attrName>style.visibility</p:attrName>
                                        </p:attrNameLst>
                                      </p:cBhvr>
                                      <p:to>
                                        <p:strVal val="visible"/>
                                      </p:to>
                                    </p:set>
                                    <p:animEffect transition="in" filter="wipe(left)">
                                      <p:cBhvr>
                                        <p:cTn id="147" dur="650"/>
                                        <p:tgtEl>
                                          <p:spTgt spid="8"/>
                                        </p:tgtEl>
                                      </p:cBhvr>
                                    </p:animEffect>
                                  </p:childTnLst>
                                </p:cTn>
                              </p:par>
                            </p:childTnLst>
                          </p:cTn>
                        </p:par>
                        <p:par>
                          <p:cTn id="148" fill="hold">
                            <p:stCondLst>
                              <p:cond delay="650"/>
                            </p:stCondLst>
                            <p:childTnLst>
                              <p:par>
                                <p:cTn id="149" presetID="53" presetClass="entr" presetSubtype="16" fill="hold" grpId="0" nodeType="afterEffect">
                                  <p:stCondLst>
                                    <p:cond delay="0"/>
                                  </p:stCondLst>
                                  <p:childTnLst>
                                    <p:set>
                                      <p:cBhvr>
                                        <p:cTn id="150" dur="1" fill="hold">
                                          <p:stCondLst>
                                            <p:cond delay="0"/>
                                          </p:stCondLst>
                                        </p:cTn>
                                        <p:tgtEl>
                                          <p:spTgt spid="33"/>
                                        </p:tgtEl>
                                        <p:attrNameLst>
                                          <p:attrName>style.visibility</p:attrName>
                                        </p:attrNameLst>
                                      </p:cBhvr>
                                      <p:to>
                                        <p:strVal val="visible"/>
                                      </p:to>
                                    </p:set>
                                    <p:anim calcmode="lin" valueType="num">
                                      <p:cBhvr additive="base">
                                        <p:cTn id="151" dur="550" fill="hold"/>
                                        <p:tgtEl>
                                          <p:spTgt spid="3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52" dur="550" fill="hold"/>
                                        <p:tgtEl>
                                          <p:spTgt spid="3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53" dur="275"/>
                                        <p:tgtEl>
                                          <p:spTgt spid="33"/>
                                        </p:tgtEl>
                                      </p:cBhvr>
                                    </p:animEffect>
                                  </p:childTnLst>
                                </p:cTn>
                              </p:par>
                              <p:par>
                                <p:cTn id="154" presetID="53" presetClass="entr" presetSubtype="16" fill="hold" nodeType="withEffect">
                                  <p:stCondLst>
                                    <p:cond delay="0"/>
                                  </p:stCondLst>
                                  <p:childTnLst>
                                    <p:set>
                                      <p:cBhvr>
                                        <p:cTn id="155" dur="1" fill="hold">
                                          <p:stCondLst>
                                            <p:cond delay="0"/>
                                          </p:stCondLst>
                                        </p:cTn>
                                        <p:tgtEl>
                                          <p:spTgt spid="34"/>
                                        </p:tgtEl>
                                        <p:attrNameLst>
                                          <p:attrName>style.visibility</p:attrName>
                                        </p:attrNameLst>
                                      </p:cBhvr>
                                      <p:to>
                                        <p:strVal val="visible"/>
                                      </p:to>
                                    </p:set>
                                    <p:anim calcmode="lin" valueType="num">
                                      <p:cBhvr additive="base">
                                        <p:cTn id="156" dur="550" fill="hold"/>
                                        <p:tgtEl>
                                          <p:spTgt spid="3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57" dur="550" fill="hold"/>
                                        <p:tgtEl>
                                          <p:spTgt spid="3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58" dur="275"/>
                                        <p:tgtEl>
                                          <p:spTgt spid="34"/>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35"/>
                                        </p:tgtEl>
                                        <p:attrNameLst>
                                          <p:attrName>style.visibility</p:attrName>
                                        </p:attrNameLst>
                                      </p:cBhvr>
                                      <p:to>
                                        <p:strVal val="visible"/>
                                      </p:to>
                                    </p:set>
                                    <p:anim calcmode="lin" valueType="num">
                                      <p:cBhvr additive="base">
                                        <p:cTn id="161" dur="550" fill="hold"/>
                                        <p:tgtEl>
                                          <p:spTgt spid="3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62" dur="550" fill="hold"/>
                                        <p:tgtEl>
                                          <p:spTgt spid="3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63" dur="275"/>
                                        <p:tgtEl>
                                          <p:spTgt spid="35"/>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6"/>
                                        </p:tgtEl>
                                        <p:attrNameLst>
                                          <p:attrName>style.visibility</p:attrName>
                                        </p:attrNameLst>
                                      </p:cBhvr>
                                      <p:to>
                                        <p:strVal val="visible"/>
                                      </p:to>
                                    </p:set>
                                    <p:anim calcmode="lin" valueType="num">
                                      <p:cBhvr additive="base">
                                        <p:cTn id="166" dur="550" fill="hold"/>
                                        <p:tgtEl>
                                          <p:spTgt spid="3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67" dur="550" fill="hold"/>
                                        <p:tgtEl>
                                          <p:spTgt spid="3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68" dur="275"/>
                                        <p:tgtEl>
                                          <p:spTgt spid="36"/>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37"/>
                                        </p:tgtEl>
                                        <p:attrNameLst>
                                          <p:attrName>style.visibility</p:attrName>
                                        </p:attrNameLst>
                                      </p:cBhvr>
                                      <p:to>
                                        <p:strVal val="visible"/>
                                      </p:to>
                                    </p:set>
                                    <p:anim calcmode="lin" valueType="num">
                                      <p:cBhvr additive="base">
                                        <p:cTn id="171" dur="550" fill="hold"/>
                                        <p:tgtEl>
                                          <p:spTgt spid="3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72" dur="550" fill="hold"/>
                                        <p:tgtEl>
                                          <p:spTgt spid="3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73" dur="275"/>
                                        <p:tgtEl>
                                          <p:spTgt spid="37"/>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38"/>
                                        </p:tgtEl>
                                        <p:attrNameLst>
                                          <p:attrName>style.visibility</p:attrName>
                                        </p:attrNameLst>
                                      </p:cBhvr>
                                      <p:to>
                                        <p:strVal val="visible"/>
                                      </p:to>
                                    </p:set>
                                    <p:anim calcmode="lin" valueType="num">
                                      <p:cBhvr additive="base">
                                        <p:cTn id="176" dur="550" fill="hold"/>
                                        <p:tgtEl>
                                          <p:spTgt spid="3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77" dur="550" fill="hold"/>
                                        <p:tgtEl>
                                          <p:spTgt spid="3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78" dur="275"/>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5" grpId="0" animBg="1"/>
      <p:bldP spid="36"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tile1" descr="info_oorlog"/>
          <p:cNvPicPr>
            <a:picLocks noChangeAspect="1"/>
          </p:cNvPicPr>
          <p:nvPr/>
        </p:nvPicPr>
        <p:blipFill>
          <a:blip r:embed="rId3"/>
          <a:stretch>
            <a:fillRect/>
          </a:stretch>
        </p:blipFill>
        <p:spPr>
          <a:xfrm>
            <a:off x="0" y="26666"/>
            <a:ext cx="12191695" cy="6804667"/>
          </a:xfrm>
          <a:prstGeom prst="rect">
            <a:avLst/>
          </a:prstGeom>
        </p:spPr>
      </p:pic>
      <p:sp>
        <p:nvSpPr>
          <p:cNvPr id="3" name="!!title"/>
          <p:cNvSpPr txBox="1"/>
          <p:nvPr/>
        </p:nvSpPr>
        <p:spPr>
          <a:xfrm>
            <a:off x="182880" y="164592"/>
            <a:ext cx="2395728" cy="402336"/>
          </a:xfrm>
          <a:prstGeom prst="roundRect">
            <a:avLst>
              <a:gd name="adj" fmla="val 45455"/>
            </a:avLst>
          </a:prstGeom>
          <a:solidFill>
            <a:srgbClr val="5B6B82"/>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De Tweede Wereldoorlog</a:t>
            </a:r>
            <a:endParaRPr lang="nl-NL" sz="1500" dirty="0"/>
          </a:p>
        </p:txBody>
      </p:sp>
      <p:sp>
        <p:nvSpPr>
          <p:cNvPr id="4" name="s4_hl1"/>
          <p:cNvSpPr/>
          <p:nvPr/>
        </p:nvSpPr>
        <p:spPr>
          <a:xfrm>
            <a:off x="229104" y="1022314"/>
            <a:ext cx="3233377" cy="384186"/>
          </a:xfrm>
          <a:prstGeom prst="roundRect">
            <a:avLst>
              <a:gd name="adj" fmla="val 35701"/>
            </a:avLst>
          </a:prstGeom>
          <a:ln w="50800">
            <a:solidFill>
              <a:srgbClr val="F28C38"/>
            </a:solidFill>
            <a:prstDash val="solid"/>
          </a:ln>
        </p:spPr>
        <p:txBody>
          <a:bodyPr/>
          <a:lstStyle/>
          <a:p>
            <a:endParaRPr lang="nl-NL"/>
          </a:p>
        </p:txBody>
      </p:sp>
      <p:sp>
        <p:nvSpPr>
          <p:cNvPr id="5" name="s4_hl2"/>
          <p:cNvSpPr/>
          <p:nvPr/>
        </p:nvSpPr>
        <p:spPr>
          <a:xfrm>
            <a:off x="6192433" y="1022314"/>
            <a:ext cx="3446353" cy="384186"/>
          </a:xfrm>
          <a:prstGeom prst="roundRect">
            <a:avLst>
              <a:gd name="adj" fmla="val 35701"/>
            </a:avLst>
          </a:prstGeom>
          <a:ln w="50800">
            <a:solidFill>
              <a:srgbClr val="F28C38"/>
            </a:solidFill>
            <a:prstDash val="solid"/>
          </a:ln>
        </p:spPr>
        <p:txBody>
          <a:bodyPr/>
          <a:lstStyle/>
          <a:p>
            <a:endParaRPr lang="nl-NL"/>
          </a:p>
        </p:txBody>
      </p:sp>
      <p:sp>
        <p:nvSpPr>
          <p:cNvPr id="6" name="s4_c1"/>
          <p:cNvSpPr txBox="1"/>
          <p:nvPr/>
        </p:nvSpPr>
        <p:spPr>
          <a:xfrm>
            <a:off x="3544777" y="1058890"/>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FASE 1</a:t>
            </a:r>
            <a:endParaRPr lang="nl-NL" sz="1100" dirty="0"/>
          </a:p>
        </p:txBody>
      </p:sp>
      <p:sp>
        <p:nvSpPr>
          <p:cNvPr id="7" name="s4_c2"/>
          <p:cNvSpPr txBox="1"/>
          <p:nvPr/>
        </p:nvSpPr>
        <p:spPr>
          <a:xfrm>
            <a:off x="9721082" y="1058890"/>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FASE 2</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nfo_oorlog" descr="info_oorlog"/>
          <p:cNvPicPr>
            <a:picLocks noChangeAspect="1"/>
          </p:cNvPicPr>
          <p:nvPr/>
        </p:nvPicPr>
        <p:blipFill>
          <a:blip r:embed="rId3"/>
          <a:stretch>
            <a:fillRect/>
          </a:stretch>
        </p:blipFill>
        <p:spPr>
          <a:xfrm>
            <a:off x="-273080" y="-4518660"/>
            <a:ext cx="41555024" cy="23193502"/>
          </a:xfrm>
          <a:prstGeom prst="rect">
            <a:avLst/>
          </a:prstGeom>
        </p:spPr>
      </p:pic>
      <p:pic>
        <p:nvPicPr>
          <p:cNvPr id="3" name="s5_veil" descr="veil_5"/>
          <p:cNvPicPr>
            <a:picLocks noChangeAspect="1"/>
          </p:cNvPicPr>
          <p:nvPr/>
        </p:nvPicPr>
        <p:blipFill>
          <a:blip r:embed="rId4"/>
          <a:stretch>
            <a:fillRect/>
          </a:stretch>
        </p:blipFill>
        <p:spPr>
          <a:xfrm>
            <a:off x="0" y="0"/>
            <a:ext cx="12191695" cy="6858000"/>
          </a:xfrm>
          <a:prstGeom prst="rect">
            <a:avLst/>
          </a:prstGeom>
        </p:spPr>
      </p:pic>
      <p:sp>
        <p:nvSpPr>
          <p:cNvPr id="4" name="s5_ring"/>
          <p:cNvSpPr/>
          <p:nvPr/>
        </p:nvSpPr>
        <p:spPr>
          <a:xfrm>
            <a:off x="533500" y="320040"/>
            <a:ext cx="6613960" cy="5806440"/>
          </a:xfrm>
          <a:prstGeom prst="ellipse">
            <a:avLst/>
          </a:prstGeom>
          <a:ln w="63500">
            <a:solidFill>
              <a:srgbClr val="F28C38"/>
            </a:solidFill>
            <a:prstDash val="solid"/>
          </a:ln>
        </p:spPr>
        <p:txBody>
          <a:bodyPr/>
          <a:lstStyle/>
          <a:p>
            <a:endParaRPr lang="nl-NL"/>
          </a:p>
        </p:txBody>
      </p:sp>
      <p:sp>
        <p:nvSpPr>
          <p:cNvPr id="5"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6"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7"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De Tweede Wereldoorlog</a:t>
            </a:r>
            <a:endParaRPr lang="nl-NL" sz="2600" dirty="0"/>
          </a:p>
        </p:txBody>
      </p:sp>
      <p:sp>
        <p:nvSpPr>
          <p:cNvPr id="8" name="s5_oz_chip0"/>
          <p:cNvSpPr txBox="1"/>
          <p:nvPr/>
        </p:nvSpPr>
        <p:spPr>
          <a:xfrm>
            <a:off x="7927848" y="1572768"/>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9" name="s5_oz_txt0"/>
          <p:cNvSpPr txBox="1"/>
          <p:nvPr/>
        </p:nvSpPr>
        <p:spPr>
          <a:xfrm>
            <a:off x="7927848" y="1920240"/>
            <a:ext cx="3639312" cy="1014984"/>
          </a:xfrm>
          <a:prstGeom prst="roundRect">
            <a:avLst>
              <a:gd name="adj" fmla="val 5405"/>
            </a:avLst>
          </a:prstGeom>
          <a:solidFill>
            <a:srgbClr val="EEF1F5"/>
          </a:solidFill>
          <a:ln/>
        </p:spPr>
        <p:txBody>
          <a:bodyPr wrap="square" lIns="63500" tIns="101600" rIns="101600" bIns="63500" rtlCol="0" anchor="ctr"/>
          <a:lstStyle/>
          <a:p>
            <a:pPr marL="0" indent="0" algn="l">
              <a:buNone/>
            </a:pPr>
            <a:r>
              <a:rPr lang="nl-NL" sz="1700" dirty="0">
                <a:solidFill>
                  <a:srgbClr val="1E2A3A"/>
                </a:solidFill>
                <a:latin typeface="Calibri" pitchFamily="34" charset="0"/>
                <a:ea typeface="Calibri" pitchFamily="34" charset="-122"/>
                <a:cs typeface="Calibri" pitchFamily="34" charset="-120"/>
              </a:rPr>
              <a:t>Duitsland plaatst veel bestellingen bij Nederlandse bedrijven.</a:t>
            </a:r>
            <a:endParaRPr lang="nl-NL" sz="1700" dirty="0"/>
          </a:p>
        </p:txBody>
      </p:sp>
      <p:sp>
        <p:nvSpPr>
          <p:cNvPr id="10" name="s5_og_arrow"/>
          <p:cNvSpPr/>
          <p:nvPr/>
        </p:nvSpPr>
        <p:spPr>
          <a:xfrm>
            <a:off x="9518904" y="3044952"/>
            <a:ext cx="457200" cy="438912"/>
          </a:xfrm>
          <a:prstGeom prst="downArrow">
            <a:avLst/>
          </a:prstGeom>
          <a:solidFill>
            <a:srgbClr val="F28C38"/>
          </a:solidFill>
          <a:ln/>
        </p:spPr>
        <p:txBody>
          <a:bodyPr/>
          <a:lstStyle/>
          <a:p>
            <a:endParaRPr lang="nl-NL"/>
          </a:p>
        </p:txBody>
      </p:sp>
      <p:sp>
        <p:nvSpPr>
          <p:cNvPr id="11" name="s5_gv_chip"/>
          <p:cNvSpPr txBox="1"/>
          <p:nvPr/>
        </p:nvSpPr>
        <p:spPr>
          <a:xfrm>
            <a:off x="7927848" y="3575304"/>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GEVOLG</a:t>
            </a:r>
            <a:endParaRPr lang="nl-NL" sz="1100" dirty="0"/>
          </a:p>
        </p:txBody>
      </p:sp>
      <p:sp>
        <p:nvSpPr>
          <p:cNvPr id="12" name="s5_gv_txt"/>
          <p:cNvSpPr txBox="1"/>
          <p:nvPr/>
        </p:nvSpPr>
        <p:spPr>
          <a:xfrm>
            <a:off x="7927848" y="3922776"/>
            <a:ext cx="3639312" cy="1014984"/>
          </a:xfrm>
          <a:prstGeom prst="roundRect">
            <a:avLst>
              <a:gd name="adj" fmla="val 5405"/>
            </a:avLst>
          </a:prstGeom>
          <a:solidFill>
            <a:srgbClr val="FDEEE2"/>
          </a:solidFill>
          <a:ln/>
        </p:spPr>
        <p:txBody>
          <a:bodyPr wrap="square" lIns="63500" tIns="101600" rIns="101600" bIns="63500" rtlCol="0" anchor="ctr"/>
          <a:lstStyle/>
          <a:p>
            <a:pPr marL="0" indent="0" algn="l">
              <a:buNone/>
            </a:pPr>
            <a:r>
              <a:rPr lang="nl-NL" sz="1700" b="1" dirty="0">
                <a:solidFill>
                  <a:srgbClr val="1E2A3A"/>
                </a:solidFill>
                <a:latin typeface="Calibri" pitchFamily="34" charset="0"/>
                <a:ea typeface="Calibri" pitchFamily="34" charset="-122"/>
                <a:cs typeface="Calibri" pitchFamily="34" charset="-120"/>
              </a:rPr>
              <a:t>1940 – 1941: volop werk in Nederland. De Duitsers betalen goed.</a:t>
            </a:r>
            <a:endParaRPr lang="nl-NL" sz="1700" dirty="0"/>
          </a:p>
        </p:txBody>
      </p:sp>
      <p:sp>
        <p:nvSpPr>
          <p:cNvPr id="1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5" name="!!rd_d1"/>
          <p:cNvSpPr/>
          <p:nvPr/>
        </p:nvSpPr>
        <p:spPr>
          <a:xfrm>
            <a:off x="2944368" y="6437376"/>
            <a:ext cx="128016" cy="128016"/>
          </a:xfrm>
          <a:prstGeom prst="ellipse">
            <a:avLst/>
          </a:prstGeom>
          <a:solidFill>
            <a:srgbClr val="C9D1DA"/>
          </a:solidFill>
          <a:ln/>
        </p:spPr>
        <p:txBody>
          <a:bodyPr/>
          <a:lstStyle/>
          <a:p>
            <a:endParaRPr lang="nl-NL"/>
          </a:p>
        </p:txBody>
      </p:sp>
      <p:sp>
        <p:nvSpPr>
          <p:cNvPr id="1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17" name="!!rd_d2"/>
          <p:cNvSpPr/>
          <p:nvPr/>
        </p:nvSpPr>
        <p:spPr>
          <a:xfrm>
            <a:off x="4078224" y="6437376"/>
            <a:ext cx="128016" cy="128016"/>
          </a:xfrm>
          <a:prstGeom prst="ellipse">
            <a:avLst/>
          </a:prstGeom>
          <a:solidFill>
            <a:srgbClr val="C9D1DA"/>
          </a:solidFill>
          <a:ln/>
        </p:spPr>
        <p:txBody>
          <a:bodyPr/>
          <a:lstStyle/>
          <a:p>
            <a:endParaRPr lang="nl-NL"/>
          </a:p>
        </p:txBody>
      </p:sp>
      <p:sp>
        <p:nvSpPr>
          <p:cNvPr id="1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19" name="!!rd_d3"/>
          <p:cNvSpPr/>
          <p:nvPr/>
        </p:nvSpPr>
        <p:spPr>
          <a:xfrm>
            <a:off x="5212080" y="6437376"/>
            <a:ext cx="128016" cy="128016"/>
          </a:xfrm>
          <a:prstGeom prst="ellipse">
            <a:avLst/>
          </a:prstGeom>
          <a:solidFill>
            <a:srgbClr val="C9D1DA"/>
          </a:solidFill>
          <a:ln/>
        </p:spPr>
        <p:txBody>
          <a:bodyPr/>
          <a:lstStyle/>
          <a:p>
            <a:endParaRPr lang="nl-NL"/>
          </a:p>
        </p:txBody>
      </p:sp>
      <p:sp>
        <p:nvSpPr>
          <p:cNvPr id="2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1" name="!!rd_d4"/>
          <p:cNvSpPr/>
          <p:nvPr/>
        </p:nvSpPr>
        <p:spPr>
          <a:xfrm>
            <a:off x="6345936" y="6437376"/>
            <a:ext cx="128016" cy="128016"/>
          </a:xfrm>
          <a:prstGeom prst="ellipse">
            <a:avLst/>
          </a:prstGeom>
          <a:solidFill>
            <a:srgbClr val="C9D1DA"/>
          </a:solidFill>
          <a:ln/>
        </p:spPr>
        <p:txBody>
          <a:bodyPr/>
          <a:lstStyle/>
          <a:p>
            <a:endParaRPr lang="nl-NL"/>
          </a:p>
        </p:txBody>
      </p:sp>
      <p:sp>
        <p:nvSpPr>
          <p:cNvPr id="2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3" name="!!rd_d5"/>
          <p:cNvSpPr/>
          <p:nvPr/>
        </p:nvSpPr>
        <p:spPr>
          <a:xfrm>
            <a:off x="7479792" y="6437376"/>
            <a:ext cx="128016" cy="128016"/>
          </a:xfrm>
          <a:prstGeom prst="ellipse">
            <a:avLst/>
          </a:prstGeom>
          <a:solidFill>
            <a:srgbClr val="C9D1DA"/>
          </a:solidFill>
          <a:ln/>
        </p:spPr>
        <p:txBody>
          <a:bodyPr/>
          <a:lstStyle/>
          <a:p>
            <a:endParaRPr lang="nl-NL"/>
          </a:p>
        </p:txBody>
      </p:sp>
      <p:sp>
        <p:nvSpPr>
          <p:cNvPr id="2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5"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15" dur="600" decel="100000" fill="hold"/>
                                        <p:tgtEl>
                                          <p:spTgt spid="8"/>
                                        </p:tgtEl>
                                        <p:attrNameLst>
                                          <p:attrName>ppt_y</p:attrName>
                                        </p:attrNameLst>
                                      </p:cBhvr>
                                      <p:tavLst>
                                        <p:tav tm="0">
                                          <p:val>
                                            <p:strVal val="#ppt_y"/>
                                          </p:val>
                                        </p:tav>
                                        <p:tav tm="100000">
                                          <p:val>
                                            <p:strVal val="#ppt_y"/>
                                          </p:val>
                                        </p:tav>
                                      </p:tavLst>
                                    </p:anim>
                                    <p:animEffect transition="in" filter="fade">
                                      <p:cBhvr>
                                        <p:cTn id="16" dur="420"/>
                                        <p:tgtEl>
                                          <p:spTgt spid="8"/>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450"/>
                                        <p:tgtEl>
                                          <p:spTgt spid="10"/>
                                        </p:tgtEl>
                                      </p:cBhvr>
                                    </p:animEffect>
                                  </p:childTnLst>
                                </p:cTn>
                              </p:par>
                            </p:childTnLst>
                          </p:cTn>
                        </p:par>
                        <p:par>
                          <p:cTn id="27" fill="hold">
                            <p:stCondLst>
                              <p:cond delay="45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75"/>
                                        <p:tgtEl>
                                          <p:spTgt spid="11"/>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6"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7" dur="275"/>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nfo_oorlog" descr="info_oorlog"/>
          <p:cNvPicPr>
            <a:picLocks noChangeAspect="1"/>
          </p:cNvPicPr>
          <p:nvPr/>
        </p:nvPicPr>
        <p:blipFill>
          <a:blip r:embed="rId3"/>
          <a:stretch>
            <a:fillRect/>
          </a:stretch>
        </p:blipFill>
        <p:spPr>
          <a:xfrm>
            <a:off x="-4040963" y="-5841896"/>
            <a:ext cx="30530222" cy="17040124"/>
          </a:xfrm>
          <a:prstGeom prst="rect">
            <a:avLst/>
          </a:prstGeom>
        </p:spPr>
      </p:pic>
      <p:pic>
        <p:nvPicPr>
          <p:cNvPr id="3" name="s6_veil" descr="veil_6"/>
          <p:cNvPicPr>
            <a:picLocks noChangeAspect="1"/>
          </p:cNvPicPr>
          <p:nvPr/>
        </p:nvPicPr>
        <p:blipFill>
          <a:blip r:embed="rId4"/>
          <a:stretch>
            <a:fillRect/>
          </a:stretch>
        </p:blipFill>
        <p:spPr>
          <a:xfrm>
            <a:off x="0" y="0"/>
            <a:ext cx="12191695" cy="6858000"/>
          </a:xfrm>
          <a:prstGeom prst="rect">
            <a:avLst/>
          </a:prstGeom>
        </p:spPr>
      </p:pic>
      <p:sp>
        <p:nvSpPr>
          <p:cNvPr id="4" name="s6_ring"/>
          <p:cNvSpPr/>
          <p:nvPr/>
        </p:nvSpPr>
        <p:spPr>
          <a:xfrm>
            <a:off x="936790" y="320040"/>
            <a:ext cx="5807379" cy="5806440"/>
          </a:xfrm>
          <a:prstGeom prst="ellipse">
            <a:avLst/>
          </a:prstGeom>
          <a:ln w="63500">
            <a:solidFill>
              <a:srgbClr val="F28C38"/>
            </a:solidFill>
            <a:prstDash val="solid"/>
          </a:ln>
        </p:spPr>
        <p:txBody>
          <a:bodyPr/>
          <a:lstStyle/>
          <a:p>
            <a:endParaRPr lang="nl-NL"/>
          </a:p>
        </p:txBody>
      </p:sp>
      <p:sp>
        <p:nvSpPr>
          <p:cNvPr id="5"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6"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7"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De Tweede Wereldoorlog</a:t>
            </a:r>
            <a:endParaRPr lang="nl-NL" sz="2600" dirty="0"/>
          </a:p>
        </p:txBody>
      </p:sp>
      <p:sp>
        <p:nvSpPr>
          <p:cNvPr id="8" name="s6_oz_chip0"/>
          <p:cNvSpPr txBox="1"/>
          <p:nvPr/>
        </p:nvSpPr>
        <p:spPr>
          <a:xfrm>
            <a:off x="7927848" y="1572768"/>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9" name="s6_oz_txt0"/>
          <p:cNvSpPr txBox="1"/>
          <p:nvPr/>
        </p:nvSpPr>
        <p:spPr>
          <a:xfrm>
            <a:off x="7927848" y="1920240"/>
            <a:ext cx="3639312" cy="1014984"/>
          </a:xfrm>
          <a:prstGeom prst="roundRect">
            <a:avLst>
              <a:gd name="adj" fmla="val 5405"/>
            </a:avLst>
          </a:prstGeom>
          <a:solidFill>
            <a:srgbClr val="EEF1F5"/>
          </a:solidFill>
          <a:ln/>
        </p:spPr>
        <p:txBody>
          <a:bodyPr wrap="square" lIns="63500" tIns="101600" rIns="101600" bIns="63500" rtlCol="0" anchor="ctr"/>
          <a:lstStyle/>
          <a:p>
            <a:pPr marL="0" indent="0" algn="l">
              <a:buNone/>
            </a:pPr>
            <a:r>
              <a:rPr lang="nl-NL" sz="1700" dirty="0">
                <a:solidFill>
                  <a:srgbClr val="1E2A3A"/>
                </a:solidFill>
                <a:latin typeface="Calibri" pitchFamily="34" charset="0"/>
                <a:ea typeface="Calibri" pitchFamily="34" charset="-122"/>
                <a:cs typeface="Calibri" pitchFamily="34" charset="-120"/>
              </a:rPr>
              <a:t>De oorlog gaat slechter voor Duitsland. Alles moet naar het Duitse leger.</a:t>
            </a:r>
            <a:endParaRPr lang="nl-NL" sz="1700" dirty="0"/>
          </a:p>
        </p:txBody>
      </p:sp>
      <p:sp>
        <p:nvSpPr>
          <p:cNvPr id="10" name="s6_og_arrow"/>
          <p:cNvSpPr/>
          <p:nvPr/>
        </p:nvSpPr>
        <p:spPr>
          <a:xfrm>
            <a:off x="9518904" y="3044952"/>
            <a:ext cx="457200" cy="438912"/>
          </a:xfrm>
          <a:prstGeom prst="downArrow">
            <a:avLst/>
          </a:prstGeom>
          <a:solidFill>
            <a:srgbClr val="F28C38"/>
          </a:solidFill>
          <a:ln/>
        </p:spPr>
        <p:txBody>
          <a:bodyPr/>
          <a:lstStyle/>
          <a:p>
            <a:endParaRPr lang="nl-NL"/>
          </a:p>
        </p:txBody>
      </p:sp>
      <p:sp>
        <p:nvSpPr>
          <p:cNvPr id="11" name="s6_gv_chip"/>
          <p:cNvSpPr txBox="1"/>
          <p:nvPr/>
        </p:nvSpPr>
        <p:spPr>
          <a:xfrm>
            <a:off x="7927848" y="3575304"/>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GEVOLG</a:t>
            </a:r>
            <a:endParaRPr lang="nl-NL" sz="1100" dirty="0"/>
          </a:p>
        </p:txBody>
      </p:sp>
      <p:sp>
        <p:nvSpPr>
          <p:cNvPr id="12" name="s6_gv_txt"/>
          <p:cNvSpPr txBox="1"/>
          <p:nvPr/>
        </p:nvSpPr>
        <p:spPr>
          <a:xfrm>
            <a:off x="7927848" y="3922776"/>
            <a:ext cx="3639312" cy="1014984"/>
          </a:xfrm>
          <a:prstGeom prst="roundRect">
            <a:avLst>
              <a:gd name="adj" fmla="val 5405"/>
            </a:avLst>
          </a:prstGeom>
          <a:solidFill>
            <a:srgbClr val="FDEEE2"/>
          </a:solidFill>
          <a:ln/>
        </p:spPr>
        <p:txBody>
          <a:bodyPr wrap="square" lIns="63500" tIns="101600" rIns="101600" bIns="63500" rtlCol="0" anchor="ctr"/>
          <a:lstStyle/>
          <a:p>
            <a:pPr marL="0" indent="0" algn="l">
              <a:buNone/>
            </a:pPr>
            <a:r>
              <a:rPr lang="nl-NL" sz="1700" b="1" dirty="0">
                <a:solidFill>
                  <a:srgbClr val="1E2A3A"/>
                </a:solidFill>
                <a:latin typeface="Calibri" pitchFamily="34" charset="0"/>
                <a:ea typeface="Calibri" pitchFamily="34" charset="-122"/>
                <a:cs typeface="Calibri" pitchFamily="34" charset="-120"/>
              </a:rPr>
              <a:t>Minder gewone producten. De Duitsers betalen slecht, soms met geld dat hier niets waard is.</a:t>
            </a:r>
            <a:endParaRPr lang="nl-NL" sz="1700" dirty="0"/>
          </a:p>
        </p:txBody>
      </p:sp>
      <p:sp>
        <p:nvSpPr>
          <p:cNvPr id="1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5" name="!!rd_d1"/>
          <p:cNvSpPr/>
          <p:nvPr/>
        </p:nvSpPr>
        <p:spPr>
          <a:xfrm>
            <a:off x="2944368" y="6437376"/>
            <a:ext cx="128016" cy="128016"/>
          </a:xfrm>
          <a:prstGeom prst="ellipse">
            <a:avLst/>
          </a:prstGeom>
          <a:solidFill>
            <a:srgbClr val="C9D1DA"/>
          </a:solidFill>
          <a:ln/>
        </p:spPr>
        <p:txBody>
          <a:bodyPr/>
          <a:lstStyle/>
          <a:p>
            <a:endParaRPr lang="nl-NL"/>
          </a:p>
        </p:txBody>
      </p:sp>
      <p:sp>
        <p:nvSpPr>
          <p:cNvPr id="1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17" name="!!rd_d2"/>
          <p:cNvSpPr/>
          <p:nvPr/>
        </p:nvSpPr>
        <p:spPr>
          <a:xfrm>
            <a:off x="4078224" y="6437376"/>
            <a:ext cx="128016" cy="128016"/>
          </a:xfrm>
          <a:prstGeom prst="ellipse">
            <a:avLst/>
          </a:prstGeom>
          <a:solidFill>
            <a:srgbClr val="C9D1DA"/>
          </a:solidFill>
          <a:ln/>
        </p:spPr>
        <p:txBody>
          <a:bodyPr/>
          <a:lstStyle/>
          <a:p>
            <a:endParaRPr lang="nl-NL"/>
          </a:p>
        </p:txBody>
      </p:sp>
      <p:sp>
        <p:nvSpPr>
          <p:cNvPr id="1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19" name="!!rd_d3"/>
          <p:cNvSpPr/>
          <p:nvPr/>
        </p:nvSpPr>
        <p:spPr>
          <a:xfrm>
            <a:off x="5212080" y="6437376"/>
            <a:ext cx="128016" cy="128016"/>
          </a:xfrm>
          <a:prstGeom prst="ellipse">
            <a:avLst/>
          </a:prstGeom>
          <a:solidFill>
            <a:srgbClr val="C9D1DA"/>
          </a:solidFill>
          <a:ln/>
        </p:spPr>
        <p:txBody>
          <a:bodyPr/>
          <a:lstStyle/>
          <a:p>
            <a:endParaRPr lang="nl-NL"/>
          </a:p>
        </p:txBody>
      </p:sp>
      <p:sp>
        <p:nvSpPr>
          <p:cNvPr id="2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1" name="!!rd_d4"/>
          <p:cNvSpPr/>
          <p:nvPr/>
        </p:nvSpPr>
        <p:spPr>
          <a:xfrm>
            <a:off x="6345936" y="6437376"/>
            <a:ext cx="128016" cy="128016"/>
          </a:xfrm>
          <a:prstGeom prst="ellipse">
            <a:avLst/>
          </a:prstGeom>
          <a:solidFill>
            <a:srgbClr val="C9D1DA"/>
          </a:solidFill>
          <a:ln/>
        </p:spPr>
        <p:txBody>
          <a:bodyPr/>
          <a:lstStyle/>
          <a:p>
            <a:endParaRPr lang="nl-NL"/>
          </a:p>
        </p:txBody>
      </p:sp>
      <p:sp>
        <p:nvSpPr>
          <p:cNvPr id="2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3" name="!!rd_d5"/>
          <p:cNvSpPr/>
          <p:nvPr/>
        </p:nvSpPr>
        <p:spPr>
          <a:xfrm>
            <a:off x="7479792" y="6437376"/>
            <a:ext cx="128016" cy="128016"/>
          </a:xfrm>
          <a:prstGeom prst="ellipse">
            <a:avLst/>
          </a:prstGeom>
          <a:solidFill>
            <a:srgbClr val="C9D1DA"/>
          </a:solidFill>
          <a:ln/>
        </p:spPr>
        <p:txBody>
          <a:bodyPr/>
          <a:lstStyle/>
          <a:p>
            <a:endParaRPr lang="nl-NL"/>
          </a:p>
        </p:txBody>
      </p:sp>
      <p:sp>
        <p:nvSpPr>
          <p:cNvPr id="2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5"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15" dur="600" decel="100000" fill="hold"/>
                                        <p:tgtEl>
                                          <p:spTgt spid="8"/>
                                        </p:tgtEl>
                                        <p:attrNameLst>
                                          <p:attrName>ppt_y</p:attrName>
                                        </p:attrNameLst>
                                      </p:cBhvr>
                                      <p:tavLst>
                                        <p:tav tm="0">
                                          <p:val>
                                            <p:strVal val="#ppt_y"/>
                                          </p:val>
                                        </p:tav>
                                        <p:tav tm="100000">
                                          <p:val>
                                            <p:strVal val="#ppt_y"/>
                                          </p:val>
                                        </p:tav>
                                      </p:tavLst>
                                    </p:anim>
                                    <p:animEffect transition="in" filter="fade">
                                      <p:cBhvr>
                                        <p:cTn id="16" dur="420"/>
                                        <p:tgtEl>
                                          <p:spTgt spid="8"/>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450"/>
                                        <p:tgtEl>
                                          <p:spTgt spid="10"/>
                                        </p:tgtEl>
                                      </p:cBhvr>
                                    </p:animEffect>
                                  </p:childTnLst>
                                </p:cTn>
                              </p:par>
                            </p:childTnLst>
                          </p:cTn>
                        </p:par>
                        <p:par>
                          <p:cTn id="27" fill="hold">
                            <p:stCondLst>
                              <p:cond delay="45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75"/>
                                        <p:tgtEl>
                                          <p:spTgt spid="11"/>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6"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7" dur="275"/>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nfo_oorlog" descr="info_oorlog"/>
          <p:cNvPicPr>
            <a:picLocks noChangeAspect="1"/>
          </p:cNvPicPr>
          <p:nvPr/>
        </p:nvPicPr>
        <p:blipFill>
          <a:blip r:embed="rId3"/>
          <a:stretch>
            <a:fillRect/>
          </a:stretch>
        </p:blipFill>
        <p:spPr>
          <a:xfrm>
            <a:off x="-4116384" y="-2847109"/>
            <a:ext cx="19428323" cy="10843715"/>
          </a:xfrm>
          <a:prstGeom prst="rect">
            <a:avLst/>
          </a:prstGeom>
        </p:spPr>
      </p:pic>
      <p:pic>
        <p:nvPicPr>
          <p:cNvPr id="3" name="s7_veil" descr="veil_7"/>
          <p:cNvPicPr>
            <a:picLocks noChangeAspect="1"/>
          </p:cNvPicPr>
          <p:nvPr/>
        </p:nvPicPr>
        <p:blipFill>
          <a:blip r:embed="rId4"/>
          <a:stretch>
            <a:fillRect/>
          </a:stretch>
        </p:blipFill>
        <p:spPr>
          <a:xfrm>
            <a:off x="0" y="0"/>
            <a:ext cx="12191695" cy="6858000"/>
          </a:xfrm>
          <a:prstGeom prst="rect">
            <a:avLst/>
          </a:prstGeom>
        </p:spPr>
      </p:pic>
      <p:sp>
        <p:nvSpPr>
          <p:cNvPr id="4" name="s7_ring"/>
          <p:cNvSpPr/>
          <p:nvPr/>
        </p:nvSpPr>
        <p:spPr>
          <a:xfrm>
            <a:off x="2294360" y="320040"/>
            <a:ext cx="3092241" cy="5806440"/>
          </a:xfrm>
          <a:prstGeom prst="ellipse">
            <a:avLst/>
          </a:prstGeom>
          <a:ln w="63500">
            <a:solidFill>
              <a:srgbClr val="F28C38"/>
            </a:solidFill>
            <a:prstDash val="solid"/>
          </a:ln>
        </p:spPr>
        <p:txBody>
          <a:bodyPr/>
          <a:lstStyle/>
          <a:p>
            <a:endParaRPr lang="nl-NL"/>
          </a:p>
        </p:txBody>
      </p:sp>
      <p:sp>
        <p:nvSpPr>
          <p:cNvPr id="5"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6"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7"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De Tweede Wereldoorlog</a:t>
            </a:r>
            <a:endParaRPr lang="nl-NL" sz="2600" dirty="0"/>
          </a:p>
        </p:txBody>
      </p:sp>
      <p:sp>
        <p:nvSpPr>
          <p:cNvPr id="8" name="s7_oz_chip0"/>
          <p:cNvSpPr txBox="1"/>
          <p:nvPr/>
        </p:nvSpPr>
        <p:spPr>
          <a:xfrm>
            <a:off x="7927848" y="1572768"/>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9" name="s7_oz_txt0"/>
          <p:cNvSpPr txBox="1"/>
          <p:nvPr/>
        </p:nvSpPr>
        <p:spPr>
          <a:xfrm>
            <a:off x="7927848" y="1920240"/>
            <a:ext cx="3639312" cy="1014984"/>
          </a:xfrm>
          <a:prstGeom prst="roundRect">
            <a:avLst>
              <a:gd name="adj" fmla="val 5405"/>
            </a:avLst>
          </a:prstGeom>
          <a:solidFill>
            <a:srgbClr val="EEF1F5"/>
          </a:solidFill>
          <a:ln/>
        </p:spPr>
        <p:txBody>
          <a:bodyPr wrap="square" lIns="63500" tIns="101600" rIns="101600" bIns="63500" rtlCol="0" anchor="ctr"/>
          <a:lstStyle/>
          <a:p>
            <a:pPr marL="0" indent="0" algn="l">
              <a:buNone/>
            </a:pPr>
            <a:r>
              <a:rPr lang="nl-NL" sz="1700" dirty="0">
                <a:solidFill>
                  <a:srgbClr val="1E2A3A"/>
                </a:solidFill>
                <a:latin typeface="Calibri" pitchFamily="34" charset="0"/>
                <a:ea typeface="Calibri" pitchFamily="34" charset="-122"/>
                <a:cs typeface="Calibri" pitchFamily="34" charset="-120"/>
              </a:rPr>
              <a:t>Steeds meer Duitse mannen moeten het leger in. Hun plek in de fabriek blijft leeg.</a:t>
            </a:r>
            <a:endParaRPr lang="nl-NL" sz="1700" dirty="0"/>
          </a:p>
        </p:txBody>
      </p:sp>
      <p:sp>
        <p:nvSpPr>
          <p:cNvPr id="10" name="s7_og_arrow"/>
          <p:cNvSpPr/>
          <p:nvPr/>
        </p:nvSpPr>
        <p:spPr>
          <a:xfrm>
            <a:off x="9518904" y="3044952"/>
            <a:ext cx="457200" cy="438912"/>
          </a:xfrm>
          <a:prstGeom prst="downArrow">
            <a:avLst/>
          </a:prstGeom>
          <a:solidFill>
            <a:srgbClr val="F28C38"/>
          </a:solidFill>
          <a:ln/>
        </p:spPr>
        <p:txBody>
          <a:bodyPr/>
          <a:lstStyle/>
          <a:p>
            <a:endParaRPr lang="nl-NL"/>
          </a:p>
        </p:txBody>
      </p:sp>
      <p:sp>
        <p:nvSpPr>
          <p:cNvPr id="11" name="s7_gv_chip"/>
          <p:cNvSpPr txBox="1"/>
          <p:nvPr/>
        </p:nvSpPr>
        <p:spPr>
          <a:xfrm>
            <a:off x="7927848" y="3575304"/>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GEVOLG</a:t>
            </a:r>
            <a:endParaRPr lang="nl-NL" sz="1100" dirty="0"/>
          </a:p>
        </p:txBody>
      </p:sp>
      <p:sp>
        <p:nvSpPr>
          <p:cNvPr id="12" name="s7_gv_txt"/>
          <p:cNvSpPr txBox="1"/>
          <p:nvPr/>
        </p:nvSpPr>
        <p:spPr>
          <a:xfrm>
            <a:off x="7927848" y="3922776"/>
            <a:ext cx="3639312" cy="1014984"/>
          </a:xfrm>
          <a:prstGeom prst="roundRect">
            <a:avLst>
              <a:gd name="adj" fmla="val 5405"/>
            </a:avLst>
          </a:prstGeom>
          <a:solidFill>
            <a:srgbClr val="FDEEE2"/>
          </a:solidFill>
          <a:ln/>
        </p:spPr>
        <p:txBody>
          <a:bodyPr wrap="square" lIns="63500" tIns="101600" rIns="101600" bIns="63500" rtlCol="0" anchor="ctr"/>
          <a:lstStyle/>
          <a:p>
            <a:pPr marL="0" indent="0" algn="l">
              <a:buNone/>
            </a:pPr>
            <a:r>
              <a:rPr lang="nl-NL" sz="1700" b="1" dirty="0">
                <a:solidFill>
                  <a:srgbClr val="1E2A3A"/>
                </a:solidFill>
                <a:latin typeface="Calibri" pitchFamily="34" charset="0"/>
                <a:ea typeface="Calibri" pitchFamily="34" charset="-122"/>
                <a:cs typeface="Calibri" pitchFamily="34" charset="-120"/>
              </a:rPr>
              <a:t>Honderdduizenden Nederlandse mannen moeten verplicht in Duitsland werken.</a:t>
            </a:r>
            <a:endParaRPr lang="nl-NL" sz="1700" dirty="0"/>
          </a:p>
        </p:txBody>
      </p:sp>
      <p:sp>
        <p:nvSpPr>
          <p:cNvPr id="13" name="s7_begrip"/>
          <p:cNvSpPr txBox="1"/>
          <p:nvPr/>
        </p:nvSpPr>
        <p:spPr>
          <a:xfrm>
            <a:off x="7927848" y="5458968"/>
            <a:ext cx="2389632"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200" b="1" kern="0" spc="100" dirty="0">
                <a:solidFill>
                  <a:srgbClr val="FFFFFF"/>
                </a:solidFill>
                <a:latin typeface="Calibri" pitchFamily="34" charset="0"/>
                <a:ea typeface="Calibri" pitchFamily="34" charset="-122"/>
                <a:cs typeface="Calibri" pitchFamily="34" charset="-120"/>
              </a:rPr>
              <a:t>BEGRIP: ARBEITSEINSATZ</a:t>
            </a:r>
            <a:endParaRPr lang="nl-NL" sz="1200" dirty="0"/>
          </a:p>
        </p:txBody>
      </p:sp>
      <p:sp>
        <p:nvSpPr>
          <p:cNvPr id="14"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5"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6" name="!!rd_d1"/>
          <p:cNvSpPr/>
          <p:nvPr/>
        </p:nvSpPr>
        <p:spPr>
          <a:xfrm>
            <a:off x="2944368" y="6437376"/>
            <a:ext cx="128016" cy="128016"/>
          </a:xfrm>
          <a:prstGeom prst="ellipse">
            <a:avLst/>
          </a:prstGeom>
          <a:solidFill>
            <a:srgbClr val="C9D1DA"/>
          </a:solidFill>
          <a:ln/>
        </p:spPr>
        <p:txBody>
          <a:bodyPr/>
          <a:lstStyle/>
          <a:p>
            <a:endParaRPr lang="nl-NL"/>
          </a:p>
        </p:txBody>
      </p:sp>
      <p:sp>
        <p:nvSpPr>
          <p:cNvPr id="17"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18" name="!!rd_d2"/>
          <p:cNvSpPr/>
          <p:nvPr/>
        </p:nvSpPr>
        <p:spPr>
          <a:xfrm>
            <a:off x="4078224" y="6437376"/>
            <a:ext cx="128016" cy="128016"/>
          </a:xfrm>
          <a:prstGeom prst="ellipse">
            <a:avLst/>
          </a:prstGeom>
          <a:solidFill>
            <a:srgbClr val="C9D1DA"/>
          </a:solidFill>
          <a:ln/>
        </p:spPr>
        <p:txBody>
          <a:bodyPr/>
          <a:lstStyle/>
          <a:p>
            <a:endParaRPr lang="nl-NL"/>
          </a:p>
        </p:txBody>
      </p:sp>
      <p:sp>
        <p:nvSpPr>
          <p:cNvPr id="19"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0" name="!!rd_d3"/>
          <p:cNvSpPr/>
          <p:nvPr/>
        </p:nvSpPr>
        <p:spPr>
          <a:xfrm>
            <a:off x="5212080" y="6437376"/>
            <a:ext cx="128016" cy="128016"/>
          </a:xfrm>
          <a:prstGeom prst="ellipse">
            <a:avLst/>
          </a:prstGeom>
          <a:solidFill>
            <a:srgbClr val="C9D1DA"/>
          </a:solidFill>
          <a:ln/>
        </p:spPr>
        <p:txBody>
          <a:bodyPr/>
          <a:lstStyle/>
          <a:p>
            <a:endParaRPr lang="nl-NL"/>
          </a:p>
        </p:txBody>
      </p:sp>
      <p:sp>
        <p:nvSpPr>
          <p:cNvPr id="21"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2" name="!!rd_d4"/>
          <p:cNvSpPr/>
          <p:nvPr/>
        </p:nvSpPr>
        <p:spPr>
          <a:xfrm>
            <a:off x="6345936" y="6437376"/>
            <a:ext cx="128016" cy="128016"/>
          </a:xfrm>
          <a:prstGeom prst="ellipse">
            <a:avLst/>
          </a:prstGeom>
          <a:solidFill>
            <a:srgbClr val="C9D1DA"/>
          </a:solidFill>
          <a:ln/>
        </p:spPr>
        <p:txBody>
          <a:bodyPr/>
          <a:lstStyle/>
          <a:p>
            <a:endParaRPr lang="nl-NL"/>
          </a:p>
        </p:txBody>
      </p:sp>
      <p:sp>
        <p:nvSpPr>
          <p:cNvPr id="23"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4" name="!!rd_d5"/>
          <p:cNvSpPr/>
          <p:nvPr/>
        </p:nvSpPr>
        <p:spPr>
          <a:xfrm>
            <a:off x="7479792" y="6437376"/>
            <a:ext cx="128016" cy="128016"/>
          </a:xfrm>
          <a:prstGeom prst="ellipse">
            <a:avLst/>
          </a:prstGeom>
          <a:solidFill>
            <a:srgbClr val="C9D1DA"/>
          </a:solidFill>
          <a:ln/>
        </p:spPr>
        <p:txBody>
          <a:bodyPr/>
          <a:lstStyle/>
          <a:p>
            <a:endParaRPr lang="nl-NL"/>
          </a:p>
        </p:txBody>
      </p:sp>
      <p:sp>
        <p:nvSpPr>
          <p:cNvPr id="25"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6"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
        <p:nvSpPr>
          <p:cNvPr id="27" name="s7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28" name="s7_tv_dot"/>
          <p:cNvSpPr/>
          <p:nvPr/>
        </p:nvSpPr>
        <p:spPr>
          <a:xfrm>
            <a:off x="8979408" y="6373368"/>
            <a:ext cx="256032" cy="256032"/>
          </a:xfrm>
          <a:prstGeom prst="ellipse">
            <a:avLst/>
          </a:prstGeom>
          <a:solidFill>
            <a:srgbClr val="2F7BB5"/>
          </a:solidFill>
          <a:ln/>
        </p:spPr>
        <p:txBody>
          <a:bodyPr/>
          <a:lstStyle/>
          <a:p>
            <a:endParaRPr lang="nl-NL"/>
          </a:p>
        </p:txBody>
      </p:sp>
      <p:pic>
        <p:nvPicPr>
          <p:cNvPr id="29" name="s7_tv_play" descr="play_w">
            <a:hlinkClick r:id="rId5" tooltip="Open op Schooltv"/>
          </p:cNvPr>
          <p:cNvPicPr>
            <a:picLocks noChangeAspect="1"/>
          </p:cNvPicPr>
          <p:nvPr/>
        </p:nvPicPr>
        <p:blipFill>
          <a:blip r:embed="rId6"/>
          <a:stretch>
            <a:fillRect/>
          </a:stretch>
        </p:blipFill>
        <p:spPr>
          <a:xfrm>
            <a:off x="9052560" y="6437376"/>
            <a:ext cx="128016" cy="128016"/>
          </a:xfrm>
          <a:prstGeom prst="rect">
            <a:avLst/>
          </a:prstGeom>
        </p:spPr>
      </p:pic>
      <p:sp>
        <p:nvSpPr>
          <p:cNvPr id="30" name="s7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5" tooltip="Open op Schooltv">
                  <a:extLst>
                    <a:ext uri="{A12FA001-AC4F-418D-AE19-62706E023703}">
                      <ahyp:hlinkClr xmlns:ahyp="http://schemas.microsoft.com/office/drawing/2018/hyperlinkcolor" val="tx"/>
                    </a:ext>
                  </a:extLst>
                </a:hlinkClick>
              </a:rPr>
              <a:t>Schooltv: Arbeitseinsatz</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15" dur="600" decel="100000" fill="hold"/>
                                        <p:tgtEl>
                                          <p:spTgt spid="8"/>
                                        </p:tgtEl>
                                        <p:attrNameLst>
                                          <p:attrName>ppt_y</p:attrName>
                                        </p:attrNameLst>
                                      </p:cBhvr>
                                      <p:tavLst>
                                        <p:tav tm="0">
                                          <p:val>
                                            <p:strVal val="#ppt_y"/>
                                          </p:val>
                                        </p:tav>
                                        <p:tav tm="100000">
                                          <p:val>
                                            <p:strVal val="#ppt_y"/>
                                          </p:val>
                                        </p:tav>
                                      </p:tavLst>
                                    </p:anim>
                                    <p:animEffect transition="in" filter="fade">
                                      <p:cBhvr>
                                        <p:cTn id="16" dur="420"/>
                                        <p:tgtEl>
                                          <p:spTgt spid="8"/>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450"/>
                                        <p:tgtEl>
                                          <p:spTgt spid="10"/>
                                        </p:tgtEl>
                                      </p:cBhvr>
                                    </p:animEffect>
                                  </p:childTnLst>
                                </p:cTn>
                              </p:par>
                            </p:childTnLst>
                          </p:cTn>
                        </p:par>
                        <p:par>
                          <p:cTn id="27" fill="hold">
                            <p:stCondLst>
                              <p:cond delay="45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75"/>
                                        <p:tgtEl>
                                          <p:spTgt spid="11"/>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6"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7" dur="275"/>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50"/>
                                        <p:tgtEl>
                                          <p:spTgt spid="13"/>
                                        </p:tgtEl>
                                      </p:cBhvr>
                                    </p:animEffect>
                                    <p:anim calcmode="lin" valueType="num">
                                      <p:cBhvr additive="base">
                                        <p:cTn id="43"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44" dur="650" decel="100000" fill="hold"/>
                                        <p:tgtEl>
                                          <p:spTgt spid="13"/>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nfo_oorlog" descr="info_oorlog"/>
          <p:cNvPicPr>
            <a:picLocks noChangeAspect="1"/>
          </p:cNvPicPr>
          <p:nvPr/>
        </p:nvPicPr>
        <p:blipFill>
          <a:blip r:embed="rId3"/>
          <a:stretch>
            <a:fillRect/>
          </a:stretch>
        </p:blipFill>
        <p:spPr>
          <a:xfrm>
            <a:off x="-16724475" y="-4051868"/>
            <a:ext cx="35199550" cy="19646261"/>
          </a:xfrm>
          <a:prstGeom prst="rect">
            <a:avLst/>
          </a:prstGeom>
        </p:spPr>
      </p:pic>
      <p:pic>
        <p:nvPicPr>
          <p:cNvPr id="3" name="s8_veil" descr="veil_8"/>
          <p:cNvPicPr>
            <a:picLocks noChangeAspect="1"/>
          </p:cNvPicPr>
          <p:nvPr/>
        </p:nvPicPr>
        <p:blipFill>
          <a:blip r:embed="rId4"/>
          <a:stretch>
            <a:fillRect/>
          </a:stretch>
        </p:blipFill>
        <p:spPr>
          <a:xfrm>
            <a:off x="0" y="0"/>
            <a:ext cx="12191695" cy="6858000"/>
          </a:xfrm>
          <a:prstGeom prst="rect">
            <a:avLst/>
          </a:prstGeom>
        </p:spPr>
      </p:pic>
      <p:sp>
        <p:nvSpPr>
          <p:cNvPr id="4" name="s8_ring"/>
          <p:cNvSpPr/>
          <p:nvPr/>
        </p:nvSpPr>
        <p:spPr>
          <a:xfrm>
            <a:off x="1312562" y="320040"/>
            <a:ext cx="5055836" cy="5806440"/>
          </a:xfrm>
          <a:prstGeom prst="ellipse">
            <a:avLst/>
          </a:prstGeom>
          <a:ln w="63500">
            <a:solidFill>
              <a:srgbClr val="F28C38"/>
            </a:solidFill>
            <a:prstDash val="solid"/>
          </a:ln>
        </p:spPr>
        <p:txBody>
          <a:bodyPr/>
          <a:lstStyle/>
          <a:p>
            <a:endParaRPr lang="nl-NL"/>
          </a:p>
        </p:txBody>
      </p:sp>
      <p:sp>
        <p:nvSpPr>
          <p:cNvPr id="5"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6"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7"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Gebrek aan alles</a:t>
            </a:r>
            <a:endParaRPr lang="nl-NL" sz="2600" dirty="0"/>
          </a:p>
        </p:txBody>
      </p:sp>
      <p:sp>
        <p:nvSpPr>
          <p:cNvPr id="8" name="s8_oz_chip0"/>
          <p:cNvSpPr txBox="1"/>
          <p:nvPr/>
        </p:nvSpPr>
        <p:spPr>
          <a:xfrm>
            <a:off x="7927848" y="1572768"/>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9" name="s8_oz_txt0"/>
          <p:cNvSpPr txBox="1"/>
          <p:nvPr/>
        </p:nvSpPr>
        <p:spPr>
          <a:xfrm>
            <a:off x="7927848" y="1920240"/>
            <a:ext cx="3639312" cy="694944"/>
          </a:xfrm>
          <a:prstGeom prst="roundRect">
            <a:avLst>
              <a:gd name="adj" fmla="val 7895"/>
            </a:avLst>
          </a:prstGeom>
          <a:solidFill>
            <a:srgbClr val="EEF1F5"/>
          </a:solidFill>
          <a:ln/>
        </p:spPr>
        <p:txBody>
          <a:bodyPr wrap="square" lIns="63500" tIns="101600" rIns="101600" bIns="63500" rtlCol="0" anchor="ctr"/>
          <a:lstStyle/>
          <a:p>
            <a:pPr marL="0" indent="0" algn="l">
              <a:buNone/>
            </a:pPr>
            <a:r>
              <a:rPr lang="nl-NL" sz="1500" dirty="0">
                <a:solidFill>
                  <a:srgbClr val="1E2A3A"/>
                </a:solidFill>
                <a:latin typeface="Calibri" pitchFamily="34" charset="0"/>
                <a:ea typeface="Calibri" pitchFamily="34" charset="-122"/>
                <a:cs typeface="Calibri" pitchFamily="34" charset="-120"/>
              </a:rPr>
              <a:t>De handel met het buitenland valt stil: geen grondstoffen, geen export.</a:t>
            </a:r>
            <a:endParaRPr lang="nl-NL" sz="1500" dirty="0"/>
          </a:p>
        </p:txBody>
      </p:sp>
      <p:sp>
        <p:nvSpPr>
          <p:cNvPr id="10" name="s8_oz_chip1"/>
          <p:cNvSpPr txBox="1"/>
          <p:nvPr/>
        </p:nvSpPr>
        <p:spPr>
          <a:xfrm>
            <a:off x="7927848" y="2724912"/>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11" name="s8_oz_txt1"/>
          <p:cNvSpPr txBox="1"/>
          <p:nvPr/>
        </p:nvSpPr>
        <p:spPr>
          <a:xfrm>
            <a:off x="7927848" y="3072384"/>
            <a:ext cx="3639312" cy="923544"/>
          </a:xfrm>
          <a:prstGeom prst="roundRect">
            <a:avLst>
              <a:gd name="adj" fmla="val 5941"/>
            </a:avLst>
          </a:prstGeom>
          <a:solidFill>
            <a:srgbClr val="EEF1F5"/>
          </a:solidFill>
          <a:ln/>
        </p:spPr>
        <p:txBody>
          <a:bodyPr wrap="square" lIns="63500" tIns="101600" rIns="101600" bIns="63500" rtlCol="0" anchor="ctr"/>
          <a:lstStyle/>
          <a:p>
            <a:pPr marL="0" indent="0" algn="l">
              <a:buNone/>
            </a:pPr>
            <a:r>
              <a:rPr lang="nl-NL" sz="1500" dirty="0">
                <a:solidFill>
                  <a:srgbClr val="1E2A3A"/>
                </a:solidFill>
                <a:latin typeface="Calibri" pitchFamily="34" charset="0"/>
                <a:ea typeface="Calibri" pitchFamily="34" charset="-122"/>
                <a:cs typeface="Calibri" pitchFamily="34" charset="-120"/>
              </a:rPr>
              <a:t>De Duitsers roven machines, fietsen, vee en brandstof. In Rotterdam vernielen ze 1/3 van de kranen.</a:t>
            </a:r>
            <a:endParaRPr lang="nl-NL" sz="1500" dirty="0"/>
          </a:p>
        </p:txBody>
      </p:sp>
      <p:sp>
        <p:nvSpPr>
          <p:cNvPr id="12" name="s8_og_arrow"/>
          <p:cNvSpPr/>
          <p:nvPr/>
        </p:nvSpPr>
        <p:spPr>
          <a:xfrm>
            <a:off x="9518904" y="4105656"/>
            <a:ext cx="457200" cy="438912"/>
          </a:xfrm>
          <a:prstGeom prst="downArrow">
            <a:avLst/>
          </a:prstGeom>
          <a:solidFill>
            <a:srgbClr val="F28C38"/>
          </a:solidFill>
          <a:ln/>
        </p:spPr>
        <p:txBody>
          <a:bodyPr/>
          <a:lstStyle/>
          <a:p>
            <a:endParaRPr lang="nl-NL"/>
          </a:p>
        </p:txBody>
      </p:sp>
      <p:sp>
        <p:nvSpPr>
          <p:cNvPr id="13" name="s8_gv_chip"/>
          <p:cNvSpPr txBox="1"/>
          <p:nvPr/>
        </p:nvSpPr>
        <p:spPr>
          <a:xfrm>
            <a:off x="7927848" y="4636008"/>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GEVOLG</a:t>
            </a:r>
            <a:endParaRPr lang="nl-NL" sz="1100" dirty="0"/>
          </a:p>
        </p:txBody>
      </p:sp>
      <p:sp>
        <p:nvSpPr>
          <p:cNvPr id="14" name="s8_gv_txt"/>
          <p:cNvSpPr txBox="1"/>
          <p:nvPr/>
        </p:nvSpPr>
        <p:spPr>
          <a:xfrm>
            <a:off x="7927848" y="4983480"/>
            <a:ext cx="3639312" cy="694944"/>
          </a:xfrm>
          <a:prstGeom prst="roundRect">
            <a:avLst>
              <a:gd name="adj" fmla="val 7895"/>
            </a:avLst>
          </a:prstGeom>
          <a:solidFill>
            <a:srgbClr val="FDEEE2"/>
          </a:solidFill>
          <a:ln/>
        </p:spPr>
        <p:txBody>
          <a:bodyPr wrap="square" lIns="63500" tIns="101600" rIns="101600" bIns="63500" rtlCol="0" anchor="ctr"/>
          <a:lstStyle/>
          <a:p>
            <a:pPr marL="0" indent="0" algn="l">
              <a:buNone/>
            </a:pPr>
            <a:r>
              <a:rPr lang="nl-NL" sz="1500" b="1" dirty="0">
                <a:solidFill>
                  <a:srgbClr val="1E2A3A"/>
                </a:solidFill>
                <a:latin typeface="Calibri" pitchFamily="34" charset="0"/>
                <a:ea typeface="Calibri" pitchFamily="34" charset="-122"/>
                <a:cs typeface="Calibri" pitchFamily="34" charset="-120"/>
              </a:rPr>
              <a:t>De economie loopt muurvast. Aan alles is gebrek.</a:t>
            </a:r>
            <a:endParaRPr lang="nl-NL" sz="1500" dirty="0"/>
          </a:p>
        </p:txBody>
      </p:sp>
      <p:sp>
        <p:nvSpPr>
          <p:cNvPr id="1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7" name="!!rd_d1"/>
          <p:cNvSpPr/>
          <p:nvPr/>
        </p:nvSpPr>
        <p:spPr>
          <a:xfrm>
            <a:off x="2944368" y="6437376"/>
            <a:ext cx="128016" cy="128016"/>
          </a:xfrm>
          <a:prstGeom prst="ellipse">
            <a:avLst/>
          </a:prstGeom>
          <a:solidFill>
            <a:srgbClr val="C9D1DA"/>
          </a:solidFill>
          <a:ln/>
        </p:spPr>
        <p:txBody>
          <a:bodyPr/>
          <a:lstStyle/>
          <a:p>
            <a:endParaRPr lang="nl-NL"/>
          </a:p>
        </p:txBody>
      </p:sp>
      <p:sp>
        <p:nvSpPr>
          <p:cNvPr id="1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19" name="!!rd_d2"/>
          <p:cNvSpPr/>
          <p:nvPr/>
        </p:nvSpPr>
        <p:spPr>
          <a:xfrm>
            <a:off x="4078224" y="6437376"/>
            <a:ext cx="128016" cy="128016"/>
          </a:xfrm>
          <a:prstGeom prst="ellipse">
            <a:avLst/>
          </a:prstGeom>
          <a:solidFill>
            <a:srgbClr val="C9D1DA"/>
          </a:solidFill>
          <a:ln/>
        </p:spPr>
        <p:txBody>
          <a:bodyPr/>
          <a:lstStyle/>
          <a:p>
            <a:endParaRPr lang="nl-NL"/>
          </a:p>
        </p:txBody>
      </p:sp>
      <p:sp>
        <p:nvSpPr>
          <p:cNvPr id="2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1" name="!!rd_d3"/>
          <p:cNvSpPr/>
          <p:nvPr/>
        </p:nvSpPr>
        <p:spPr>
          <a:xfrm>
            <a:off x="5212080" y="6437376"/>
            <a:ext cx="128016" cy="128016"/>
          </a:xfrm>
          <a:prstGeom prst="ellipse">
            <a:avLst/>
          </a:prstGeom>
          <a:solidFill>
            <a:srgbClr val="C9D1DA"/>
          </a:solidFill>
          <a:ln/>
        </p:spPr>
        <p:txBody>
          <a:bodyPr/>
          <a:lstStyle/>
          <a:p>
            <a:endParaRPr lang="nl-NL"/>
          </a:p>
        </p:txBody>
      </p:sp>
      <p:sp>
        <p:nvSpPr>
          <p:cNvPr id="2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3" name="!!rd_d4"/>
          <p:cNvSpPr/>
          <p:nvPr/>
        </p:nvSpPr>
        <p:spPr>
          <a:xfrm>
            <a:off x="6345936" y="6437376"/>
            <a:ext cx="128016" cy="128016"/>
          </a:xfrm>
          <a:prstGeom prst="ellipse">
            <a:avLst/>
          </a:prstGeom>
          <a:solidFill>
            <a:srgbClr val="C9D1DA"/>
          </a:solidFill>
          <a:ln/>
        </p:spPr>
        <p:txBody>
          <a:bodyPr/>
          <a:lstStyle/>
          <a:p>
            <a:endParaRPr lang="nl-NL"/>
          </a:p>
        </p:txBody>
      </p:sp>
      <p:sp>
        <p:nvSpPr>
          <p:cNvPr id="2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5" name="!!rd_d5"/>
          <p:cNvSpPr/>
          <p:nvPr/>
        </p:nvSpPr>
        <p:spPr>
          <a:xfrm>
            <a:off x="7479792" y="6437376"/>
            <a:ext cx="128016" cy="128016"/>
          </a:xfrm>
          <a:prstGeom prst="ellipse">
            <a:avLst/>
          </a:prstGeom>
          <a:solidFill>
            <a:srgbClr val="C9D1DA"/>
          </a:solidFill>
          <a:ln/>
        </p:spPr>
        <p:txBody>
          <a:bodyPr/>
          <a:lstStyle/>
          <a:p>
            <a:endParaRPr lang="nl-NL"/>
          </a:p>
        </p:txBody>
      </p:sp>
      <p:sp>
        <p:nvSpPr>
          <p:cNvPr id="2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7"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15" dur="600" decel="100000" fill="hold"/>
                                        <p:tgtEl>
                                          <p:spTgt spid="8"/>
                                        </p:tgtEl>
                                        <p:attrNameLst>
                                          <p:attrName>ppt_y</p:attrName>
                                        </p:attrNameLst>
                                      </p:cBhvr>
                                      <p:tavLst>
                                        <p:tav tm="0">
                                          <p:val>
                                            <p:strVal val="#ppt_y"/>
                                          </p:val>
                                        </p:tav>
                                        <p:tav tm="100000">
                                          <p:val>
                                            <p:strVal val="#ppt_y"/>
                                          </p:val>
                                        </p:tav>
                                      </p:tavLst>
                                    </p:anim>
                                    <p:animEffect transition="in" filter="fade">
                                      <p:cBhvr>
                                        <p:cTn id="16" dur="420"/>
                                        <p:tgtEl>
                                          <p:spTgt spid="8"/>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600" decel="100000" fill="hold"/>
                                        <p:tgtEl>
                                          <p:spTgt spid="10"/>
                                        </p:tgtEl>
                                        <p:attrNameLst>
                                          <p:attrName>ppt_x</p:attrName>
                                        </p:attrNameLst>
                                      </p:cBhvr>
                                      <p:tavLst>
                                        <p:tav tm="0">
                                          <p:val>
                                            <p:strVal val="#ppt_x-0.35"/>
                                          </p:val>
                                        </p:tav>
                                        <p:tav tm="100000">
                                          <p:val>
                                            <p:strVal val="#ppt_x"/>
                                          </p:val>
                                        </p:tav>
                                      </p:tavLst>
                                    </p:anim>
                                    <p:anim calcmode="lin" valueType="num">
                                      <p:cBhvr additive="base">
                                        <p:cTn id="27" dur="600" decel="100000" fill="hold"/>
                                        <p:tgtEl>
                                          <p:spTgt spid="10"/>
                                        </p:tgtEl>
                                        <p:attrNameLst>
                                          <p:attrName>ppt_y</p:attrName>
                                        </p:attrNameLst>
                                      </p:cBhvr>
                                      <p:tavLst>
                                        <p:tav tm="0">
                                          <p:val>
                                            <p:strVal val="#ppt_y"/>
                                          </p:val>
                                        </p:tav>
                                        <p:tav tm="100000">
                                          <p:val>
                                            <p:strVal val="#ppt_y"/>
                                          </p:val>
                                        </p:tav>
                                      </p:tavLst>
                                    </p:anim>
                                    <p:animEffect transition="in" filter="fade">
                                      <p:cBhvr>
                                        <p:cTn id="28" dur="420"/>
                                        <p:tgtEl>
                                          <p:spTgt spid="10"/>
                                        </p:tgtEl>
                                      </p:cBhvr>
                                    </p:animEffect>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600" decel="100000" fill="hold"/>
                                        <p:tgtEl>
                                          <p:spTgt spid="11"/>
                                        </p:tgtEl>
                                        <p:attrNameLst>
                                          <p:attrName>ppt_x</p:attrName>
                                        </p:attrNameLst>
                                      </p:cBhvr>
                                      <p:tavLst>
                                        <p:tav tm="0">
                                          <p:val>
                                            <p:strVal val="#ppt_x-0.35"/>
                                          </p:val>
                                        </p:tav>
                                        <p:tav tm="100000">
                                          <p:val>
                                            <p:strVal val="#ppt_x"/>
                                          </p:val>
                                        </p:tav>
                                      </p:tavLst>
                                    </p:anim>
                                    <p:anim calcmode="lin" valueType="num">
                                      <p:cBhvr additive="base">
                                        <p:cTn id="32" dur="600" decel="100000" fill="hold"/>
                                        <p:tgtEl>
                                          <p:spTgt spid="11"/>
                                        </p:tgtEl>
                                        <p:attrNameLst>
                                          <p:attrName>ppt_y</p:attrName>
                                        </p:attrNameLst>
                                      </p:cBhvr>
                                      <p:tavLst>
                                        <p:tav tm="0">
                                          <p:val>
                                            <p:strVal val="#ppt_y"/>
                                          </p:val>
                                        </p:tav>
                                        <p:tav tm="100000">
                                          <p:val>
                                            <p:strVal val="#ppt_y"/>
                                          </p:val>
                                        </p:tav>
                                      </p:tavLst>
                                    </p:anim>
                                    <p:animEffect transition="in" filter="fade">
                                      <p:cBhvr>
                                        <p:cTn id="33" dur="42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450"/>
                                        <p:tgtEl>
                                          <p:spTgt spid="12"/>
                                        </p:tgtEl>
                                      </p:cBhvr>
                                    </p:animEffect>
                                  </p:childTnLst>
                                </p:cTn>
                              </p:par>
                            </p:childTnLst>
                          </p:cTn>
                        </p:par>
                        <p:par>
                          <p:cTn id="39" fill="hold">
                            <p:stCondLst>
                              <p:cond delay="450"/>
                            </p:stCondLst>
                            <p:childTnLst>
                              <p:par>
                                <p:cTn id="40" presetID="53" presetClass="entr" presetSubtype="16"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3"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4" dur="275"/>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8"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9" dur="275"/>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nfo_oorlog" descr="info_oorlog"/>
          <p:cNvPicPr>
            <a:picLocks noChangeAspect="1"/>
          </p:cNvPicPr>
          <p:nvPr/>
        </p:nvPicPr>
        <p:blipFill>
          <a:blip r:embed="rId3"/>
          <a:stretch>
            <a:fillRect/>
          </a:stretch>
        </p:blipFill>
        <p:spPr>
          <a:xfrm>
            <a:off x="-22531854" y="-3915246"/>
            <a:ext cx="35199550" cy="19646261"/>
          </a:xfrm>
          <a:prstGeom prst="rect">
            <a:avLst/>
          </a:prstGeom>
        </p:spPr>
      </p:pic>
      <p:pic>
        <p:nvPicPr>
          <p:cNvPr id="3" name="s9_veil" descr="veil_9"/>
          <p:cNvPicPr>
            <a:picLocks noChangeAspect="1"/>
          </p:cNvPicPr>
          <p:nvPr/>
        </p:nvPicPr>
        <p:blipFill>
          <a:blip r:embed="rId4"/>
          <a:stretch>
            <a:fillRect/>
          </a:stretch>
        </p:blipFill>
        <p:spPr>
          <a:xfrm>
            <a:off x="0" y="0"/>
            <a:ext cx="12191695" cy="6858000"/>
          </a:xfrm>
          <a:prstGeom prst="rect">
            <a:avLst/>
          </a:prstGeom>
        </p:spPr>
      </p:pic>
      <p:sp>
        <p:nvSpPr>
          <p:cNvPr id="4" name="s9_ring"/>
          <p:cNvSpPr/>
          <p:nvPr/>
        </p:nvSpPr>
        <p:spPr>
          <a:xfrm>
            <a:off x="970951" y="320040"/>
            <a:ext cx="5739057" cy="5806440"/>
          </a:xfrm>
          <a:prstGeom prst="ellipse">
            <a:avLst/>
          </a:prstGeom>
          <a:ln w="63500">
            <a:solidFill>
              <a:srgbClr val="F28C38"/>
            </a:solidFill>
            <a:prstDash val="solid"/>
          </a:ln>
        </p:spPr>
        <p:txBody>
          <a:bodyPr/>
          <a:lstStyle/>
          <a:p>
            <a:endParaRPr lang="nl-NL"/>
          </a:p>
        </p:txBody>
      </p:sp>
      <p:sp>
        <p:nvSpPr>
          <p:cNvPr id="5"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6"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7"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Gebrek aan alles</a:t>
            </a:r>
            <a:endParaRPr lang="nl-NL" sz="2600" dirty="0"/>
          </a:p>
        </p:txBody>
      </p:sp>
      <p:sp>
        <p:nvSpPr>
          <p:cNvPr id="8" name="s9_oz_chip0"/>
          <p:cNvSpPr txBox="1"/>
          <p:nvPr/>
        </p:nvSpPr>
        <p:spPr>
          <a:xfrm>
            <a:off x="7927848" y="1572768"/>
            <a:ext cx="917194"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OORZAAK</a:t>
            </a:r>
            <a:endParaRPr lang="nl-NL" sz="1100" dirty="0"/>
          </a:p>
        </p:txBody>
      </p:sp>
      <p:sp>
        <p:nvSpPr>
          <p:cNvPr id="9" name="s9_oz_txt0"/>
          <p:cNvSpPr txBox="1"/>
          <p:nvPr/>
        </p:nvSpPr>
        <p:spPr>
          <a:xfrm>
            <a:off x="7927848" y="1920240"/>
            <a:ext cx="3639312" cy="755904"/>
          </a:xfrm>
          <a:prstGeom prst="roundRect">
            <a:avLst>
              <a:gd name="adj" fmla="val 7258"/>
            </a:avLst>
          </a:prstGeom>
          <a:solidFill>
            <a:srgbClr val="EEF1F5"/>
          </a:solidFill>
          <a:ln/>
        </p:spPr>
        <p:txBody>
          <a:bodyPr wrap="square" lIns="63500" tIns="101600" rIns="101600" bIns="63500" rtlCol="0" anchor="ctr"/>
          <a:lstStyle/>
          <a:p>
            <a:pPr marL="0" indent="0" algn="l">
              <a:buNone/>
            </a:pPr>
            <a:r>
              <a:rPr lang="nl-NL" sz="1700" dirty="0">
                <a:solidFill>
                  <a:srgbClr val="1E2A3A"/>
                </a:solidFill>
                <a:latin typeface="Calibri" pitchFamily="34" charset="0"/>
                <a:ea typeface="Calibri" pitchFamily="34" charset="-122"/>
                <a:cs typeface="Calibri" pitchFamily="34" charset="-120"/>
              </a:rPr>
              <a:t>Geen brandstof, geen voedsel en geen vervoer.</a:t>
            </a:r>
            <a:endParaRPr lang="nl-NL" sz="1700" dirty="0"/>
          </a:p>
        </p:txBody>
      </p:sp>
      <p:sp>
        <p:nvSpPr>
          <p:cNvPr id="10" name="s9_og_arrow"/>
          <p:cNvSpPr/>
          <p:nvPr/>
        </p:nvSpPr>
        <p:spPr>
          <a:xfrm>
            <a:off x="9518904" y="2785872"/>
            <a:ext cx="457200" cy="438912"/>
          </a:xfrm>
          <a:prstGeom prst="downArrow">
            <a:avLst/>
          </a:prstGeom>
          <a:solidFill>
            <a:srgbClr val="F28C38"/>
          </a:solidFill>
          <a:ln/>
        </p:spPr>
        <p:txBody>
          <a:bodyPr/>
          <a:lstStyle/>
          <a:p>
            <a:endParaRPr lang="nl-NL"/>
          </a:p>
        </p:txBody>
      </p:sp>
      <p:sp>
        <p:nvSpPr>
          <p:cNvPr id="11" name="s9_gv_chip"/>
          <p:cNvSpPr txBox="1"/>
          <p:nvPr/>
        </p:nvSpPr>
        <p:spPr>
          <a:xfrm>
            <a:off x="7927848" y="3316224"/>
            <a:ext cx="830580"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GEVOLG</a:t>
            </a:r>
            <a:endParaRPr lang="nl-NL" sz="1100" dirty="0"/>
          </a:p>
        </p:txBody>
      </p:sp>
      <p:sp>
        <p:nvSpPr>
          <p:cNvPr id="12" name="s9_gv_txt"/>
          <p:cNvSpPr txBox="1"/>
          <p:nvPr/>
        </p:nvSpPr>
        <p:spPr>
          <a:xfrm>
            <a:off x="7927848" y="3663696"/>
            <a:ext cx="3639312" cy="1014984"/>
          </a:xfrm>
          <a:prstGeom prst="roundRect">
            <a:avLst>
              <a:gd name="adj" fmla="val 5405"/>
            </a:avLst>
          </a:prstGeom>
          <a:solidFill>
            <a:srgbClr val="FDEEE2"/>
          </a:solidFill>
          <a:ln/>
        </p:spPr>
        <p:txBody>
          <a:bodyPr wrap="square" lIns="63500" tIns="101600" rIns="101600" bIns="63500" rtlCol="0" anchor="ctr"/>
          <a:lstStyle/>
          <a:p>
            <a:pPr marL="0" indent="0" algn="l">
              <a:buNone/>
            </a:pPr>
            <a:r>
              <a:rPr lang="nl-NL" sz="1700" b="1" dirty="0">
                <a:solidFill>
                  <a:srgbClr val="1E2A3A"/>
                </a:solidFill>
                <a:latin typeface="Calibri" pitchFamily="34" charset="0"/>
                <a:ea typeface="Calibri" pitchFamily="34" charset="-122"/>
                <a:cs typeface="Calibri" pitchFamily="34" charset="-120"/>
              </a:rPr>
              <a:t>De Hongerwinter (1944 – 1945): grote hongersnood in het westen van Nederland.</a:t>
            </a:r>
            <a:endParaRPr lang="nl-NL" sz="1700" dirty="0"/>
          </a:p>
        </p:txBody>
      </p:sp>
      <p:sp>
        <p:nvSpPr>
          <p:cNvPr id="1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5" name="!!rd_d1"/>
          <p:cNvSpPr/>
          <p:nvPr/>
        </p:nvSpPr>
        <p:spPr>
          <a:xfrm>
            <a:off x="2944368" y="6437376"/>
            <a:ext cx="128016" cy="128016"/>
          </a:xfrm>
          <a:prstGeom prst="ellipse">
            <a:avLst/>
          </a:prstGeom>
          <a:solidFill>
            <a:srgbClr val="C9D1DA"/>
          </a:solidFill>
          <a:ln/>
        </p:spPr>
        <p:txBody>
          <a:bodyPr/>
          <a:lstStyle/>
          <a:p>
            <a:endParaRPr lang="nl-NL"/>
          </a:p>
        </p:txBody>
      </p:sp>
      <p:sp>
        <p:nvSpPr>
          <p:cNvPr id="1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17" name="!!rd_d2"/>
          <p:cNvSpPr/>
          <p:nvPr/>
        </p:nvSpPr>
        <p:spPr>
          <a:xfrm>
            <a:off x="4078224" y="6437376"/>
            <a:ext cx="128016" cy="128016"/>
          </a:xfrm>
          <a:prstGeom prst="ellipse">
            <a:avLst/>
          </a:prstGeom>
          <a:solidFill>
            <a:srgbClr val="C9D1DA"/>
          </a:solidFill>
          <a:ln/>
        </p:spPr>
        <p:txBody>
          <a:bodyPr/>
          <a:lstStyle/>
          <a:p>
            <a:endParaRPr lang="nl-NL"/>
          </a:p>
        </p:txBody>
      </p:sp>
      <p:sp>
        <p:nvSpPr>
          <p:cNvPr id="1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19" name="!!rd_d3"/>
          <p:cNvSpPr/>
          <p:nvPr/>
        </p:nvSpPr>
        <p:spPr>
          <a:xfrm>
            <a:off x="5212080" y="6437376"/>
            <a:ext cx="128016" cy="128016"/>
          </a:xfrm>
          <a:prstGeom prst="ellipse">
            <a:avLst/>
          </a:prstGeom>
          <a:solidFill>
            <a:srgbClr val="C9D1DA"/>
          </a:solidFill>
          <a:ln/>
        </p:spPr>
        <p:txBody>
          <a:bodyPr/>
          <a:lstStyle/>
          <a:p>
            <a:endParaRPr lang="nl-NL"/>
          </a:p>
        </p:txBody>
      </p:sp>
      <p:sp>
        <p:nvSpPr>
          <p:cNvPr id="2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1" name="!!rd_d4"/>
          <p:cNvSpPr/>
          <p:nvPr/>
        </p:nvSpPr>
        <p:spPr>
          <a:xfrm>
            <a:off x="6345936" y="6437376"/>
            <a:ext cx="128016" cy="128016"/>
          </a:xfrm>
          <a:prstGeom prst="ellipse">
            <a:avLst/>
          </a:prstGeom>
          <a:solidFill>
            <a:srgbClr val="C9D1DA"/>
          </a:solidFill>
          <a:ln/>
        </p:spPr>
        <p:txBody>
          <a:bodyPr/>
          <a:lstStyle/>
          <a:p>
            <a:endParaRPr lang="nl-NL"/>
          </a:p>
        </p:txBody>
      </p:sp>
      <p:sp>
        <p:nvSpPr>
          <p:cNvPr id="2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3" name="!!rd_d5"/>
          <p:cNvSpPr/>
          <p:nvPr/>
        </p:nvSpPr>
        <p:spPr>
          <a:xfrm>
            <a:off x="7479792" y="6437376"/>
            <a:ext cx="128016" cy="128016"/>
          </a:xfrm>
          <a:prstGeom prst="ellipse">
            <a:avLst/>
          </a:prstGeom>
          <a:solidFill>
            <a:srgbClr val="C9D1DA"/>
          </a:solidFill>
          <a:ln/>
        </p:spPr>
        <p:txBody>
          <a:bodyPr/>
          <a:lstStyle/>
          <a:p>
            <a:endParaRPr lang="nl-NL"/>
          </a:p>
        </p:txBody>
      </p:sp>
      <p:sp>
        <p:nvSpPr>
          <p:cNvPr id="2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5"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
        <p:nvSpPr>
          <p:cNvPr id="26" name="s9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27" name="s9_tv_dot"/>
          <p:cNvSpPr/>
          <p:nvPr/>
        </p:nvSpPr>
        <p:spPr>
          <a:xfrm>
            <a:off x="8979408" y="6373368"/>
            <a:ext cx="256032" cy="256032"/>
          </a:xfrm>
          <a:prstGeom prst="ellipse">
            <a:avLst/>
          </a:prstGeom>
          <a:solidFill>
            <a:srgbClr val="2F7BB5"/>
          </a:solidFill>
          <a:ln/>
        </p:spPr>
        <p:txBody>
          <a:bodyPr/>
          <a:lstStyle/>
          <a:p>
            <a:endParaRPr lang="nl-NL"/>
          </a:p>
        </p:txBody>
      </p:sp>
      <p:pic>
        <p:nvPicPr>
          <p:cNvPr id="28" name="s9_tv_play" descr="play_w">
            <a:hlinkClick r:id="rId5" tooltip="Open op Schooltv"/>
          </p:cNvPr>
          <p:cNvPicPr>
            <a:picLocks noChangeAspect="1"/>
          </p:cNvPicPr>
          <p:nvPr/>
        </p:nvPicPr>
        <p:blipFill>
          <a:blip r:embed="rId6"/>
          <a:stretch>
            <a:fillRect/>
          </a:stretch>
        </p:blipFill>
        <p:spPr>
          <a:xfrm>
            <a:off x="9052560" y="6437376"/>
            <a:ext cx="128016" cy="128016"/>
          </a:xfrm>
          <a:prstGeom prst="rect">
            <a:avLst/>
          </a:prstGeom>
        </p:spPr>
      </p:pic>
      <p:sp>
        <p:nvSpPr>
          <p:cNvPr id="29" name="s9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5" tooltip="Open op Schooltv">
                  <a:extLst>
                    <a:ext uri="{A12FA001-AC4F-418D-AE19-62706E023703}">
                      <ahyp:hlinkClr xmlns:ahyp="http://schemas.microsoft.com/office/drawing/2018/hyperlinkcolor" val="tx"/>
                    </a:ext>
                  </a:extLst>
                </a:hlinkClick>
              </a:rPr>
              <a:t>Schooltv: Hongerwinter</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15" dur="600" decel="100000" fill="hold"/>
                                        <p:tgtEl>
                                          <p:spTgt spid="8"/>
                                        </p:tgtEl>
                                        <p:attrNameLst>
                                          <p:attrName>ppt_y</p:attrName>
                                        </p:attrNameLst>
                                      </p:cBhvr>
                                      <p:tavLst>
                                        <p:tav tm="0">
                                          <p:val>
                                            <p:strVal val="#ppt_y"/>
                                          </p:val>
                                        </p:tav>
                                        <p:tav tm="100000">
                                          <p:val>
                                            <p:strVal val="#ppt_y"/>
                                          </p:val>
                                        </p:tav>
                                      </p:tavLst>
                                    </p:anim>
                                    <p:animEffect transition="in" filter="fade">
                                      <p:cBhvr>
                                        <p:cTn id="16" dur="420"/>
                                        <p:tgtEl>
                                          <p:spTgt spid="8"/>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450"/>
                                        <p:tgtEl>
                                          <p:spTgt spid="10"/>
                                        </p:tgtEl>
                                      </p:cBhvr>
                                    </p:animEffect>
                                  </p:childTnLst>
                                </p:cTn>
                              </p:par>
                            </p:childTnLst>
                          </p:cTn>
                        </p:par>
                        <p:par>
                          <p:cTn id="27" fill="hold">
                            <p:stCondLst>
                              <p:cond delay="45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75"/>
                                        <p:tgtEl>
                                          <p:spTgt spid="11"/>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6"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7" dur="275"/>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5B6B82"/>
                </a:solidFill>
                <a:latin typeface="Calibri" pitchFamily="34" charset="0"/>
                <a:ea typeface="Calibri" pitchFamily="34" charset="-122"/>
                <a:cs typeface="Calibri" pitchFamily="34" charset="-120"/>
              </a:rPr>
              <a:t>1 · OORLOG 1940 – 1945</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Gebrek aan alles</a:t>
            </a:r>
            <a:endParaRPr lang="nl-NL" sz="3400" dirty="0"/>
          </a:p>
        </p:txBody>
      </p:sp>
      <p:sp>
        <p:nvSpPr>
          <p:cNvPr id="4" name="s10_bronchip"/>
          <p:cNvSpPr txBox="1"/>
          <p:nvPr/>
        </p:nvSpPr>
        <p:spPr>
          <a:xfrm>
            <a:off x="4754880" y="566928"/>
            <a:ext cx="2862072" cy="274320"/>
          </a:xfrm>
          <a:prstGeom prst="roundRect">
            <a:avLst>
              <a:gd name="adj" fmla="val 50000"/>
            </a:avLst>
          </a:prstGeom>
          <a:solidFill>
            <a:srgbClr val="5B6B82"/>
          </a:solidFill>
          <a:ln/>
        </p:spPr>
        <p:txBody>
          <a:bodyPr wrap="square" lIns="0" tIns="0" rIns="0" bIns="0" rtlCol="0" anchor="ctr"/>
          <a:lstStyle/>
          <a:p>
            <a:pPr marL="0" indent="0" algn="ctr">
              <a:buNone/>
            </a:pPr>
            <a:r>
              <a:rPr lang="nl-NL" sz="1200" b="1" kern="0" spc="100" dirty="0">
                <a:solidFill>
                  <a:srgbClr val="FFFFFF"/>
                </a:solidFill>
                <a:latin typeface="Calibri" pitchFamily="34" charset="0"/>
                <a:ea typeface="Calibri" pitchFamily="34" charset="-122"/>
                <a:cs typeface="Calibri" pitchFamily="34" charset="-120"/>
              </a:rPr>
              <a:t>BRON 44 · DISTRIBUTIEBONNEN</a:t>
            </a:r>
            <a:endParaRPr lang="nl-NL" sz="1200" dirty="0"/>
          </a:p>
        </p:txBody>
      </p:sp>
      <p:sp>
        <p:nvSpPr>
          <p:cNvPr id="5" name="!!card"/>
          <p:cNvSpPr/>
          <p:nvPr/>
        </p:nvSpPr>
        <p:spPr>
          <a:xfrm>
            <a:off x="502920" y="1280160"/>
            <a:ext cx="6035040" cy="4297680"/>
          </a:xfrm>
          <a:prstGeom prst="roundRect">
            <a:avLst>
              <a:gd name="adj" fmla="val 1277"/>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6" name="s10_foto" descr="koffiebon_1952"/>
          <p:cNvPicPr>
            <a:picLocks noChangeAspect="1"/>
          </p:cNvPicPr>
          <p:nvPr/>
        </p:nvPicPr>
        <p:blipFill>
          <a:blip r:embed="rId3"/>
          <a:stretch>
            <a:fillRect/>
          </a:stretch>
        </p:blipFill>
        <p:spPr>
          <a:xfrm>
            <a:off x="548640" y="1325880"/>
            <a:ext cx="5943600" cy="4206240"/>
          </a:xfrm>
          <a:prstGeom prst="rect">
            <a:avLst/>
          </a:prstGeom>
        </p:spPr>
      </p:pic>
      <p:sp>
        <p:nvSpPr>
          <p:cNvPr id="7" name="s10_o1"/>
          <p:cNvSpPr txBox="1"/>
          <p:nvPr/>
        </p:nvSpPr>
        <p:spPr>
          <a:xfrm>
            <a:off x="548640" y="5623560"/>
            <a:ext cx="3657600" cy="27432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Een winkel in 1952</a:t>
            </a:r>
            <a:endParaRPr lang="nl-NL" sz="1200" dirty="0"/>
          </a:p>
        </p:txBody>
      </p:sp>
      <p:sp>
        <p:nvSpPr>
          <p:cNvPr id="8" name="s10_box"/>
          <p:cNvSpPr/>
          <p:nvPr/>
        </p:nvSpPr>
        <p:spPr>
          <a:xfrm>
            <a:off x="1024128" y="1353312"/>
            <a:ext cx="1901952" cy="1850746"/>
          </a:xfrm>
          <a:prstGeom prst="roundRect">
            <a:avLst>
              <a:gd name="adj" fmla="val 1976"/>
            </a:avLst>
          </a:prstGeom>
          <a:ln w="44450">
            <a:solidFill>
              <a:srgbClr val="F28C38"/>
            </a:solidFill>
            <a:prstDash val="solid"/>
          </a:ln>
        </p:spPr>
        <p:txBody>
          <a:bodyPr/>
          <a:lstStyle/>
          <a:p>
            <a:endParaRPr lang="nl-NL"/>
          </a:p>
        </p:txBody>
      </p:sp>
      <p:pic>
        <p:nvPicPr>
          <p:cNvPr id="9" name="s10_loupe" descr="loupe_koffie"/>
          <p:cNvPicPr>
            <a:picLocks noChangeAspect="1"/>
          </p:cNvPicPr>
          <p:nvPr/>
        </p:nvPicPr>
        <p:blipFill>
          <a:blip r:embed="rId4"/>
          <a:stretch>
            <a:fillRect/>
          </a:stretch>
        </p:blipFill>
        <p:spPr>
          <a:xfrm>
            <a:off x="3977640" y="3063240"/>
            <a:ext cx="2331720" cy="2331720"/>
          </a:xfrm>
          <a:prstGeom prst="ellipse">
            <a:avLst/>
          </a:prstGeom>
        </p:spPr>
      </p:pic>
      <p:sp>
        <p:nvSpPr>
          <p:cNvPr id="10" name="s10_loupe_ring"/>
          <p:cNvSpPr/>
          <p:nvPr/>
        </p:nvSpPr>
        <p:spPr>
          <a:xfrm>
            <a:off x="3977640" y="3063240"/>
            <a:ext cx="2331720" cy="2331720"/>
          </a:xfrm>
          <a:prstGeom prst="ellipse">
            <a:avLst/>
          </a:prstGeom>
          <a:ln w="63500">
            <a:solidFill>
              <a:srgbClr val="F28C38"/>
            </a:solidFill>
            <a:prstDash val="solid"/>
          </a:ln>
        </p:spPr>
        <p:txBody>
          <a:bodyPr/>
          <a:lstStyle/>
          <a:p>
            <a:endParaRPr lang="nl-NL"/>
          </a:p>
        </p:txBody>
      </p:sp>
      <p:sp>
        <p:nvSpPr>
          <p:cNvPr id="11" name="s10_q_bg"/>
          <p:cNvSpPr/>
          <p:nvPr/>
        </p:nvSpPr>
        <p:spPr>
          <a:xfrm>
            <a:off x="6949440" y="1325880"/>
            <a:ext cx="4754880" cy="862584"/>
          </a:xfrm>
          <a:prstGeom prst="roundRect">
            <a:avLst>
              <a:gd name="adj" fmla="val 10601"/>
            </a:avLst>
          </a:prstGeom>
          <a:solidFill>
            <a:srgbClr val="EDF0F4"/>
          </a:solidFill>
          <a:ln/>
        </p:spPr>
        <p:txBody>
          <a:bodyPr/>
          <a:lstStyle/>
          <a:p>
            <a:endParaRPr lang="nl-NL"/>
          </a:p>
        </p:txBody>
      </p:sp>
      <p:sp>
        <p:nvSpPr>
          <p:cNvPr id="12" name="s10_q_circ"/>
          <p:cNvSpPr/>
          <p:nvPr/>
        </p:nvSpPr>
        <p:spPr>
          <a:xfrm>
            <a:off x="7150608" y="1527048"/>
            <a:ext cx="457200" cy="457200"/>
          </a:xfrm>
          <a:prstGeom prst="ellipse">
            <a:avLst/>
          </a:prstGeom>
          <a:solidFill>
            <a:srgbClr val="5B6B82"/>
          </a:solidFill>
          <a:ln/>
        </p:spPr>
        <p:txBody>
          <a:bodyPr/>
          <a:lstStyle/>
          <a:p>
            <a:endParaRPr lang="nl-NL"/>
          </a:p>
        </p:txBody>
      </p:sp>
      <p:pic>
        <p:nvPicPr>
          <p:cNvPr id="13" name="s10_q_ico" descr="question_w"/>
          <p:cNvPicPr>
            <a:picLocks noChangeAspect="1"/>
          </p:cNvPicPr>
          <p:nvPr/>
        </p:nvPicPr>
        <p:blipFill>
          <a:blip r:embed="rId5"/>
          <a:stretch>
            <a:fillRect/>
          </a:stretch>
        </p:blipFill>
        <p:spPr>
          <a:xfrm>
            <a:off x="7260336" y="1636776"/>
            <a:ext cx="237744" cy="237744"/>
          </a:xfrm>
          <a:prstGeom prst="rect">
            <a:avLst/>
          </a:prstGeom>
        </p:spPr>
      </p:pic>
      <p:sp>
        <p:nvSpPr>
          <p:cNvPr id="14" name="s10_q_lbl"/>
          <p:cNvSpPr txBox="1"/>
          <p:nvPr/>
        </p:nvSpPr>
        <p:spPr>
          <a:xfrm>
            <a:off x="7754112" y="1508760"/>
            <a:ext cx="3749040" cy="237744"/>
          </a:xfrm>
          <a:prstGeom prst="rect">
            <a:avLst/>
          </a:prstGeom>
          <a:noFill/>
          <a:ln/>
        </p:spPr>
        <p:txBody>
          <a:bodyPr wrap="square" lIns="0" tIns="0" rIns="0" bIns="0" rtlCol="0" anchor="t"/>
          <a:lstStyle/>
          <a:p>
            <a:pPr marL="0" indent="0" algn="l">
              <a:buNone/>
            </a:pPr>
            <a:r>
              <a:rPr lang="nl-NL" sz="1100" b="1" kern="0" spc="150" dirty="0">
                <a:solidFill>
                  <a:srgbClr val="5B6B82"/>
                </a:solidFill>
                <a:latin typeface="Calibri" pitchFamily="34" charset="0"/>
                <a:ea typeface="Calibri" pitchFamily="34" charset="-122"/>
                <a:cs typeface="Calibri" pitchFamily="34" charset="-120"/>
              </a:rPr>
              <a:t>VRAAG AAN DE KLAS</a:t>
            </a:r>
            <a:endParaRPr lang="nl-NL" sz="1100" dirty="0"/>
          </a:p>
        </p:txBody>
      </p:sp>
      <p:sp>
        <p:nvSpPr>
          <p:cNvPr id="15" name="s10_q_txt"/>
          <p:cNvSpPr txBox="1"/>
          <p:nvPr/>
        </p:nvSpPr>
        <p:spPr>
          <a:xfrm>
            <a:off x="7754112" y="1764792"/>
            <a:ext cx="3749040" cy="359664"/>
          </a:xfrm>
          <a:prstGeom prst="rect">
            <a:avLst/>
          </a:prstGeom>
          <a:noFill/>
          <a:ln/>
        </p:spPr>
        <p:txBody>
          <a:bodyPr wrap="square" lIns="0" tIns="0" rIns="0" bIns="0" rtlCol="0" anchor="t"/>
          <a:lstStyle/>
          <a:p>
            <a:pPr marL="0" indent="0" algn="l">
              <a:buNone/>
            </a:pPr>
            <a:r>
              <a:rPr lang="nl-NL" sz="2000" b="1" dirty="0">
                <a:solidFill>
                  <a:srgbClr val="1E2A3A"/>
                </a:solidFill>
                <a:latin typeface="Calibri" pitchFamily="34" charset="0"/>
                <a:ea typeface="Calibri" pitchFamily="34" charset="-122"/>
                <a:cs typeface="Calibri" pitchFamily="34" charset="-120"/>
              </a:rPr>
              <a:t>Wat viert deze winkel in 1952?</a:t>
            </a:r>
            <a:endParaRPr lang="nl-NL" sz="2000" dirty="0"/>
          </a:p>
        </p:txBody>
      </p:sp>
      <p:sp>
        <p:nvSpPr>
          <p:cNvPr id="16" name="s10_a_bg"/>
          <p:cNvSpPr/>
          <p:nvPr/>
        </p:nvSpPr>
        <p:spPr>
          <a:xfrm>
            <a:off x="6949440" y="2353056"/>
            <a:ext cx="4754880" cy="1152144"/>
          </a:xfrm>
          <a:prstGeom prst="roundRect">
            <a:avLst>
              <a:gd name="adj" fmla="val 7937"/>
            </a:avLst>
          </a:prstGeom>
          <a:solidFill>
            <a:srgbClr val="FFFFFF"/>
          </a:solidFill>
          <a:ln w="25400">
            <a:solidFill>
              <a:srgbClr val="F28C38"/>
            </a:solidFill>
            <a:prstDash val="solid"/>
          </a:ln>
          <a:effectLst>
            <a:outerShdw blurRad="127000" dist="38100" dir="5400000" algn="bl" rotWithShape="0">
              <a:srgbClr val="000000">
                <a:alpha val="12000"/>
              </a:srgbClr>
            </a:outerShdw>
          </a:effectLst>
        </p:spPr>
        <p:txBody>
          <a:bodyPr/>
          <a:lstStyle/>
          <a:p>
            <a:endParaRPr lang="nl-NL"/>
          </a:p>
        </p:txBody>
      </p:sp>
      <p:pic>
        <p:nvPicPr>
          <p:cNvPr id="17" name="s10_a_ico" descr="bulb_acc"/>
          <p:cNvPicPr>
            <a:picLocks noChangeAspect="1"/>
          </p:cNvPicPr>
          <p:nvPr/>
        </p:nvPicPr>
        <p:blipFill>
          <a:blip r:embed="rId6"/>
          <a:stretch>
            <a:fillRect/>
          </a:stretch>
        </p:blipFill>
        <p:spPr>
          <a:xfrm>
            <a:off x="7178040" y="2746248"/>
            <a:ext cx="365760" cy="365760"/>
          </a:xfrm>
          <a:prstGeom prst="rect">
            <a:avLst/>
          </a:prstGeom>
        </p:spPr>
      </p:pic>
      <p:sp>
        <p:nvSpPr>
          <p:cNvPr id="18" name="s10_a_txt"/>
          <p:cNvSpPr txBox="1"/>
          <p:nvPr/>
        </p:nvSpPr>
        <p:spPr>
          <a:xfrm>
            <a:off x="7754112" y="2490216"/>
            <a:ext cx="3749040" cy="877824"/>
          </a:xfrm>
          <a:prstGeom prst="rect">
            <a:avLst/>
          </a:prstGeom>
          <a:noFill/>
          <a:ln/>
        </p:spPr>
        <p:txBody>
          <a:bodyPr wrap="square" lIns="0" tIns="0" rIns="0" bIns="0" rtlCol="0" anchor="ctr"/>
          <a:lstStyle/>
          <a:p>
            <a:pPr marL="0" indent="0" algn="l">
              <a:buNone/>
            </a:pPr>
            <a:r>
              <a:rPr lang="nl-NL" sz="1800" dirty="0">
                <a:solidFill>
                  <a:srgbClr val="1E2A3A"/>
                </a:solidFill>
                <a:latin typeface="Calibri" pitchFamily="34" charset="0"/>
                <a:ea typeface="Calibri" pitchFamily="34" charset="-122"/>
                <a:cs typeface="Calibri" pitchFamily="34" charset="-120"/>
              </a:rPr>
              <a:t>Koffie is weer vrij te koop! In 1952 verdwijnen de laatste distributiebonnen.</a:t>
            </a:r>
            <a:endParaRPr lang="nl-NL" sz="1800" dirty="0"/>
          </a:p>
        </p:txBody>
      </p:sp>
      <p:sp>
        <p:nvSpPr>
          <p:cNvPr id="19" name="s10_begrip_bg"/>
          <p:cNvSpPr/>
          <p:nvPr/>
        </p:nvSpPr>
        <p:spPr>
          <a:xfrm>
            <a:off x="6949440" y="3779520"/>
            <a:ext cx="4754880" cy="1417320"/>
          </a:xfrm>
          <a:prstGeom prst="roundRect">
            <a:avLst>
              <a:gd name="adj" fmla="val 6452"/>
            </a:avLst>
          </a:prstGeom>
          <a:solidFill>
            <a:srgbClr val="FDEEE2"/>
          </a:solidFill>
          <a:ln/>
        </p:spPr>
        <p:txBody>
          <a:bodyPr/>
          <a:lstStyle/>
          <a:p>
            <a:endParaRPr lang="nl-NL"/>
          </a:p>
        </p:txBody>
      </p:sp>
      <p:pic>
        <p:nvPicPr>
          <p:cNvPr id="20" name="s10_begrip_img" descr="bonkaart"/>
          <p:cNvPicPr>
            <a:picLocks noChangeAspect="1"/>
          </p:cNvPicPr>
          <p:nvPr/>
        </p:nvPicPr>
        <p:blipFill>
          <a:blip r:embed="rId7"/>
          <a:stretch>
            <a:fillRect/>
          </a:stretch>
        </p:blipFill>
        <p:spPr>
          <a:xfrm>
            <a:off x="7132320" y="4008120"/>
            <a:ext cx="1280160" cy="960120"/>
          </a:xfrm>
          <a:prstGeom prst="rect">
            <a:avLst/>
          </a:prstGeom>
        </p:spPr>
      </p:pic>
      <p:sp>
        <p:nvSpPr>
          <p:cNvPr id="21" name="s10_begrip_lbl"/>
          <p:cNvSpPr txBox="1"/>
          <p:nvPr/>
        </p:nvSpPr>
        <p:spPr>
          <a:xfrm>
            <a:off x="8595360" y="3944112"/>
            <a:ext cx="3017520" cy="256032"/>
          </a:xfrm>
          <a:prstGeom prst="rect">
            <a:avLst/>
          </a:prstGeom>
          <a:noFill/>
          <a:ln/>
        </p:spPr>
        <p:txBody>
          <a:bodyPr wrap="square" lIns="0" tIns="0" rIns="0" bIns="0" rtlCol="0" anchor="t"/>
          <a:lstStyle/>
          <a:p>
            <a:pPr marL="0" indent="0" algn="l">
              <a:buNone/>
            </a:pPr>
            <a:r>
              <a:rPr lang="nl-NL" sz="1100" b="1" kern="0" spc="150" dirty="0">
                <a:solidFill>
                  <a:srgbClr val="F28C38"/>
                </a:solidFill>
                <a:latin typeface="Calibri" pitchFamily="34" charset="0"/>
                <a:ea typeface="Calibri" pitchFamily="34" charset="-122"/>
                <a:cs typeface="Calibri" pitchFamily="34" charset="-120"/>
              </a:rPr>
              <a:t>BEGRIP: DISTRIBUTIE</a:t>
            </a:r>
            <a:endParaRPr lang="nl-NL" sz="1100" dirty="0"/>
          </a:p>
        </p:txBody>
      </p:sp>
      <p:sp>
        <p:nvSpPr>
          <p:cNvPr id="22" name="s10_begrip_txt"/>
          <p:cNvSpPr txBox="1"/>
          <p:nvPr/>
        </p:nvSpPr>
        <p:spPr>
          <a:xfrm>
            <a:off x="8595360" y="4218432"/>
            <a:ext cx="2971800" cy="868680"/>
          </a:xfrm>
          <a:prstGeom prst="rect">
            <a:avLst/>
          </a:prstGeom>
          <a:noFill/>
          <a:ln/>
        </p:spPr>
        <p:txBody>
          <a:bodyPr wrap="square" lIns="0" tIns="0" rIns="0" bIns="0" rtlCol="0" anchor="t"/>
          <a:lstStyle/>
          <a:p>
            <a:pPr marL="0" indent="0" algn="l">
              <a:buNone/>
            </a:pPr>
            <a:r>
              <a:rPr lang="nl-NL" sz="1600" dirty="0">
                <a:solidFill>
                  <a:srgbClr val="1E2A3A"/>
                </a:solidFill>
                <a:latin typeface="Calibri" pitchFamily="34" charset="0"/>
                <a:ea typeface="Calibri" pitchFamily="34" charset="-122"/>
                <a:cs typeface="Calibri" pitchFamily="34" charset="-120"/>
              </a:rPr>
              <a:t>Je mag iets alleen kopen met een bon. Zo krijgt iedereen evenveel.</a:t>
            </a:r>
            <a:endParaRPr lang="nl-NL" sz="1600" dirty="0"/>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C9D1D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b="1" dirty="0">
                <a:solidFill>
                  <a:srgbClr val="5B6B82"/>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2898648" y="6391656"/>
            <a:ext cx="219456" cy="219456"/>
          </a:xfrm>
          <a:prstGeom prst="ellipse">
            <a:avLst/>
          </a:prstGeom>
          <a:solidFill>
            <a:srgbClr val="5B6B82"/>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8"/>
                                        </p:tgtEl>
                                      </p:cBhvr>
                                    </p:animEffect>
                                  </p:childTnLst>
                                </p:cTn>
                              </p:par>
                            </p:childTnLst>
                          </p:cTn>
                        </p:par>
                        <p:par>
                          <p:cTn id="10" fill="hold">
                            <p:stCondLst>
                              <p:cond delay="550"/>
                            </p:stCondLst>
                            <p:childTnLst>
                              <p:par>
                                <p:cTn id="11" presetID="53" presetClass="entr" presetSubtype="16"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4"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5" dur="275"/>
                                        <p:tgtEl>
                                          <p:spTgt spid="9"/>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9"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0" dur="275"/>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600" decel="100000" fill="hold"/>
                                        <p:tgtEl>
                                          <p:spTgt spid="11"/>
                                        </p:tgtEl>
                                        <p:attrNameLst>
                                          <p:attrName>ppt_x</p:attrName>
                                        </p:attrNameLst>
                                      </p:cBhvr>
                                      <p:tavLst>
                                        <p:tav tm="0">
                                          <p:val>
                                            <p:strVal val="#ppt_x+0.35"/>
                                          </p:val>
                                        </p:tav>
                                        <p:tav tm="100000">
                                          <p:val>
                                            <p:strVal val="#ppt_x"/>
                                          </p:val>
                                        </p:tav>
                                      </p:tavLst>
                                    </p:anim>
                                    <p:anim calcmode="lin" valueType="num">
                                      <p:cBhvr additive="base">
                                        <p:cTn id="26" dur="600" decel="100000" fill="hold"/>
                                        <p:tgtEl>
                                          <p:spTgt spid="11"/>
                                        </p:tgtEl>
                                        <p:attrNameLst>
                                          <p:attrName>ppt_y</p:attrName>
                                        </p:attrNameLst>
                                      </p:cBhvr>
                                      <p:tavLst>
                                        <p:tav tm="0">
                                          <p:val>
                                            <p:strVal val="#ppt_y"/>
                                          </p:val>
                                        </p:tav>
                                        <p:tav tm="100000">
                                          <p:val>
                                            <p:strVal val="#ppt_y"/>
                                          </p:val>
                                        </p:tav>
                                      </p:tavLst>
                                    </p:anim>
                                    <p:animEffect transition="in" filter="fade">
                                      <p:cBhvr>
                                        <p:cTn id="27" dur="420"/>
                                        <p:tgtEl>
                                          <p:spTgt spid="11"/>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600" decel="100000" fill="hold"/>
                                        <p:tgtEl>
                                          <p:spTgt spid="12"/>
                                        </p:tgtEl>
                                        <p:attrNameLst>
                                          <p:attrName>ppt_x</p:attrName>
                                        </p:attrNameLst>
                                      </p:cBhvr>
                                      <p:tavLst>
                                        <p:tav tm="0">
                                          <p:val>
                                            <p:strVal val="#ppt_x+0.35"/>
                                          </p:val>
                                        </p:tav>
                                        <p:tav tm="100000">
                                          <p:val>
                                            <p:strVal val="#ppt_x"/>
                                          </p:val>
                                        </p:tav>
                                      </p:tavLst>
                                    </p:anim>
                                    <p:anim calcmode="lin" valueType="num">
                                      <p:cBhvr additive="base">
                                        <p:cTn id="31" dur="600" decel="100000" fill="hold"/>
                                        <p:tgtEl>
                                          <p:spTgt spid="12"/>
                                        </p:tgtEl>
                                        <p:attrNameLst>
                                          <p:attrName>ppt_y</p:attrName>
                                        </p:attrNameLst>
                                      </p:cBhvr>
                                      <p:tavLst>
                                        <p:tav tm="0">
                                          <p:val>
                                            <p:strVal val="#ppt_y"/>
                                          </p:val>
                                        </p:tav>
                                        <p:tav tm="100000">
                                          <p:val>
                                            <p:strVal val="#ppt_y"/>
                                          </p:val>
                                        </p:tav>
                                      </p:tavLst>
                                    </p:anim>
                                    <p:animEffect transition="in" filter="fade">
                                      <p:cBhvr>
                                        <p:cTn id="32" dur="420"/>
                                        <p:tgtEl>
                                          <p:spTgt spid="12"/>
                                        </p:tgtEl>
                                      </p:cBhvr>
                                    </p:animEffect>
                                  </p:childTnLst>
                                </p:cTn>
                              </p:par>
                              <p:par>
                                <p:cTn id="33" presetID="2" presetClass="entr" presetSubtype="2"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600" decel="100000" fill="hold"/>
                                        <p:tgtEl>
                                          <p:spTgt spid="13"/>
                                        </p:tgtEl>
                                        <p:attrNameLst>
                                          <p:attrName>ppt_x</p:attrName>
                                        </p:attrNameLst>
                                      </p:cBhvr>
                                      <p:tavLst>
                                        <p:tav tm="0">
                                          <p:val>
                                            <p:strVal val="#ppt_x+0.35"/>
                                          </p:val>
                                        </p:tav>
                                        <p:tav tm="100000">
                                          <p:val>
                                            <p:strVal val="#ppt_x"/>
                                          </p:val>
                                        </p:tav>
                                      </p:tavLst>
                                    </p:anim>
                                    <p:anim calcmode="lin" valueType="num">
                                      <p:cBhvr additive="base">
                                        <p:cTn id="36" dur="600" decel="100000" fill="hold"/>
                                        <p:tgtEl>
                                          <p:spTgt spid="13"/>
                                        </p:tgtEl>
                                        <p:attrNameLst>
                                          <p:attrName>ppt_y</p:attrName>
                                        </p:attrNameLst>
                                      </p:cBhvr>
                                      <p:tavLst>
                                        <p:tav tm="0">
                                          <p:val>
                                            <p:strVal val="#ppt_y"/>
                                          </p:val>
                                        </p:tav>
                                        <p:tav tm="100000">
                                          <p:val>
                                            <p:strVal val="#ppt_y"/>
                                          </p:val>
                                        </p:tav>
                                      </p:tavLst>
                                    </p:anim>
                                    <p:animEffect transition="in" filter="fade">
                                      <p:cBhvr>
                                        <p:cTn id="37" dur="420"/>
                                        <p:tgtEl>
                                          <p:spTgt spid="13"/>
                                        </p:tgtEl>
                                      </p:cBhvr>
                                    </p:animEffect>
                                  </p:childTnLst>
                                </p:cTn>
                              </p:par>
                              <p:par>
                                <p:cTn id="38" presetID="2" presetClass="entr" presetSubtype="2"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600" decel="100000" fill="hold"/>
                                        <p:tgtEl>
                                          <p:spTgt spid="14"/>
                                        </p:tgtEl>
                                        <p:attrNameLst>
                                          <p:attrName>ppt_x</p:attrName>
                                        </p:attrNameLst>
                                      </p:cBhvr>
                                      <p:tavLst>
                                        <p:tav tm="0">
                                          <p:val>
                                            <p:strVal val="#ppt_x+0.35"/>
                                          </p:val>
                                        </p:tav>
                                        <p:tav tm="100000">
                                          <p:val>
                                            <p:strVal val="#ppt_x"/>
                                          </p:val>
                                        </p:tav>
                                      </p:tavLst>
                                    </p:anim>
                                    <p:anim calcmode="lin" valueType="num">
                                      <p:cBhvr additive="base">
                                        <p:cTn id="41" dur="600" decel="100000" fill="hold"/>
                                        <p:tgtEl>
                                          <p:spTgt spid="14"/>
                                        </p:tgtEl>
                                        <p:attrNameLst>
                                          <p:attrName>ppt_y</p:attrName>
                                        </p:attrNameLst>
                                      </p:cBhvr>
                                      <p:tavLst>
                                        <p:tav tm="0">
                                          <p:val>
                                            <p:strVal val="#ppt_y"/>
                                          </p:val>
                                        </p:tav>
                                        <p:tav tm="100000">
                                          <p:val>
                                            <p:strVal val="#ppt_y"/>
                                          </p:val>
                                        </p:tav>
                                      </p:tavLst>
                                    </p:anim>
                                    <p:animEffect transition="in" filter="fade">
                                      <p:cBhvr>
                                        <p:cTn id="42" dur="420"/>
                                        <p:tgtEl>
                                          <p:spTgt spid="14"/>
                                        </p:tgtEl>
                                      </p:cBhvr>
                                    </p:animEffect>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600" decel="100000" fill="hold"/>
                                        <p:tgtEl>
                                          <p:spTgt spid="15"/>
                                        </p:tgtEl>
                                        <p:attrNameLst>
                                          <p:attrName>ppt_x</p:attrName>
                                        </p:attrNameLst>
                                      </p:cBhvr>
                                      <p:tavLst>
                                        <p:tav tm="0">
                                          <p:val>
                                            <p:strVal val="#ppt_x+0.35"/>
                                          </p:val>
                                        </p:tav>
                                        <p:tav tm="100000">
                                          <p:val>
                                            <p:strVal val="#ppt_x"/>
                                          </p:val>
                                        </p:tav>
                                      </p:tavLst>
                                    </p:anim>
                                    <p:anim calcmode="lin" valueType="num">
                                      <p:cBhvr additive="base">
                                        <p:cTn id="46" dur="600" decel="100000" fill="hold"/>
                                        <p:tgtEl>
                                          <p:spTgt spid="15"/>
                                        </p:tgtEl>
                                        <p:attrNameLst>
                                          <p:attrName>ppt_y</p:attrName>
                                        </p:attrNameLst>
                                      </p:cBhvr>
                                      <p:tavLst>
                                        <p:tav tm="0">
                                          <p:val>
                                            <p:strVal val="#ppt_y"/>
                                          </p:val>
                                        </p:tav>
                                        <p:tav tm="100000">
                                          <p:val>
                                            <p:strVal val="#ppt_y"/>
                                          </p:val>
                                        </p:tav>
                                      </p:tavLst>
                                    </p:anim>
                                    <p:animEffect transition="in" filter="fade">
                                      <p:cBhvr>
                                        <p:cTn id="47" dur="42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3"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4" dur="275"/>
                                        <p:tgtEl>
                                          <p:spTgt spid="16"/>
                                        </p:tgtEl>
                                      </p:cBhvr>
                                    </p:animEffect>
                                  </p:childTnLst>
                                </p:cTn>
                              </p:par>
                              <p:par>
                                <p:cTn id="55" presetID="53" presetClass="entr" presetSubtype="16"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8"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9" dur="275"/>
                                        <p:tgtEl>
                                          <p:spTgt spid="17"/>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3"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4" dur="275"/>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50"/>
                                        <p:tgtEl>
                                          <p:spTgt spid="19"/>
                                        </p:tgtEl>
                                      </p:cBhvr>
                                    </p:animEffect>
                                    <p:anim calcmode="lin" valueType="num">
                                      <p:cBhvr additive="base">
                                        <p:cTn id="70"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71" dur="650" decel="100000" fill="hold"/>
                                        <p:tgtEl>
                                          <p:spTgt spid="19"/>
                                        </p:tgtEl>
                                        <p:attrNameLst>
                                          <p:attrName>ppt_y</p:attrName>
                                        </p:attrNameLst>
                                      </p:cBhvr>
                                      <p:tavLst>
                                        <p:tav tm="0">
                                          <p:val>
                                            <p:strVal val="#ppt_y+0.06"/>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650"/>
                                        <p:tgtEl>
                                          <p:spTgt spid="20"/>
                                        </p:tgtEl>
                                      </p:cBhvr>
                                    </p:animEffect>
                                    <p:anim calcmode="lin" valueType="num">
                                      <p:cBhvr additive="base">
                                        <p:cTn id="75"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76" dur="650" decel="100000" fill="hold"/>
                                        <p:tgtEl>
                                          <p:spTgt spid="20"/>
                                        </p:tgtEl>
                                        <p:attrNameLst>
                                          <p:attrName>ppt_y</p:attrName>
                                        </p:attrNameLst>
                                      </p:cBhvr>
                                      <p:tavLst>
                                        <p:tav tm="0">
                                          <p:val>
                                            <p:strVal val="#ppt_y+0.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650"/>
                                        <p:tgtEl>
                                          <p:spTgt spid="21"/>
                                        </p:tgtEl>
                                      </p:cBhvr>
                                    </p:animEffect>
                                    <p:anim calcmode="lin" valueType="num">
                                      <p:cBhvr additive="base">
                                        <p:cTn id="80" dur="650" decel="100000" fill="hold"/>
                                        <p:tgtEl>
                                          <p:spTgt spid="21"/>
                                        </p:tgtEl>
                                        <p:attrNameLst>
                                          <p:attrName>ppt_x</p:attrName>
                                        </p:attrNameLst>
                                      </p:cBhvr>
                                      <p:tavLst>
                                        <p:tav tm="0">
                                          <p:val>
                                            <p:strVal val="#ppt_x"/>
                                          </p:val>
                                        </p:tav>
                                        <p:tav tm="100000">
                                          <p:val>
                                            <p:strVal val="#ppt_x"/>
                                          </p:val>
                                        </p:tav>
                                      </p:tavLst>
                                    </p:anim>
                                    <p:anim calcmode="lin" valueType="num">
                                      <p:cBhvr additive="base">
                                        <p:cTn id="81" dur="650" decel="100000" fill="hold"/>
                                        <p:tgtEl>
                                          <p:spTgt spid="21"/>
                                        </p:tgtEl>
                                        <p:attrNameLst>
                                          <p:attrName>ppt_y</p:attrName>
                                        </p:attrNameLst>
                                      </p:cBhvr>
                                      <p:tavLst>
                                        <p:tav tm="0">
                                          <p:val>
                                            <p:strVal val="#ppt_y+0.06"/>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650"/>
                                        <p:tgtEl>
                                          <p:spTgt spid="22"/>
                                        </p:tgtEl>
                                      </p:cBhvr>
                                    </p:animEffect>
                                    <p:anim calcmode="lin" valueType="num">
                                      <p:cBhvr additive="base">
                                        <p:cTn id="85" dur="650" decel="100000" fill="hold"/>
                                        <p:tgtEl>
                                          <p:spTgt spid="22"/>
                                        </p:tgtEl>
                                        <p:attrNameLst>
                                          <p:attrName>ppt_x</p:attrName>
                                        </p:attrNameLst>
                                      </p:cBhvr>
                                      <p:tavLst>
                                        <p:tav tm="0">
                                          <p:val>
                                            <p:strVal val="#ppt_x"/>
                                          </p:val>
                                        </p:tav>
                                        <p:tav tm="100000">
                                          <p:val>
                                            <p:strVal val="#ppt_x"/>
                                          </p:val>
                                        </p:tav>
                                      </p:tavLst>
                                    </p:anim>
                                    <p:anim calcmode="lin" valueType="num">
                                      <p:cBhvr additive="base">
                                        <p:cTn id="86" dur="650" decel="100000" fill="hold"/>
                                        <p:tgtEl>
                                          <p:spTgt spid="2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OVERZICHT · HOOFDSTUK 4</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a:t>
            </a:r>
            <a:endParaRPr lang="nl-NL" sz="3400" dirty="0"/>
          </a:p>
        </p:txBody>
      </p:sp>
      <p:sp>
        <p:nvSpPr>
          <p:cNvPr id="4" name="!!hv"/>
          <p:cNvSpPr txBox="1"/>
          <p:nvPr/>
        </p:nvSpPr>
        <p:spPr>
          <a:xfrm>
            <a:off x="566928" y="1024128"/>
            <a:ext cx="10058400" cy="365760"/>
          </a:xfrm>
          <a:prstGeom prst="rect">
            <a:avLst/>
          </a:prstGeom>
          <a:noFill/>
          <a:ln/>
        </p:spPr>
        <p:txBody>
          <a:bodyPr wrap="square" lIns="0" tIns="0" rIns="0" bIns="0" rtlCol="0" anchor="t"/>
          <a:lstStyle/>
          <a:p>
            <a:pPr marL="0" indent="0" algn="l">
              <a:buNone/>
            </a:pPr>
            <a:r>
              <a:rPr lang="nl-NL" sz="1900" b="1" dirty="0">
                <a:solidFill>
                  <a:srgbClr val="F28C38"/>
                </a:solidFill>
                <a:latin typeface="Calibri" pitchFamily="34" charset="0"/>
                <a:ea typeface="Calibri" pitchFamily="34" charset="-122"/>
                <a:cs typeface="Calibri" pitchFamily="34" charset="-120"/>
              </a:rPr>
              <a:t>Hoofdvraag: </a:t>
            </a:r>
            <a:r>
              <a:rPr lang="nl-NL" sz="1900" dirty="0">
                <a:solidFill>
                  <a:srgbClr val="5B6B7B"/>
                </a:solidFill>
                <a:latin typeface="Calibri" pitchFamily="34" charset="0"/>
                <a:ea typeface="Calibri" pitchFamily="34" charset="-122"/>
                <a:cs typeface="Calibri" pitchFamily="34" charset="-120"/>
              </a:rPr>
              <a:t>Hoe ontwikkelde de Nederlandse economie zich na de jaren dertig?</a:t>
            </a:r>
            <a:endParaRPr lang="nl-NL" sz="1900" dirty="0"/>
          </a:p>
        </p:txBody>
      </p:sp>
      <p:sp>
        <p:nvSpPr>
          <p:cNvPr id="5" name="!!seg0"/>
          <p:cNvSpPr/>
          <p:nvPr/>
        </p:nvSpPr>
        <p:spPr>
          <a:xfrm>
            <a:off x="1572768" y="2788920"/>
            <a:ext cx="2267712" cy="1737360"/>
          </a:xfrm>
          <a:prstGeom prst="line">
            <a:avLst/>
          </a:prstGeom>
          <a:noFill/>
          <a:ln w="38100">
            <a:solidFill>
              <a:srgbClr val="F28C38"/>
            </a:solidFill>
            <a:prstDash val="dash"/>
          </a:ln>
        </p:spPr>
        <p:txBody>
          <a:bodyPr/>
          <a:lstStyle/>
          <a:p>
            <a:endParaRPr lang="nl-NL"/>
          </a:p>
        </p:txBody>
      </p:sp>
      <p:sp>
        <p:nvSpPr>
          <p:cNvPr id="6" name="!!seg1"/>
          <p:cNvSpPr/>
          <p:nvPr/>
        </p:nvSpPr>
        <p:spPr>
          <a:xfrm flipV="1">
            <a:off x="3840480" y="2788920"/>
            <a:ext cx="2258568" cy="1737360"/>
          </a:xfrm>
          <a:prstGeom prst="line">
            <a:avLst/>
          </a:prstGeom>
          <a:noFill/>
          <a:ln w="38100">
            <a:solidFill>
              <a:srgbClr val="F28C38"/>
            </a:solidFill>
            <a:prstDash val="dash"/>
          </a:ln>
        </p:spPr>
        <p:txBody>
          <a:bodyPr/>
          <a:lstStyle/>
          <a:p>
            <a:endParaRPr lang="nl-NL"/>
          </a:p>
        </p:txBody>
      </p:sp>
      <p:sp>
        <p:nvSpPr>
          <p:cNvPr id="7" name="!!seg2"/>
          <p:cNvSpPr/>
          <p:nvPr/>
        </p:nvSpPr>
        <p:spPr>
          <a:xfrm>
            <a:off x="6099048" y="2788920"/>
            <a:ext cx="2258568" cy="1737360"/>
          </a:xfrm>
          <a:prstGeom prst="line">
            <a:avLst/>
          </a:prstGeom>
          <a:noFill/>
          <a:ln w="38100">
            <a:solidFill>
              <a:srgbClr val="F28C38"/>
            </a:solidFill>
            <a:prstDash val="dash"/>
          </a:ln>
        </p:spPr>
        <p:txBody>
          <a:bodyPr/>
          <a:lstStyle/>
          <a:p>
            <a:endParaRPr lang="nl-NL"/>
          </a:p>
        </p:txBody>
      </p:sp>
      <p:sp>
        <p:nvSpPr>
          <p:cNvPr id="8" name="!!seg3"/>
          <p:cNvSpPr/>
          <p:nvPr/>
        </p:nvSpPr>
        <p:spPr>
          <a:xfrm flipV="1">
            <a:off x="8357616" y="2788920"/>
            <a:ext cx="2258568" cy="1737360"/>
          </a:xfrm>
          <a:prstGeom prst="line">
            <a:avLst/>
          </a:prstGeom>
          <a:noFill/>
          <a:ln w="38100">
            <a:solidFill>
              <a:srgbClr val="F28C38"/>
            </a:solidFill>
            <a:prstDash val="dash"/>
          </a:ln>
        </p:spPr>
        <p:txBody>
          <a:bodyPr/>
          <a:lstStyle/>
          <a:p>
            <a:endParaRPr lang="nl-NL"/>
          </a:p>
        </p:txBody>
      </p:sp>
      <p:sp>
        <p:nvSpPr>
          <p:cNvPr id="9" name="!!tframe1"/>
          <p:cNvSpPr/>
          <p:nvPr/>
        </p:nvSpPr>
        <p:spPr>
          <a:xfrm>
            <a:off x="466344" y="2147139"/>
            <a:ext cx="2212848" cy="1283562"/>
          </a:xfrm>
          <a:prstGeom prst="roundRect">
            <a:avLst>
              <a:gd name="adj" fmla="val 427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0" name="!!tile1" descr="info_oorlog">
            <a:hlinkClick r:id="rId3" action="ppaction://hlinksldjump" tooltip="Ga naar Oorlog"/>
          </p:cNvPr>
          <p:cNvPicPr>
            <a:picLocks noChangeAspect="1"/>
          </p:cNvPicPr>
          <p:nvPr/>
        </p:nvPicPr>
        <p:blipFill>
          <a:blip r:embed="rId4"/>
          <a:stretch>
            <a:fillRect/>
          </a:stretch>
        </p:blipFill>
        <p:spPr>
          <a:xfrm>
            <a:off x="521208" y="2202003"/>
            <a:ext cx="2103120" cy="1173834"/>
          </a:xfrm>
          <a:prstGeom prst="rect">
            <a:avLst/>
          </a:prstGeom>
        </p:spPr>
      </p:pic>
      <p:sp>
        <p:nvSpPr>
          <p:cNvPr id="11" name="!!tnum1"/>
          <p:cNvSpPr/>
          <p:nvPr/>
        </p:nvSpPr>
        <p:spPr>
          <a:xfrm>
            <a:off x="521208" y="1497915"/>
            <a:ext cx="384048" cy="384048"/>
          </a:xfrm>
          <a:prstGeom prst="ellipse">
            <a:avLst/>
          </a:prstGeom>
          <a:solidFill>
            <a:srgbClr val="5B6B82"/>
          </a:solidFill>
          <a:ln/>
        </p:spPr>
        <p:txBody>
          <a:bodyPr/>
          <a:lstStyle/>
          <a:p>
            <a:endParaRPr lang="nl-NL"/>
          </a:p>
        </p:txBody>
      </p:sp>
      <p:sp>
        <p:nvSpPr>
          <p:cNvPr id="12" name="!!tnumt1"/>
          <p:cNvSpPr txBox="1"/>
          <p:nvPr/>
        </p:nvSpPr>
        <p:spPr>
          <a:xfrm>
            <a:off x="521208" y="1497915"/>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1</a:t>
            </a:r>
            <a:endParaRPr lang="nl-NL" sz="1600" dirty="0"/>
          </a:p>
        </p:txBody>
      </p:sp>
      <p:sp>
        <p:nvSpPr>
          <p:cNvPr id="13" name="!!tlbl1"/>
          <p:cNvSpPr txBox="1"/>
          <p:nvPr/>
        </p:nvSpPr>
        <p:spPr>
          <a:xfrm>
            <a:off x="996696" y="1452195"/>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Oorlog</a:t>
            </a:r>
            <a:endParaRPr lang="nl-NL" sz="1700" dirty="0"/>
          </a:p>
        </p:txBody>
      </p:sp>
      <p:sp>
        <p:nvSpPr>
          <p:cNvPr id="14" name="!!tyr1"/>
          <p:cNvSpPr txBox="1"/>
          <p:nvPr/>
        </p:nvSpPr>
        <p:spPr>
          <a:xfrm>
            <a:off x="996696" y="1726515"/>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15" name="!!chk1"/>
          <p:cNvSpPr/>
          <p:nvPr/>
        </p:nvSpPr>
        <p:spPr>
          <a:xfrm>
            <a:off x="2350008" y="2000835"/>
            <a:ext cx="457200" cy="457200"/>
          </a:xfrm>
          <a:prstGeom prst="ellipse">
            <a:avLst/>
          </a:prstGeom>
          <a:solidFill>
            <a:srgbClr val="2E8B74"/>
          </a:solidFill>
          <a:ln w="31750">
            <a:solidFill>
              <a:srgbClr val="FFFFFF"/>
            </a:solidFill>
            <a:prstDash val="solid"/>
          </a:ln>
        </p:spPr>
        <p:txBody>
          <a:bodyPr/>
          <a:lstStyle/>
          <a:p>
            <a:endParaRPr lang="nl-NL"/>
          </a:p>
        </p:txBody>
      </p:sp>
      <p:pic>
        <p:nvPicPr>
          <p:cNvPr id="16" name="!!chki1" descr="check_w"/>
          <p:cNvPicPr>
            <a:picLocks noChangeAspect="1"/>
          </p:cNvPicPr>
          <p:nvPr/>
        </p:nvPicPr>
        <p:blipFill>
          <a:blip r:embed="rId5"/>
          <a:stretch>
            <a:fillRect/>
          </a:stretch>
        </p:blipFill>
        <p:spPr>
          <a:xfrm>
            <a:off x="2459736" y="2110563"/>
            <a:ext cx="237744" cy="237744"/>
          </a:xfrm>
          <a:prstGeom prst="rect">
            <a:avLst/>
          </a:prstGeom>
        </p:spPr>
      </p:pic>
      <p:sp>
        <p:nvSpPr>
          <p:cNvPr id="17" name="!!tframe2"/>
          <p:cNvSpPr/>
          <p:nvPr/>
        </p:nvSpPr>
        <p:spPr>
          <a:xfrm>
            <a:off x="2734056"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8" name="!!tile2" descr="rotterdam_169">
            <a:hlinkClick r:id="rId6" action="ppaction://hlinksldjump" tooltip="Ga naar Wederopbouw"/>
          </p:cNvPr>
          <p:cNvPicPr>
            <a:picLocks noChangeAspect="1"/>
          </p:cNvPicPr>
          <p:nvPr/>
        </p:nvPicPr>
        <p:blipFill>
          <a:blip r:embed="rId7"/>
          <a:stretch>
            <a:fillRect/>
          </a:stretch>
        </p:blipFill>
        <p:spPr>
          <a:xfrm>
            <a:off x="2788920" y="3934778"/>
            <a:ext cx="2103120" cy="1183005"/>
          </a:xfrm>
          <a:prstGeom prst="rect">
            <a:avLst/>
          </a:prstGeom>
        </p:spPr>
      </p:pic>
      <p:sp>
        <p:nvSpPr>
          <p:cNvPr id="19" name="!!tnum2"/>
          <p:cNvSpPr/>
          <p:nvPr/>
        </p:nvSpPr>
        <p:spPr>
          <a:xfrm>
            <a:off x="2788920" y="5318951"/>
            <a:ext cx="384048" cy="384048"/>
          </a:xfrm>
          <a:prstGeom prst="ellipse">
            <a:avLst/>
          </a:prstGeom>
          <a:solidFill>
            <a:srgbClr val="2E8B74"/>
          </a:solidFill>
          <a:ln/>
        </p:spPr>
        <p:txBody>
          <a:bodyPr/>
          <a:lstStyle/>
          <a:p>
            <a:endParaRPr lang="nl-NL"/>
          </a:p>
        </p:txBody>
      </p:sp>
      <p:sp>
        <p:nvSpPr>
          <p:cNvPr id="20" name="!!tnumt2"/>
          <p:cNvSpPr txBox="1"/>
          <p:nvPr/>
        </p:nvSpPr>
        <p:spPr>
          <a:xfrm>
            <a:off x="2788920"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2</a:t>
            </a:r>
            <a:endParaRPr lang="nl-NL" sz="1600" dirty="0"/>
          </a:p>
        </p:txBody>
      </p:sp>
      <p:sp>
        <p:nvSpPr>
          <p:cNvPr id="21" name="!!tlbl2"/>
          <p:cNvSpPr txBox="1"/>
          <p:nvPr/>
        </p:nvSpPr>
        <p:spPr>
          <a:xfrm>
            <a:off x="3264408"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Wederopbouw</a:t>
            </a:r>
            <a:endParaRPr lang="nl-NL" sz="1700" dirty="0"/>
          </a:p>
        </p:txBody>
      </p:sp>
      <p:sp>
        <p:nvSpPr>
          <p:cNvPr id="22" name="!!tyr2"/>
          <p:cNvSpPr txBox="1"/>
          <p:nvPr/>
        </p:nvSpPr>
        <p:spPr>
          <a:xfrm>
            <a:off x="3264408"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23" name="!!tframe3"/>
          <p:cNvSpPr/>
          <p:nvPr/>
        </p:nvSpPr>
        <p:spPr>
          <a:xfrm>
            <a:off x="4992624"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4" name="!!tile3" descr="woonkamer_169">
            <a:hlinkClick r:id="rId8" action="ppaction://hlinksldjump" tooltip="Ga naar Welvaart"/>
          </p:cNvPr>
          <p:cNvPicPr>
            <a:picLocks noChangeAspect="1"/>
          </p:cNvPicPr>
          <p:nvPr/>
        </p:nvPicPr>
        <p:blipFill>
          <a:blip r:embed="rId9"/>
          <a:stretch>
            <a:fillRect/>
          </a:stretch>
        </p:blipFill>
        <p:spPr>
          <a:xfrm>
            <a:off x="5047488" y="2197417"/>
            <a:ext cx="2103120" cy="1183005"/>
          </a:xfrm>
          <a:prstGeom prst="rect">
            <a:avLst/>
          </a:prstGeom>
        </p:spPr>
      </p:pic>
      <p:sp>
        <p:nvSpPr>
          <p:cNvPr id="25" name="!!tnum3"/>
          <p:cNvSpPr/>
          <p:nvPr/>
        </p:nvSpPr>
        <p:spPr>
          <a:xfrm>
            <a:off x="5047488" y="1493330"/>
            <a:ext cx="384048" cy="384048"/>
          </a:xfrm>
          <a:prstGeom prst="ellipse">
            <a:avLst/>
          </a:prstGeom>
          <a:solidFill>
            <a:srgbClr val="E07A3F"/>
          </a:solidFill>
          <a:ln/>
        </p:spPr>
        <p:txBody>
          <a:bodyPr/>
          <a:lstStyle/>
          <a:p>
            <a:endParaRPr lang="nl-NL"/>
          </a:p>
        </p:txBody>
      </p:sp>
      <p:sp>
        <p:nvSpPr>
          <p:cNvPr id="26" name="!!tnumt3"/>
          <p:cNvSpPr txBox="1"/>
          <p:nvPr/>
        </p:nvSpPr>
        <p:spPr>
          <a:xfrm>
            <a:off x="5047488"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3</a:t>
            </a:r>
            <a:endParaRPr lang="nl-NL" sz="1600" dirty="0"/>
          </a:p>
        </p:txBody>
      </p:sp>
      <p:sp>
        <p:nvSpPr>
          <p:cNvPr id="27" name="!!tlbl3"/>
          <p:cNvSpPr txBox="1"/>
          <p:nvPr/>
        </p:nvSpPr>
        <p:spPr>
          <a:xfrm>
            <a:off x="5522976"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Welvaart</a:t>
            </a:r>
            <a:endParaRPr lang="nl-NL" sz="1700" dirty="0"/>
          </a:p>
        </p:txBody>
      </p:sp>
      <p:sp>
        <p:nvSpPr>
          <p:cNvPr id="28" name="!!tyr3"/>
          <p:cNvSpPr txBox="1"/>
          <p:nvPr/>
        </p:nvSpPr>
        <p:spPr>
          <a:xfrm>
            <a:off x="5522976"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29" name="!!tframe4"/>
          <p:cNvSpPr/>
          <p:nvPr/>
        </p:nvSpPr>
        <p:spPr>
          <a:xfrm>
            <a:off x="7251192"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0" name="!!tile4" descr="robots_169">
            <a:hlinkClick r:id="rId10" action="ppaction://hlinksldjump" tooltip="Ga naar Crisis"/>
          </p:cNvPr>
          <p:cNvPicPr>
            <a:picLocks noChangeAspect="1"/>
          </p:cNvPicPr>
          <p:nvPr/>
        </p:nvPicPr>
        <p:blipFill>
          <a:blip r:embed="rId11"/>
          <a:stretch>
            <a:fillRect/>
          </a:stretch>
        </p:blipFill>
        <p:spPr>
          <a:xfrm>
            <a:off x="7306056" y="3934778"/>
            <a:ext cx="2103120" cy="1183005"/>
          </a:xfrm>
          <a:prstGeom prst="rect">
            <a:avLst/>
          </a:prstGeom>
        </p:spPr>
      </p:pic>
      <p:sp>
        <p:nvSpPr>
          <p:cNvPr id="31" name="!!tnum4"/>
          <p:cNvSpPr/>
          <p:nvPr/>
        </p:nvSpPr>
        <p:spPr>
          <a:xfrm>
            <a:off x="7306056" y="5318951"/>
            <a:ext cx="384048" cy="384048"/>
          </a:xfrm>
          <a:prstGeom prst="ellipse">
            <a:avLst/>
          </a:prstGeom>
          <a:solidFill>
            <a:srgbClr val="8A5A83"/>
          </a:solidFill>
          <a:ln/>
        </p:spPr>
        <p:txBody>
          <a:bodyPr/>
          <a:lstStyle/>
          <a:p>
            <a:endParaRPr lang="nl-NL"/>
          </a:p>
        </p:txBody>
      </p:sp>
      <p:sp>
        <p:nvSpPr>
          <p:cNvPr id="32" name="!!tnumt4"/>
          <p:cNvSpPr txBox="1"/>
          <p:nvPr/>
        </p:nvSpPr>
        <p:spPr>
          <a:xfrm>
            <a:off x="7306056"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4</a:t>
            </a:r>
            <a:endParaRPr lang="nl-NL" sz="1600" dirty="0"/>
          </a:p>
        </p:txBody>
      </p:sp>
      <p:sp>
        <p:nvSpPr>
          <p:cNvPr id="33" name="!!tlbl4"/>
          <p:cNvSpPr txBox="1"/>
          <p:nvPr/>
        </p:nvSpPr>
        <p:spPr>
          <a:xfrm>
            <a:off x="7781544"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Crisis</a:t>
            </a:r>
            <a:endParaRPr lang="nl-NL" sz="1700" dirty="0"/>
          </a:p>
        </p:txBody>
      </p:sp>
      <p:sp>
        <p:nvSpPr>
          <p:cNvPr id="34" name="!!tyr4"/>
          <p:cNvSpPr txBox="1"/>
          <p:nvPr/>
        </p:nvSpPr>
        <p:spPr>
          <a:xfrm>
            <a:off x="7781544"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35" name="!!tframe5"/>
          <p:cNvSpPr/>
          <p:nvPr/>
        </p:nvSpPr>
        <p:spPr>
          <a:xfrm>
            <a:off x="9509760"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6" name="!!tile5" descr="haven_169">
            <a:hlinkClick r:id="rId12" action="ppaction://hlinksldjump" tooltip="Ga naar Nederland nu"/>
          </p:cNvPr>
          <p:cNvPicPr>
            <a:picLocks noChangeAspect="1"/>
          </p:cNvPicPr>
          <p:nvPr/>
        </p:nvPicPr>
        <p:blipFill>
          <a:blip r:embed="rId13"/>
          <a:stretch>
            <a:fillRect/>
          </a:stretch>
        </p:blipFill>
        <p:spPr>
          <a:xfrm>
            <a:off x="9564624" y="2197417"/>
            <a:ext cx="2103120" cy="1183005"/>
          </a:xfrm>
          <a:prstGeom prst="rect">
            <a:avLst/>
          </a:prstGeom>
        </p:spPr>
      </p:pic>
      <p:sp>
        <p:nvSpPr>
          <p:cNvPr id="37" name="!!tnum5"/>
          <p:cNvSpPr/>
          <p:nvPr/>
        </p:nvSpPr>
        <p:spPr>
          <a:xfrm>
            <a:off x="9564624" y="1493330"/>
            <a:ext cx="384048" cy="384048"/>
          </a:xfrm>
          <a:prstGeom prst="ellipse">
            <a:avLst/>
          </a:prstGeom>
          <a:solidFill>
            <a:srgbClr val="2F7BB5"/>
          </a:solidFill>
          <a:ln/>
        </p:spPr>
        <p:txBody>
          <a:bodyPr/>
          <a:lstStyle/>
          <a:p>
            <a:endParaRPr lang="nl-NL"/>
          </a:p>
        </p:txBody>
      </p:sp>
      <p:sp>
        <p:nvSpPr>
          <p:cNvPr id="38" name="!!tnumt5"/>
          <p:cNvSpPr txBox="1"/>
          <p:nvPr/>
        </p:nvSpPr>
        <p:spPr>
          <a:xfrm>
            <a:off x="9564624"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5</a:t>
            </a:r>
            <a:endParaRPr lang="nl-NL" sz="1600" dirty="0"/>
          </a:p>
        </p:txBody>
      </p:sp>
      <p:sp>
        <p:nvSpPr>
          <p:cNvPr id="39" name="!!tlbl5"/>
          <p:cNvSpPr txBox="1"/>
          <p:nvPr/>
        </p:nvSpPr>
        <p:spPr>
          <a:xfrm>
            <a:off x="10040112"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Nederland nu</a:t>
            </a:r>
            <a:endParaRPr lang="nl-NL" sz="1700" dirty="0"/>
          </a:p>
        </p:txBody>
      </p:sp>
      <p:sp>
        <p:nvSpPr>
          <p:cNvPr id="40" name="!!tyr5"/>
          <p:cNvSpPr txBox="1"/>
          <p:nvPr/>
        </p:nvSpPr>
        <p:spPr>
          <a:xfrm>
            <a:off x="10040112"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
        <p:nvSpPr>
          <p:cNvPr id="41" name="s11_next"/>
          <p:cNvSpPr/>
          <p:nvPr/>
        </p:nvSpPr>
        <p:spPr>
          <a:xfrm>
            <a:off x="2642616" y="3788474"/>
            <a:ext cx="2395728" cy="1475613"/>
          </a:xfrm>
          <a:prstGeom prst="roundRect">
            <a:avLst>
              <a:gd name="adj" fmla="val 4957"/>
            </a:avLst>
          </a:prstGeom>
          <a:ln w="50800">
            <a:solidFill>
              <a:srgbClr val="F28C38"/>
            </a:solidFill>
            <a:prstDash val="solid"/>
          </a:ln>
        </p:spPr>
        <p:txBody>
          <a:bodyPr/>
          <a:lstStyle/>
          <a:p>
            <a:endParaRPr lang="nl-NL"/>
          </a:p>
        </p:txBody>
      </p:sp>
      <p:sp>
        <p:nvSpPr>
          <p:cNvPr id="42" name="s11_nextchip"/>
          <p:cNvSpPr txBox="1"/>
          <p:nvPr/>
        </p:nvSpPr>
        <p:spPr>
          <a:xfrm>
            <a:off x="3273552" y="3422714"/>
            <a:ext cx="1003808"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VOLGENDE</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50" fill="hold"/>
                                        <p:tgtEl>
                                          <p:spTgt spid="1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1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50" fill="hold"/>
                                        <p:tgtEl>
                                          <p:spTgt spid="4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4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4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 calcmode="lin" valueType="num">
                                      <p:cBhvr additive="base">
                                        <p:cTn id="24" dur="550" fill="hold"/>
                                        <p:tgtEl>
                                          <p:spTgt spid="4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4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1" grpId="0" animBg="1"/>
      <p:bldP spid="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tile2" descr="rotterdam_169"/>
          <p:cNvPicPr>
            <a:picLocks noChangeAspect="1"/>
          </p:cNvPicPr>
          <p:nvPr/>
        </p:nvPicPr>
        <p:blipFill>
          <a:blip r:embed="rId3"/>
          <a:stretch>
            <a:fillRect/>
          </a:stretch>
        </p:blipFill>
        <p:spPr>
          <a:xfrm>
            <a:off x="0" y="0"/>
            <a:ext cx="12191695" cy="6858000"/>
          </a:xfrm>
          <a:prstGeom prst="rect">
            <a:avLst/>
          </a:prstGeom>
        </p:spPr>
      </p:pic>
      <p:sp>
        <p:nvSpPr>
          <p:cNvPr id="3" name="s12_ai"/>
          <p:cNvSpPr txBox="1"/>
          <p:nvPr/>
        </p:nvSpPr>
        <p:spPr>
          <a:xfrm>
            <a:off x="274320" y="6473952"/>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
        <p:nvSpPr>
          <p:cNvPr id="4"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6"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7" name="s12_intro"/>
          <p:cNvSpPr txBox="1"/>
          <p:nvPr/>
        </p:nvSpPr>
        <p:spPr>
          <a:xfrm>
            <a:off x="7927848" y="1572768"/>
            <a:ext cx="3639312" cy="640080"/>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5 mei 1945: Nederland is bevrijd! Maar er is veel verdriet en schade.</a:t>
            </a:r>
            <a:endParaRPr lang="nl-NL" sz="1700" dirty="0"/>
          </a:p>
        </p:txBody>
      </p:sp>
      <p:pic>
        <p:nvPicPr>
          <p:cNvPr id="8" name="s12_si0" descr="icon_graf"/>
          <p:cNvPicPr>
            <a:picLocks noChangeAspect="1"/>
          </p:cNvPicPr>
          <p:nvPr/>
        </p:nvPicPr>
        <p:blipFill>
          <a:blip r:embed="rId4"/>
          <a:stretch>
            <a:fillRect/>
          </a:stretch>
        </p:blipFill>
        <p:spPr>
          <a:xfrm>
            <a:off x="7877185" y="2350008"/>
            <a:ext cx="924285" cy="777240"/>
          </a:xfrm>
          <a:prstGeom prst="rect">
            <a:avLst/>
          </a:prstGeom>
        </p:spPr>
      </p:pic>
      <p:sp>
        <p:nvSpPr>
          <p:cNvPr id="9" name="s12_sn0"/>
          <p:cNvSpPr txBox="1"/>
          <p:nvPr/>
        </p:nvSpPr>
        <p:spPr>
          <a:xfrm>
            <a:off x="8933688" y="2304288"/>
            <a:ext cx="2633472" cy="457200"/>
          </a:xfrm>
          <a:prstGeom prst="rect">
            <a:avLst/>
          </a:prstGeom>
          <a:noFill/>
          <a:ln/>
        </p:spPr>
        <p:txBody>
          <a:bodyPr wrap="square" lIns="0" tIns="0" rIns="0" bIns="0" rtlCol="0" anchor="t"/>
          <a:lstStyle/>
          <a:p>
            <a:pPr marL="0" indent="0" algn="l">
              <a:buNone/>
            </a:pPr>
            <a:r>
              <a:rPr lang="nl-NL" sz="2800" b="1" dirty="0">
                <a:solidFill>
                  <a:srgbClr val="2E8B74"/>
                </a:solidFill>
                <a:latin typeface="Calibri" pitchFamily="34" charset="0"/>
                <a:ea typeface="Calibri" pitchFamily="34" charset="-122"/>
                <a:cs typeface="Calibri" pitchFamily="34" charset="-120"/>
              </a:rPr>
              <a:t>250.000</a:t>
            </a:r>
            <a:endParaRPr lang="nl-NL" sz="2800" dirty="0"/>
          </a:p>
        </p:txBody>
      </p:sp>
      <p:sp>
        <p:nvSpPr>
          <p:cNvPr id="10" name="s12_sl0"/>
          <p:cNvSpPr txBox="1"/>
          <p:nvPr/>
        </p:nvSpPr>
        <p:spPr>
          <a:xfrm>
            <a:off x="8933688" y="2743200"/>
            <a:ext cx="2633472" cy="457200"/>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mensen overleefden de oorlog niet (van de 9 miljoen)</a:t>
            </a:r>
            <a:endParaRPr lang="nl-NL" sz="1300" dirty="0"/>
          </a:p>
        </p:txBody>
      </p:sp>
      <p:pic>
        <p:nvPicPr>
          <p:cNvPr id="11" name="s12_si1" descr="icon_huis"/>
          <p:cNvPicPr>
            <a:picLocks noChangeAspect="1"/>
          </p:cNvPicPr>
          <p:nvPr/>
        </p:nvPicPr>
        <p:blipFill>
          <a:blip r:embed="rId5"/>
          <a:stretch>
            <a:fillRect/>
          </a:stretch>
        </p:blipFill>
        <p:spPr>
          <a:xfrm>
            <a:off x="7969614" y="3374136"/>
            <a:ext cx="739428" cy="777240"/>
          </a:xfrm>
          <a:prstGeom prst="rect">
            <a:avLst/>
          </a:prstGeom>
        </p:spPr>
      </p:pic>
      <p:sp>
        <p:nvSpPr>
          <p:cNvPr id="12" name="s12_sn1"/>
          <p:cNvSpPr txBox="1"/>
          <p:nvPr/>
        </p:nvSpPr>
        <p:spPr>
          <a:xfrm>
            <a:off x="8933688" y="3328416"/>
            <a:ext cx="2633472" cy="457200"/>
          </a:xfrm>
          <a:prstGeom prst="rect">
            <a:avLst/>
          </a:prstGeom>
          <a:noFill/>
          <a:ln/>
        </p:spPr>
        <p:txBody>
          <a:bodyPr wrap="square" lIns="0" tIns="0" rIns="0" bIns="0" rtlCol="0" anchor="t"/>
          <a:lstStyle/>
          <a:p>
            <a:pPr marL="0" indent="0" algn="l">
              <a:buNone/>
            </a:pPr>
            <a:r>
              <a:rPr lang="nl-NL" sz="2800" b="1" dirty="0">
                <a:solidFill>
                  <a:srgbClr val="2E8B74"/>
                </a:solidFill>
                <a:latin typeface="Calibri" pitchFamily="34" charset="0"/>
                <a:ea typeface="Calibri" pitchFamily="34" charset="-122"/>
                <a:cs typeface="Calibri" pitchFamily="34" charset="-120"/>
              </a:rPr>
              <a:t>500.000+</a:t>
            </a:r>
            <a:endParaRPr lang="nl-NL" sz="2800" dirty="0"/>
          </a:p>
        </p:txBody>
      </p:sp>
      <p:sp>
        <p:nvSpPr>
          <p:cNvPr id="13" name="s12_sl1"/>
          <p:cNvSpPr txBox="1"/>
          <p:nvPr/>
        </p:nvSpPr>
        <p:spPr>
          <a:xfrm>
            <a:off x="8933688" y="3767328"/>
            <a:ext cx="2633472" cy="457200"/>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mensen hebben geen huis meer</a:t>
            </a:r>
            <a:endParaRPr lang="nl-NL" sz="1300" dirty="0"/>
          </a:p>
        </p:txBody>
      </p:sp>
      <p:pic>
        <p:nvPicPr>
          <p:cNvPr id="14" name="s12_si2" descr="icon_shirt"/>
          <p:cNvPicPr>
            <a:picLocks noChangeAspect="1"/>
          </p:cNvPicPr>
          <p:nvPr/>
        </p:nvPicPr>
        <p:blipFill>
          <a:blip r:embed="rId6"/>
          <a:stretch>
            <a:fillRect/>
          </a:stretch>
        </p:blipFill>
        <p:spPr>
          <a:xfrm>
            <a:off x="7987443" y="4398264"/>
            <a:ext cx="703770" cy="777240"/>
          </a:xfrm>
          <a:prstGeom prst="rect">
            <a:avLst/>
          </a:prstGeom>
        </p:spPr>
      </p:pic>
      <p:sp>
        <p:nvSpPr>
          <p:cNvPr id="15" name="s12_sn2"/>
          <p:cNvSpPr txBox="1"/>
          <p:nvPr/>
        </p:nvSpPr>
        <p:spPr>
          <a:xfrm>
            <a:off x="8933688" y="4352544"/>
            <a:ext cx="2633472" cy="457200"/>
          </a:xfrm>
          <a:prstGeom prst="rect">
            <a:avLst/>
          </a:prstGeom>
          <a:noFill/>
          <a:ln/>
        </p:spPr>
        <p:txBody>
          <a:bodyPr wrap="square" lIns="0" tIns="0" rIns="0" bIns="0" rtlCol="0" anchor="t"/>
          <a:lstStyle/>
          <a:p>
            <a:pPr marL="0" indent="0" algn="l">
              <a:buNone/>
            </a:pPr>
            <a:r>
              <a:rPr lang="nl-NL" sz="2800" b="1" dirty="0">
                <a:solidFill>
                  <a:srgbClr val="2E8B74"/>
                </a:solidFill>
                <a:latin typeface="Calibri" pitchFamily="34" charset="0"/>
                <a:ea typeface="Calibri" pitchFamily="34" charset="-122"/>
                <a:cs typeface="Calibri" pitchFamily="34" charset="-120"/>
              </a:rPr>
              <a:t>800.000</a:t>
            </a:r>
            <a:endParaRPr lang="nl-NL" sz="2800" dirty="0"/>
          </a:p>
        </p:txBody>
      </p:sp>
      <p:sp>
        <p:nvSpPr>
          <p:cNvPr id="16" name="s12_sl2"/>
          <p:cNvSpPr txBox="1"/>
          <p:nvPr/>
        </p:nvSpPr>
        <p:spPr>
          <a:xfrm>
            <a:off x="8933688" y="4791456"/>
            <a:ext cx="2633472" cy="457200"/>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mensen hebben alleen de kleren die ze aanhebben</a:t>
            </a:r>
            <a:endParaRPr lang="nl-NL" sz="1300" dirty="0"/>
          </a:p>
        </p:txBody>
      </p:sp>
      <p:sp>
        <p:nvSpPr>
          <p:cNvPr id="17" name="s12_opdr"/>
          <p:cNvSpPr txBox="1"/>
          <p:nvPr/>
        </p:nvSpPr>
        <p:spPr>
          <a:xfrm>
            <a:off x="7927848" y="5468112"/>
            <a:ext cx="3639312" cy="566928"/>
          </a:xfrm>
          <a:prstGeom prst="roundRect">
            <a:avLst>
              <a:gd name="adj" fmla="val 12903"/>
            </a:avLst>
          </a:prstGeom>
          <a:solidFill>
            <a:srgbClr val="FDEEE2"/>
          </a:solidFill>
          <a:ln/>
        </p:spPr>
        <p:txBody>
          <a:bodyPr wrap="square" lIns="50800" tIns="127000" rIns="127000" bIns="50800" rtlCol="0" anchor="ctr"/>
          <a:lstStyle/>
          <a:p>
            <a:pPr marL="0" indent="0" algn="l">
              <a:buNone/>
            </a:pPr>
            <a:r>
              <a:rPr lang="nl-NL" sz="1700" b="1" dirty="0">
                <a:solidFill>
                  <a:srgbClr val="1E2A3A"/>
                </a:solidFill>
                <a:latin typeface="Calibri" pitchFamily="34" charset="0"/>
                <a:ea typeface="Calibri" pitchFamily="34" charset="-122"/>
                <a:cs typeface="Calibri" pitchFamily="34" charset="-120"/>
              </a:rPr>
              <a:t>Opdracht: alles moet weer opgebouwd worden!</a:t>
            </a:r>
            <a:endParaRPr lang="nl-NL" sz="1700" dirty="0"/>
          </a:p>
        </p:txBody>
      </p:sp>
      <p:sp>
        <p:nvSpPr>
          <p:cNvPr id="18"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9"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0" name="!!rd_d1"/>
          <p:cNvSpPr/>
          <p:nvPr/>
        </p:nvSpPr>
        <p:spPr>
          <a:xfrm>
            <a:off x="2944368" y="6437376"/>
            <a:ext cx="128016" cy="128016"/>
          </a:xfrm>
          <a:prstGeom prst="ellipse">
            <a:avLst/>
          </a:prstGeom>
          <a:solidFill>
            <a:srgbClr val="1E2A3A"/>
          </a:solidFill>
          <a:ln/>
        </p:spPr>
        <p:txBody>
          <a:bodyPr/>
          <a:lstStyle/>
          <a:p>
            <a:endParaRPr lang="nl-NL"/>
          </a:p>
        </p:txBody>
      </p:sp>
      <p:sp>
        <p:nvSpPr>
          <p:cNvPr id="21"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2" name="!!rd_d2"/>
          <p:cNvSpPr/>
          <p:nvPr/>
        </p:nvSpPr>
        <p:spPr>
          <a:xfrm>
            <a:off x="4078224" y="6437376"/>
            <a:ext cx="128016" cy="128016"/>
          </a:xfrm>
          <a:prstGeom prst="ellipse">
            <a:avLst/>
          </a:prstGeom>
          <a:solidFill>
            <a:srgbClr val="C9D1DA"/>
          </a:solidFill>
          <a:ln/>
        </p:spPr>
        <p:txBody>
          <a:bodyPr/>
          <a:lstStyle/>
          <a:p>
            <a:endParaRPr lang="nl-NL"/>
          </a:p>
        </p:txBody>
      </p:sp>
      <p:sp>
        <p:nvSpPr>
          <p:cNvPr id="23"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4" name="!!rd_d3"/>
          <p:cNvSpPr/>
          <p:nvPr/>
        </p:nvSpPr>
        <p:spPr>
          <a:xfrm>
            <a:off x="5212080" y="6437376"/>
            <a:ext cx="128016" cy="128016"/>
          </a:xfrm>
          <a:prstGeom prst="ellipse">
            <a:avLst/>
          </a:prstGeom>
          <a:solidFill>
            <a:srgbClr val="C9D1DA"/>
          </a:solidFill>
          <a:ln/>
        </p:spPr>
        <p:txBody>
          <a:bodyPr/>
          <a:lstStyle/>
          <a:p>
            <a:endParaRPr lang="nl-NL"/>
          </a:p>
        </p:txBody>
      </p:sp>
      <p:sp>
        <p:nvSpPr>
          <p:cNvPr id="25"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6" name="!!rd_d4"/>
          <p:cNvSpPr/>
          <p:nvPr/>
        </p:nvSpPr>
        <p:spPr>
          <a:xfrm>
            <a:off x="6345936" y="6437376"/>
            <a:ext cx="128016" cy="128016"/>
          </a:xfrm>
          <a:prstGeom prst="ellipse">
            <a:avLst/>
          </a:prstGeom>
          <a:solidFill>
            <a:srgbClr val="C9D1DA"/>
          </a:solidFill>
          <a:ln/>
        </p:spPr>
        <p:txBody>
          <a:bodyPr/>
          <a:lstStyle/>
          <a:p>
            <a:endParaRPr lang="nl-NL"/>
          </a:p>
        </p:txBody>
      </p:sp>
      <p:sp>
        <p:nvSpPr>
          <p:cNvPr id="27"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8" name="!!rd_d5"/>
          <p:cNvSpPr/>
          <p:nvPr/>
        </p:nvSpPr>
        <p:spPr>
          <a:xfrm>
            <a:off x="7479792" y="6437376"/>
            <a:ext cx="128016" cy="128016"/>
          </a:xfrm>
          <a:prstGeom prst="ellipse">
            <a:avLst/>
          </a:prstGeom>
          <a:solidFill>
            <a:srgbClr val="C9D1DA"/>
          </a:solidFill>
          <a:ln/>
        </p:spPr>
        <p:txBody>
          <a:bodyPr/>
          <a:lstStyle/>
          <a:p>
            <a:endParaRPr lang="nl-NL"/>
          </a:p>
        </p:txBody>
      </p:sp>
      <p:sp>
        <p:nvSpPr>
          <p:cNvPr id="29"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0"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
        <p:nvSpPr>
          <p:cNvPr id="31" name="s12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2" name="s12_tv_dot"/>
          <p:cNvSpPr/>
          <p:nvPr/>
        </p:nvSpPr>
        <p:spPr>
          <a:xfrm>
            <a:off x="8979408" y="6373368"/>
            <a:ext cx="256032" cy="256032"/>
          </a:xfrm>
          <a:prstGeom prst="ellipse">
            <a:avLst/>
          </a:prstGeom>
          <a:solidFill>
            <a:srgbClr val="2F7BB5"/>
          </a:solidFill>
          <a:ln/>
        </p:spPr>
        <p:txBody>
          <a:bodyPr/>
          <a:lstStyle/>
          <a:p>
            <a:endParaRPr lang="nl-NL"/>
          </a:p>
        </p:txBody>
      </p:sp>
      <p:pic>
        <p:nvPicPr>
          <p:cNvPr id="33" name="s12_tv_play" descr="play_w">
            <a:hlinkClick r:id="rId7" tooltip="Open op Schooltv"/>
          </p:cNvPr>
          <p:cNvPicPr>
            <a:picLocks noChangeAspect="1"/>
          </p:cNvPicPr>
          <p:nvPr/>
        </p:nvPicPr>
        <p:blipFill>
          <a:blip r:embed="rId8"/>
          <a:stretch>
            <a:fillRect/>
          </a:stretch>
        </p:blipFill>
        <p:spPr>
          <a:xfrm>
            <a:off x="9052560" y="6437376"/>
            <a:ext cx="128016" cy="128016"/>
          </a:xfrm>
          <a:prstGeom prst="rect">
            <a:avLst/>
          </a:prstGeom>
        </p:spPr>
      </p:pic>
      <p:sp>
        <p:nvSpPr>
          <p:cNvPr id="34" name="s12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7" tooltip="Open op Schooltv">
                  <a:extLst>
                    <a:ext uri="{A12FA001-AC4F-418D-AE19-62706E023703}">
                      <ahyp:hlinkClr xmlns:ahyp="http://schemas.microsoft.com/office/drawing/2018/hyperlinkcolor" val="tx"/>
                    </a:ext>
                  </a:extLst>
                </a:hlinkClick>
              </a:rPr>
              <a:t>Schooltv: Wederopbouw &amp; woningnood</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5"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6" dur="275"/>
                                        <p:tgtEl>
                                          <p:spTgt spid="8"/>
                                        </p:tgtEl>
                                      </p:cBhvr>
                                    </p:animEffect>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0" dur="600" decel="100000" fill="hold"/>
                                        <p:tgtEl>
                                          <p:spTgt spid="9"/>
                                        </p:tgtEl>
                                        <p:attrNameLst>
                                          <p:attrName>ppt_y</p:attrName>
                                        </p:attrNameLst>
                                      </p:cBhvr>
                                      <p:tavLst>
                                        <p:tav tm="0">
                                          <p:val>
                                            <p:strVal val="#ppt_y"/>
                                          </p:val>
                                        </p:tav>
                                        <p:tav tm="100000">
                                          <p:val>
                                            <p:strVal val="#ppt_y"/>
                                          </p:val>
                                        </p:tav>
                                      </p:tavLst>
                                    </p:anim>
                                    <p:animEffect transition="in" filter="fade">
                                      <p:cBhvr>
                                        <p:cTn id="21" dur="420"/>
                                        <p:tgtEl>
                                          <p:spTgt spid="9"/>
                                        </p:tgtEl>
                                      </p:cBhvr>
                                    </p:animEffect>
                                  </p:childTnLst>
                                </p:cTn>
                              </p:par>
                              <p:par>
                                <p:cTn id="22" presetID="2" presetClass="entr" presetSubtype="2"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600" decel="100000" fill="hold"/>
                                        <p:tgtEl>
                                          <p:spTgt spid="10"/>
                                        </p:tgtEl>
                                        <p:attrNameLst>
                                          <p:attrName>ppt_x</p:attrName>
                                        </p:attrNameLst>
                                      </p:cBhvr>
                                      <p:tavLst>
                                        <p:tav tm="0">
                                          <p:val>
                                            <p:strVal val="#ppt_x+0.35"/>
                                          </p:val>
                                        </p:tav>
                                        <p:tav tm="100000">
                                          <p:val>
                                            <p:strVal val="#ppt_x"/>
                                          </p:val>
                                        </p:tav>
                                      </p:tavLst>
                                    </p:anim>
                                    <p:anim calcmode="lin" valueType="num">
                                      <p:cBhvr additive="base">
                                        <p:cTn id="25" dur="600" decel="100000" fill="hold"/>
                                        <p:tgtEl>
                                          <p:spTgt spid="10"/>
                                        </p:tgtEl>
                                        <p:attrNameLst>
                                          <p:attrName>ppt_y</p:attrName>
                                        </p:attrNameLst>
                                      </p:cBhvr>
                                      <p:tavLst>
                                        <p:tav tm="0">
                                          <p:val>
                                            <p:strVal val="#ppt_y"/>
                                          </p:val>
                                        </p:tav>
                                        <p:tav tm="100000">
                                          <p:val>
                                            <p:strVal val="#ppt_y"/>
                                          </p:val>
                                        </p:tav>
                                      </p:tavLst>
                                    </p:anim>
                                    <p:animEffect transition="in" filter="fade">
                                      <p:cBhvr>
                                        <p:cTn id="26"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3" dur="275"/>
                                        <p:tgtEl>
                                          <p:spTgt spid="11"/>
                                        </p:tgtEl>
                                      </p:cBhvr>
                                    </p:animEffect>
                                  </p:childTnLst>
                                </p:cTn>
                              </p:par>
                              <p:par>
                                <p:cTn id="34" presetID="2" presetClass="entr" presetSubtype="2"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600" decel="100000" fill="hold"/>
                                        <p:tgtEl>
                                          <p:spTgt spid="12"/>
                                        </p:tgtEl>
                                        <p:attrNameLst>
                                          <p:attrName>ppt_x</p:attrName>
                                        </p:attrNameLst>
                                      </p:cBhvr>
                                      <p:tavLst>
                                        <p:tav tm="0">
                                          <p:val>
                                            <p:strVal val="#ppt_x+0.35"/>
                                          </p:val>
                                        </p:tav>
                                        <p:tav tm="100000">
                                          <p:val>
                                            <p:strVal val="#ppt_x"/>
                                          </p:val>
                                        </p:tav>
                                      </p:tavLst>
                                    </p:anim>
                                    <p:anim calcmode="lin" valueType="num">
                                      <p:cBhvr additive="base">
                                        <p:cTn id="37" dur="600" decel="100000" fill="hold"/>
                                        <p:tgtEl>
                                          <p:spTgt spid="12"/>
                                        </p:tgtEl>
                                        <p:attrNameLst>
                                          <p:attrName>ppt_y</p:attrName>
                                        </p:attrNameLst>
                                      </p:cBhvr>
                                      <p:tavLst>
                                        <p:tav tm="0">
                                          <p:val>
                                            <p:strVal val="#ppt_y"/>
                                          </p:val>
                                        </p:tav>
                                        <p:tav tm="100000">
                                          <p:val>
                                            <p:strVal val="#ppt_y"/>
                                          </p:val>
                                        </p:tav>
                                      </p:tavLst>
                                    </p:anim>
                                    <p:animEffect transition="in" filter="fade">
                                      <p:cBhvr>
                                        <p:cTn id="38" dur="420"/>
                                        <p:tgtEl>
                                          <p:spTgt spid="12"/>
                                        </p:tgtEl>
                                      </p:cBhvr>
                                    </p:animEffect>
                                  </p:childTnLst>
                                </p:cTn>
                              </p:par>
                              <p:par>
                                <p:cTn id="39" presetID="2" presetClass="entr" presetSubtype="2"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600" decel="100000" fill="hold"/>
                                        <p:tgtEl>
                                          <p:spTgt spid="13"/>
                                        </p:tgtEl>
                                        <p:attrNameLst>
                                          <p:attrName>ppt_x</p:attrName>
                                        </p:attrNameLst>
                                      </p:cBhvr>
                                      <p:tavLst>
                                        <p:tav tm="0">
                                          <p:val>
                                            <p:strVal val="#ppt_x+0.35"/>
                                          </p:val>
                                        </p:tav>
                                        <p:tav tm="100000">
                                          <p:val>
                                            <p:strVal val="#ppt_x"/>
                                          </p:val>
                                        </p:tav>
                                      </p:tavLst>
                                    </p:anim>
                                    <p:anim calcmode="lin" valueType="num">
                                      <p:cBhvr additive="base">
                                        <p:cTn id="42" dur="600" decel="100000" fill="hold"/>
                                        <p:tgtEl>
                                          <p:spTgt spid="13"/>
                                        </p:tgtEl>
                                        <p:attrNameLst>
                                          <p:attrName>ppt_y</p:attrName>
                                        </p:attrNameLst>
                                      </p:cBhvr>
                                      <p:tavLst>
                                        <p:tav tm="0">
                                          <p:val>
                                            <p:strVal val="#ppt_y"/>
                                          </p:val>
                                        </p:tav>
                                        <p:tav tm="100000">
                                          <p:val>
                                            <p:strVal val="#ppt_y"/>
                                          </p:val>
                                        </p:tav>
                                      </p:tavLst>
                                    </p:anim>
                                    <p:animEffect transition="in" filter="fade">
                                      <p:cBhvr>
                                        <p:cTn id="43" dur="42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9"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0" dur="275"/>
                                        <p:tgtEl>
                                          <p:spTgt spid="14"/>
                                        </p:tgtEl>
                                      </p:cBhvr>
                                    </p:animEffect>
                                  </p:childTnLst>
                                </p:cTn>
                              </p:par>
                              <p:par>
                                <p:cTn id="51" presetID="2" presetClass="entr" presetSubtype="2"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600" decel="100000" fill="hold"/>
                                        <p:tgtEl>
                                          <p:spTgt spid="15"/>
                                        </p:tgtEl>
                                        <p:attrNameLst>
                                          <p:attrName>ppt_x</p:attrName>
                                        </p:attrNameLst>
                                      </p:cBhvr>
                                      <p:tavLst>
                                        <p:tav tm="0">
                                          <p:val>
                                            <p:strVal val="#ppt_x+0.35"/>
                                          </p:val>
                                        </p:tav>
                                        <p:tav tm="100000">
                                          <p:val>
                                            <p:strVal val="#ppt_x"/>
                                          </p:val>
                                        </p:tav>
                                      </p:tavLst>
                                    </p:anim>
                                    <p:anim calcmode="lin" valueType="num">
                                      <p:cBhvr additive="base">
                                        <p:cTn id="54" dur="600" decel="100000" fill="hold"/>
                                        <p:tgtEl>
                                          <p:spTgt spid="15"/>
                                        </p:tgtEl>
                                        <p:attrNameLst>
                                          <p:attrName>ppt_y</p:attrName>
                                        </p:attrNameLst>
                                      </p:cBhvr>
                                      <p:tavLst>
                                        <p:tav tm="0">
                                          <p:val>
                                            <p:strVal val="#ppt_y"/>
                                          </p:val>
                                        </p:tav>
                                        <p:tav tm="100000">
                                          <p:val>
                                            <p:strVal val="#ppt_y"/>
                                          </p:val>
                                        </p:tav>
                                      </p:tavLst>
                                    </p:anim>
                                    <p:animEffect transition="in" filter="fade">
                                      <p:cBhvr>
                                        <p:cTn id="55" dur="420"/>
                                        <p:tgtEl>
                                          <p:spTgt spid="15"/>
                                        </p:tgtEl>
                                      </p:cBhvr>
                                    </p:animEffect>
                                  </p:childTnLst>
                                </p:cTn>
                              </p:par>
                              <p:par>
                                <p:cTn id="56" presetID="2" presetClass="entr" presetSubtype="2"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600" decel="100000" fill="hold"/>
                                        <p:tgtEl>
                                          <p:spTgt spid="16"/>
                                        </p:tgtEl>
                                        <p:attrNameLst>
                                          <p:attrName>ppt_x</p:attrName>
                                        </p:attrNameLst>
                                      </p:cBhvr>
                                      <p:tavLst>
                                        <p:tav tm="0">
                                          <p:val>
                                            <p:strVal val="#ppt_x+0.35"/>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
                                          </p:val>
                                        </p:tav>
                                        <p:tav tm="100000">
                                          <p:val>
                                            <p:strVal val="#ppt_y"/>
                                          </p:val>
                                        </p:tav>
                                      </p:tavLst>
                                    </p:anim>
                                    <p:animEffect transition="in" filter="fade">
                                      <p:cBhvr>
                                        <p:cTn id="60" dur="42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6"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7" dur="275"/>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P spid="13"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0" y="26666"/>
            <a:ext cx="12191695" cy="6804667"/>
          </a:xfrm>
          <a:prstGeom prst="rect">
            <a:avLst/>
          </a:prstGeom>
        </p:spPr>
      </p:pic>
      <p:sp>
        <p:nvSpPr>
          <p:cNvPr id="3" name="!!title"/>
          <p:cNvSpPr txBox="1"/>
          <p:nvPr/>
        </p:nvSpPr>
        <p:spPr>
          <a:xfrm>
            <a:off x="182880" y="164592"/>
            <a:ext cx="1737360" cy="402336"/>
          </a:xfrm>
          <a:prstGeom prst="roundRect">
            <a:avLst>
              <a:gd name="adj" fmla="val 45455"/>
            </a:avLst>
          </a:prstGeom>
          <a:solidFill>
            <a:srgbClr val="2E8B74"/>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Wederopbouw</a:t>
            </a:r>
            <a:endParaRPr lang="nl-NL" sz="1500" dirty="0"/>
          </a:p>
        </p:txBody>
      </p:sp>
      <p:sp>
        <p:nvSpPr>
          <p:cNvPr id="4" name="!!wline"/>
          <p:cNvSpPr/>
          <p:nvPr/>
        </p:nvSpPr>
        <p:spPr>
          <a:xfrm>
            <a:off x="411480" y="1389888"/>
            <a:ext cx="11368735" cy="0"/>
          </a:xfrm>
          <a:prstGeom prst="line">
            <a:avLst/>
          </a:prstGeom>
          <a:noFill/>
          <a:ln w="50800">
            <a:solidFill>
              <a:srgbClr val="F28C38"/>
            </a:solidFill>
            <a:prstDash val="solid"/>
          </a:ln>
        </p:spPr>
        <p:txBody>
          <a:bodyPr/>
          <a:lstStyle/>
          <a:p>
            <a:endParaRPr lang="nl-NL"/>
          </a:p>
        </p:txBody>
      </p:sp>
      <p:sp>
        <p:nvSpPr>
          <p:cNvPr id="5" name="!!wb0"/>
          <p:cNvSpPr/>
          <p:nvPr/>
        </p:nvSpPr>
        <p:spPr>
          <a:xfrm>
            <a:off x="1195008"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6" name="!!wbt0"/>
          <p:cNvSpPr txBox="1"/>
          <p:nvPr/>
        </p:nvSpPr>
        <p:spPr>
          <a:xfrm>
            <a:off x="1195008"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1</a:t>
            </a:r>
            <a:endParaRPr lang="nl-NL" sz="1500" dirty="0"/>
          </a:p>
        </p:txBody>
      </p:sp>
      <p:sp>
        <p:nvSpPr>
          <p:cNvPr id="7" name="!!wb1"/>
          <p:cNvSpPr/>
          <p:nvPr/>
        </p:nvSpPr>
        <p:spPr>
          <a:xfrm>
            <a:off x="4247665"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8" name="!!wbt1"/>
          <p:cNvSpPr txBox="1"/>
          <p:nvPr/>
        </p:nvSpPr>
        <p:spPr>
          <a:xfrm>
            <a:off x="4247665"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2</a:t>
            </a:r>
            <a:endParaRPr lang="nl-NL" sz="1500" dirty="0"/>
          </a:p>
        </p:txBody>
      </p:sp>
      <p:sp>
        <p:nvSpPr>
          <p:cNvPr id="9" name="!!wb2"/>
          <p:cNvSpPr/>
          <p:nvPr/>
        </p:nvSpPr>
        <p:spPr>
          <a:xfrm>
            <a:off x="7465970"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10" name="!!wbt2"/>
          <p:cNvSpPr txBox="1"/>
          <p:nvPr/>
        </p:nvSpPr>
        <p:spPr>
          <a:xfrm>
            <a:off x="7465970"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3</a:t>
            </a:r>
            <a:endParaRPr lang="nl-NL" sz="1500" dirty="0"/>
          </a:p>
        </p:txBody>
      </p:sp>
      <p:sp>
        <p:nvSpPr>
          <p:cNvPr id="11" name="!!wb3"/>
          <p:cNvSpPr/>
          <p:nvPr/>
        </p:nvSpPr>
        <p:spPr>
          <a:xfrm>
            <a:off x="10494962"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12" name="!!wbt3"/>
          <p:cNvSpPr txBox="1"/>
          <p:nvPr/>
        </p:nvSpPr>
        <p:spPr>
          <a:xfrm>
            <a:off x="10494962"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4</a:t>
            </a:r>
            <a:endParaRPr lang="nl-NL"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200"/>
                                        <p:tgtEl>
                                          <p:spTgt spid="4"/>
                                        </p:tgtEl>
                                      </p:cBhvr>
                                    </p:animEffect>
                                  </p:childTnLst>
                                </p:cTn>
                              </p:par>
                            </p:childTnLst>
                          </p:cTn>
                        </p:par>
                        <p:par>
                          <p:cTn id="8" fill="hold">
                            <p:stCondLst>
                              <p:cond delay="12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3" dur="275"/>
                                        <p:tgtEl>
                                          <p:spTgt spid="5"/>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7"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8" dur="275"/>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4"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5" dur="275"/>
                                        <p:tgtEl>
                                          <p:spTgt spid="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9"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0" dur="275"/>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6"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7" dur="275"/>
                                        <p:tgtEl>
                                          <p:spTgt spid="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1"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2" dur="275"/>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8"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9" dur="275"/>
                                        <p:tgtEl>
                                          <p:spTgt spid="11"/>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3"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4" dur="275"/>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0" y="-2632387"/>
            <a:ext cx="25355608" cy="14151967"/>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s14_phase"/>
          <p:cNvSpPr txBox="1"/>
          <p:nvPr/>
        </p:nvSpPr>
        <p:spPr>
          <a:xfrm>
            <a:off x="7927848" y="1527048"/>
            <a:ext cx="3639312" cy="685800"/>
          </a:xfrm>
          <a:prstGeom prst="roundRect">
            <a:avLst>
              <a:gd name="adj" fmla="val 10667"/>
            </a:avLst>
          </a:prstGeom>
          <a:solidFill>
            <a:srgbClr val="F28C38"/>
          </a:solidFill>
          <a:ln/>
        </p:spPr>
        <p:txBody>
          <a:bodyPr wrap="square" lIns="50800" tIns="127000" rIns="127000" bIns="50800" rtlCol="0" anchor="ctr"/>
          <a:lstStyle/>
          <a:p>
            <a:pPr marL="0" indent="0" algn="l">
              <a:buNone/>
            </a:pPr>
            <a:r>
              <a:rPr lang="nl-NL" sz="1700" b="1" dirty="0">
                <a:solidFill>
                  <a:srgbClr val="FFFFFF"/>
                </a:solidFill>
                <a:latin typeface="Calibri" pitchFamily="34" charset="0"/>
                <a:ea typeface="Calibri" pitchFamily="34" charset="-122"/>
                <a:cs typeface="Calibri" pitchFamily="34" charset="-120"/>
              </a:rPr>
              <a:t>Fase 1 · 1945: de sobere start</a:t>
            </a:r>
            <a:endParaRPr lang="nl-NL" sz="1700" dirty="0"/>
          </a:p>
        </p:txBody>
      </p:sp>
      <p:sp>
        <p:nvSpPr>
          <p:cNvPr id="7" name="s14_bd0"/>
          <p:cNvSpPr/>
          <p:nvPr/>
        </p:nvSpPr>
        <p:spPr>
          <a:xfrm>
            <a:off x="7927848" y="2537460"/>
            <a:ext cx="118872" cy="118872"/>
          </a:xfrm>
          <a:prstGeom prst="ellipse">
            <a:avLst/>
          </a:prstGeom>
          <a:solidFill>
            <a:srgbClr val="F28C38"/>
          </a:solidFill>
          <a:ln/>
        </p:spPr>
        <p:txBody>
          <a:bodyPr/>
          <a:lstStyle/>
          <a:p>
            <a:endParaRPr lang="nl-NL"/>
          </a:p>
        </p:txBody>
      </p:sp>
      <p:sp>
        <p:nvSpPr>
          <p:cNvPr id="8" name="s14_b0"/>
          <p:cNvSpPr txBox="1"/>
          <p:nvPr/>
        </p:nvSpPr>
        <p:spPr>
          <a:xfrm>
            <a:off x="8202168" y="244144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Huizen, fabrieken, bruggen en havens zijn kapot</a:t>
            </a:r>
            <a:endParaRPr lang="nl-NL" sz="1800" dirty="0"/>
          </a:p>
        </p:txBody>
      </p:sp>
      <p:sp>
        <p:nvSpPr>
          <p:cNvPr id="9" name="s14_bd1"/>
          <p:cNvSpPr/>
          <p:nvPr/>
        </p:nvSpPr>
        <p:spPr>
          <a:xfrm>
            <a:off x="7927848" y="3323844"/>
            <a:ext cx="118872" cy="118872"/>
          </a:xfrm>
          <a:prstGeom prst="ellipse">
            <a:avLst/>
          </a:prstGeom>
          <a:solidFill>
            <a:srgbClr val="F28C38"/>
          </a:solidFill>
          <a:ln/>
        </p:spPr>
        <p:txBody>
          <a:bodyPr/>
          <a:lstStyle/>
          <a:p>
            <a:endParaRPr lang="nl-NL"/>
          </a:p>
        </p:txBody>
      </p:sp>
      <p:sp>
        <p:nvSpPr>
          <p:cNvPr id="10" name="s14_b1"/>
          <p:cNvSpPr txBox="1"/>
          <p:nvPr/>
        </p:nvSpPr>
        <p:spPr>
          <a:xfrm>
            <a:off x="8202168" y="322783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Eten en kleding blijven op de bon</a:t>
            </a:r>
            <a:endParaRPr lang="nl-NL" sz="1800" dirty="0"/>
          </a:p>
        </p:txBody>
      </p:sp>
      <p:sp>
        <p:nvSpPr>
          <p:cNvPr id="11" name="s14_bd2"/>
          <p:cNvSpPr/>
          <p:nvPr/>
        </p:nvSpPr>
        <p:spPr>
          <a:xfrm>
            <a:off x="7927848" y="4110228"/>
            <a:ext cx="118872" cy="118872"/>
          </a:xfrm>
          <a:prstGeom prst="ellipse">
            <a:avLst/>
          </a:prstGeom>
          <a:solidFill>
            <a:srgbClr val="F28C38"/>
          </a:solidFill>
          <a:ln/>
        </p:spPr>
        <p:txBody>
          <a:bodyPr/>
          <a:lstStyle/>
          <a:p>
            <a:endParaRPr lang="nl-NL"/>
          </a:p>
        </p:txBody>
      </p:sp>
      <p:sp>
        <p:nvSpPr>
          <p:cNvPr id="12" name="s14_b2"/>
          <p:cNvSpPr txBox="1"/>
          <p:nvPr/>
        </p:nvSpPr>
        <p:spPr>
          <a:xfrm>
            <a:off x="8202168" y="4014216"/>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Plan: iedereen werkt hard voor een laag loon</a:t>
            </a:r>
            <a:endParaRPr lang="nl-NL" sz="1800" dirty="0"/>
          </a:p>
        </p:txBody>
      </p:sp>
      <p:sp>
        <p:nvSpPr>
          <p:cNvPr id="13" name="!!ph_line"/>
          <p:cNvSpPr/>
          <p:nvPr/>
        </p:nvSpPr>
        <p:spPr>
          <a:xfrm>
            <a:off x="8065008" y="5477256"/>
            <a:ext cx="2729484" cy="0"/>
          </a:xfrm>
          <a:prstGeom prst="line">
            <a:avLst/>
          </a:prstGeom>
          <a:noFill/>
          <a:ln w="25400">
            <a:solidFill>
              <a:srgbClr val="D3DAE2"/>
            </a:solidFill>
            <a:prstDash val="solid"/>
          </a:ln>
        </p:spPr>
        <p:txBody>
          <a:bodyPr/>
          <a:lstStyle/>
          <a:p>
            <a:endParaRPr lang="nl-NL"/>
          </a:p>
        </p:txBody>
      </p:sp>
      <p:sp>
        <p:nvSpPr>
          <p:cNvPr id="14" name="!!ph_d0"/>
          <p:cNvSpPr/>
          <p:nvPr/>
        </p:nvSpPr>
        <p:spPr>
          <a:xfrm>
            <a:off x="7973568" y="5385816"/>
            <a:ext cx="182880" cy="182880"/>
          </a:xfrm>
          <a:prstGeom prst="ellipse">
            <a:avLst/>
          </a:prstGeom>
          <a:solidFill>
            <a:srgbClr val="C9D1DA"/>
          </a:solidFill>
          <a:ln/>
        </p:spPr>
        <p:txBody>
          <a:bodyPr/>
          <a:lstStyle/>
          <a:p>
            <a:endParaRPr lang="nl-NL"/>
          </a:p>
        </p:txBody>
      </p:sp>
      <p:sp>
        <p:nvSpPr>
          <p:cNvPr id="15" name="!!ph_t0"/>
          <p:cNvSpPr txBox="1"/>
          <p:nvPr/>
        </p:nvSpPr>
        <p:spPr>
          <a:xfrm>
            <a:off x="7607808" y="5605272"/>
            <a:ext cx="914400" cy="228600"/>
          </a:xfrm>
          <a:prstGeom prst="rect">
            <a:avLst/>
          </a:prstGeom>
          <a:noFill/>
          <a:ln/>
        </p:spPr>
        <p:txBody>
          <a:bodyPr wrap="square" lIns="0" tIns="0" rIns="0" bIns="0" rtlCol="0" anchor="t"/>
          <a:lstStyle/>
          <a:p>
            <a:pPr marL="0" indent="0" algn="ctr">
              <a:buNone/>
            </a:pPr>
            <a:r>
              <a:rPr lang="nl-NL" sz="1000" b="1" dirty="0">
                <a:solidFill>
                  <a:srgbClr val="F28C38"/>
                </a:solidFill>
                <a:latin typeface="Calibri" pitchFamily="34" charset="0"/>
                <a:ea typeface="Calibri" pitchFamily="34" charset="-122"/>
                <a:cs typeface="Calibri" pitchFamily="34" charset="-120"/>
              </a:rPr>
              <a:t>1945</a:t>
            </a:r>
            <a:endParaRPr lang="nl-NL" sz="1000" dirty="0"/>
          </a:p>
        </p:txBody>
      </p:sp>
      <p:sp>
        <p:nvSpPr>
          <p:cNvPr id="16" name="!!ph_d1"/>
          <p:cNvSpPr/>
          <p:nvPr/>
        </p:nvSpPr>
        <p:spPr>
          <a:xfrm>
            <a:off x="8883396" y="5385816"/>
            <a:ext cx="182880" cy="182880"/>
          </a:xfrm>
          <a:prstGeom prst="ellipse">
            <a:avLst/>
          </a:prstGeom>
          <a:solidFill>
            <a:srgbClr val="C9D1DA"/>
          </a:solidFill>
          <a:ln/>
        </p:spPr>
        <p:txBody>
          <a:bodyPr/>
          <a:lstStyle/>
          <a:p>
            <a:endParaRPr lang="nl-NL"/>
          </a:p>
        </p:txBody>
      </p:sp>
      <p:sp>
        <p:nvSpPr>
          <p:cNvPr id="17" name="!!ph_t1"/>
          <p:cNvSpPr txBox="1"/>
          <p:nvPr/>
        </p:nvSpPr>
        <p:spPr>
          <a:xfrm>
            <a:off x="8517636"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'48–'54</a:t>
            </a:r>
            <a:endParaRPr lang="nl-NL" sz="1000" dirty="0"/>
          </a:p>
        </p:txBody>
      </p:sp>
      <p:sp>
        <p:nvSpPr>
          <p:cNvPr id="18" name="!!ph_d2"/>
          <p:cNvSpPr/>
          <p:nvPr/>
        </p:nvSpPr>
        <p:spPr>
          <a:xfrm>
            <a:off x="9793224" y="5385816"/>
            <a:ext cx="182880" cy="182880"/>
          </a:xfrm>
          <a:prstGeom prst="ellipse">
            <a:avLst/>
          </a:prstGeom>
          <a:solidFill>
            <a:srgbClr val="C9D1DA"/>
          </a:solidFill>
          <a:ln/>
        </p:spPr>
        <p:txBody>
          <a:bodyPr/>
          <a:lstStyle/>
          <a:p>
            <a:endParaRPr lang="nl-NL"/>
          </a:p>
        </p:txBody>
      </p:sp>
      <p:sp>
        <p:nvSpPr>
          <p:cNvPr id="19" name="!!ph_t2"/>
          <p:cNvSpPr txBox="1"/>
          <p:nvPr/>
        </p:nvSpPr>
        <p:spPr>
          <a:xfrm>
            <a:off x="9427464"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'55–'60</a:t>
            </a:r>
            <a:endParaRPr lang="nl-NL" sz="1000" dirty="0"/>
          </a:p>
        </p:txBody>
      </p:sp>
      <p:sp>
        <p:nvSpPr>
          <p:cNvPr id="20" name="!!ph_d3"/>
          <p:cNvSpPr/>
          <p:nvPr/>
        </p:nvSpPr>
        <p:spPr>
          <a:xfrm>
            <a:off x="10703052" y="5385816"/>
            <a:ext cx="182880" cy="182880"/>
          </a:xfrm>
          <a:prstGeom prst="ellipse">
            <a:avLst/>
          </a:prstGeom>
          <a:solidFill>
            <a:srgbClr val="C9D1DA"/>
          </a:solidFill>
          <a:ln/>
        </p:spPr>
        <p:txBody>
          <a:bodyPr/>
          <a:lstStyle/>
          <a:p>
            <a:endParaRPr lang="nl-NL"/>
          </a:p>
        </p:txBody>
      </p:sp>
      <p:sp>
        <p:nvSpPr>
          <p:cNvPr id="21" name="!!ph_t3"/>
          <p:cNvSpPr txBox="1"/>
          <p:nvPr/>
        </p:nvSpPr>
        <p:spPr>
          <a:xfrm>
            <a:off x="10337292"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 1960</a:t>
            </a:r>
            <a:endParaRPr lang="nl-NL" sz="1000" dirty="0"/>
          </a:p>
        </p:txBody>
      </p:sp>
      <p:sp>
        <p:nvSpPr>
          <p:cNvPr id="22" name="!!ph_act"/>
          <p:cNvSpPr/>
          <p:nvPr/>
        </p:nvSpPr>
        <p:spPr>
          <a:xfrm>
            <a:off x="7918704" y="5330952"/>
            <a:ext cx="292608" cy="292608"/>
          </a:xfrm>
          <a:prstGeom prst="ellipse">
            <a:avLst/>
          </a:prstGeom>
          <a:solidFill>
            <a:srgbClr val="F28C38"/>
          </a:solidFill>
          <a:ln w="25400">
            <a:solidFill>
              <a:srgbClr val="FFFFFF"/>
            </a:solidFill>
            <a:prstDash val="solid"/>
          </a:ln>
        </p:spPr>
        <p:txBody>
          <a:bodyPr/>
          <a:lstStyle/>
          <a:p>
            <a:endParaRPr lang="nl-NL"/>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50"/>
                                        <p:tgtEl>
                                          <p:spTgt spid="7"/>
                                        </p:tgtEl>
                                      </p:cBhvr>
                                    </p:animEffect>
                                    <p:anim calcmode="lin" valueType="num">
                                      <p:cBhvr additive="base">
                                        <p:cTn id="15"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6" dur="650" decel="100000" fill="hold"/>
                                        <p:tgtEl>
                                          <p:spTgt spid="7"/>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50"/>
                                        <p:tgtEl>
                                          <p:spTgt spid="9"/>
                                        </p:tgtEl>
                                      </p:cBhvr>
                                    </p:animEffect>
                                    <p:anim calcmode="lin" valueType="num">
                                      <p:cBhvr additive="base">
                                        <p:cTn id="27"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8" dur="650" decel="100000" fill="hold"/>
                                        <p:tgtEl>
                                          <p:spTgt spid="9"/>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anim calcmode="lin" valueType="num">
                                      <p:cBhvr additive="base">
                                        <p:cTn id="32"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50" decel="100000" fill="hold"/>
                                        <p:tgtEl>
                                          <p:spTgt spid="11"/>
                                        </p:tgtEl>
                                        <p:attrNameLst>
                                          <p:attrName>ppt_y</p:attrName>
                                        </p:attrNameLst>
                                      </p:cBhvr>
                                      <p:tavLst>
                                        <p:tav tm="0">
                                          <p:val>
                                            <p:strVal val="#ppt_y+0.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50"/>
                                        <p:tgtEl>
                                          <p:spTgt spid="12"/>
                                        </p:tgtEl>
                                      </p:cBhvr>
                                    </p:animEffect>
                                    <p:anim calcmode="lin" valueType="num">
                                      <p:cBhvr additive="base">
                                        <p:cTn id="44"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5015773" y="-2583180"/>
            <a:ext cx="24933015" cy="13916101"/>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s15_phase"/>
          <p:cNvSpPr txBox="1"/>
          <p:nvPr/>
        </p:nvSpPr>
        <p:spPr>
          <a:xfrm>
            <a:off x="7927848" y="1527048"/>
            <a:ext cx="3639312" cy="685800"/>
          </a:xfrm>
          <a:prstGeom prst="roundRect">
            <a:avLst>
              <a:gd name="adj" fmla="val 10667"/>
            </a:avLst>
          </a:prstGeom>
          <a:solidFill>
            <a:srgbClr val="F28C38"/>
          </a:solidFill>
          <a:ln/>
        </p:spPr>
        <p:txBody>
          <a:bodyPr wrap="square" lIns="50800" tIns="127000" rIns="127000" bIns="50800" rtlCol="0" anchor="ctr"/>
          <a:lstStyle/>
          <a:p>
            <a:pPr marL="0" indent="0" algn="l">
              <a:buNone/>
            </a:pPr>
            <a:r>
              <a:rPr lang="nl-NL" sz="1700" b="1" dirty="0">
                <a:solidFill>
                  <a:srgbClr val="FFFFFF"/>
                </a:solidFill>
                <a:latin typeface="Calibri" pitchFamily="34" charset="0"/>
                <a:ea typeface="Calibri" pitchFamily="34" charset="-122"/>
                <a:cs typeface="Calibri" pitchFamily="34" charset="-120"/>
              </a:rPr>
              <a:t>Fase 2 · 1948 – 1954: Marshallhulp en harmoniemodel</a:t>
            </a:r>
            <a:endParaRPr lang="nl-NL" sz="1700" dirty="0"/>
          </a:p>
        </p:txBody>
      </p:sp>
      <p:sp>
        <p:nvSpPr>
          <p:cNvPr id="7" name="s15_bd0"/>
          <p:cNvSpPr/>
          <p:nvPr/>
        </p:nvSpPr>
        <p:spPr>
          <a:xfrm>
            <a:off x="7927848" y="2537460"/>
            <a:ext cx="118872" cy="118872"/>
          </a:xfrm>
          <a:prstGeom prst="ellipse">
            <a:avLst/>
          </a:prstGeom>
          <a:solidFill>
            <a:srgbClr val="F28C38"/>
          </a:solidFill>
          <a:ln/>
        </p:spPr>
        <p:txBody>
          <a:bodyPr/>
          <a:lstStyle/>
          <a:p>
            <a:endParaRPr lang="nl-NL"/>
          </a:p>
        </p:txBody>
      </p:sp>
      <p:sp>
        <p:nvSpPr>
          <p:cNvPr id="8" name="s15_b0"/>
          <p:cNvSpPr txBox="1"/>
          <p:nvPr/>
        </p:nvSpPr>
        <p:spPr>
          <a:xfrm>
            <a:off x="8202168" y="244144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Amerika helpt Europa met geld en goederen</a:t>
            </a:r>
            <a:endParaRPr lang="nl-NL" sz="1800" dirty="0"/>
          </a:p>
        </p:txBody>
      </p:sp>
      <p:sp>
        <p:nvSpPr>
          <p:cNvPr id="9" name="s15_bd1"/>
          <p:cNvSpPr/>
          <p:nvPr/>
        </p:nvSpPr>
        <p:spPr>
          <a:xfrm>
            <a:off x="7927848" y="3323844"/>
            <a:ext cx="118872" cy="118872"/>
          </a:xfrm>
          <a:prstGeom prst="ellipse">
            <a:avLst/>
          </a:prstGeom>
          <a:solidFill>
            <a:srgbClr val="F28C38"/>
          </a:solidFill>
          <a:ln/>
        </p:spPr>
        <p:txBody>
          <a:bodyPr/>
          <a:lstStyle/>
          <a:p>
            <a:endParaRPr lang="nl-NL"/>
          </a:p>
        </p:txBody>
      </p:sp>
      <p:sp>
        <p:nvSpPr>
          <p:cNvPr id="10" name="s15_b1"/>
          <p:cNvSpPr txBox="1"/>
          <p:nvPr/>
        </p:nvSpPr>
        <p:spPr>
          <a:xfrm>
            <a:off x="8202168" y="322783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Nederland krijgt ruim 1 miljard dollar</a:t>
            </a:r>
            <a:endParaRPr lang="nl-NL" sz="1800" dirty="0"/>
          </a:p>
        </p:txBody>
      </p:sp>
      <p:sp>
        <p:nvSpPr>
          <p:cNvPr id="11" name="s15_bd2"/>
          <p:cNvSpPr/>
          <p:nvPr/>
        </p:nvSpPr>
        <p:spPr>
          <a:xfrm>
            <a:off x="7927848" y="4110228"/>
            <a:ext cx="118872" cy="118872"/>
          </a:xfrm>
          <a:prstGeom prst="ellipse">
            <a:avLst/>
          </a:prstGeom>
          <a:solidFill>
            <a:srgbClr val="F28C38"/>
          </a:solidFill>
          <a:ln/>
        </p:spPr>
        <p:txBody>
          <a:bodyPr/>
          <a:lstStyle/>
          <a:p>
            <a:endParaRPr lang="nl-NL"/>
          </a:p>
        </p:txBody>
      </p:sp>
      <p:sp>
        <p:nvSpPr>
          <p:cNvPr id="12" name="s15_b2"/>
          <p:cNvSpPr txBox="1"/>
          <p:nvPr/>
        </p:nvSpPr>
        <p:spPr>
          <a:xfrm>
            <a:off x="8202168" y="4014216"/>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Overheid, werkgevers en vakbonden werken samen</a:t>
            </a:r>
            <a:endParaRPr lang="nl-NL" sz="1800" dirty="0"/>
          </a:p>
        </p:txBody>
      </p:sp>
      <p:sp>
        <p:nvSpPr>
          <p:cNvPr id="13" name="!!ph_line"/>
          <p:cNvSpPr/>
          <p:nvPr/>
        </p:nvSpPr>
        <p:spPr>
          <a:xfrm>
            <a:off x="8065008" y="5477256"/>
            <a:ext cx="2729484" cy="0"/>
          </a:xfrm>
          <a:prstGeom prst="line">
            <a:avLst/>
          </a:prstGeom>
          <a:noFill/>
          <a:ln w="25400">
            <a:solidFill>
              <a:srgbClr val="D3DAE2"/>
            </a:solidFill>
            <a:prstDash val="solid"/>
          </a:ln>
        </p:spPr>
        <p:txBody>
          <a:bodyPr/>
          <a:lstStyle/>
          <a:p>
            <a:endParaRPr lang="nl-NL"/>
          </a:p>
        </p:txBody>
      </p:sp>
      <p:sp>
        <p:nvSpPr>
          <p:cNvPr id="14" name="!!ph_d0"/>
          <p:cNvSpPr/>
          <p:nvPr/>
        </p:nvSpPr>
        <p:spPr>
          <a:xfrm>
            <a:off x="7973568" y="5385816"/>
            <a:ext cx="182880" cy="182880"/>
          </a:xfrm>
          <a:prstGeom prst="ellipse">
            <a:avLst/>
          </a:prstGeom>
          <a:solidFill>
            <a:srgbClr val="2E8B74"/>
          </a:solidFill>
          <a:ln/>
        </p:spPr>
        <p:txBody>
          <a:bodyPr/>
          <a:lstStyle/>
          <a:p>
            <a:endParaRPr lang="nl-NL"/>
          </a:p>
        </p:txBody>
      </p:sp>
      <p:sp>
        <p:nvSpPr>
          <p:cNvPr id="15" name="!!ph_t0"/>
          <p:cNvSpPr txBox="1"/>
          <p:nvPr/>
        </p:nvSpPr>
        <p:spPr>
          <a:xfrm>
            <a:off x="7607808"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1945</a:t>
            </a:r>
            <a:endParaRPr lang="nl-NL" sz="1000" dirty="0"/>
          </a:p>
        </p:txBody>
      </p:sp>
      <p:sp>
        <p:nvSpPr>
          <p:cNvPr id="16" name="!!ph_d1"/>
          <p:cNvSpPr/>
          <p:nvPr/>
        </p:nvSpPr>
        <p:spPr>
          <a:xfrm>
            <a:off x="8883396" y="5385816"/>
            <a:ext cx="182880" cy="182880"/>
          </a:xfrm>
          <a:prstGeom prst="ellipse">
            <a:avLst/>
          </a:prstGeom>
          <a:solidFill>
            <a:srgbClr val="C9D1DA"/>
          </a:solidFill>
          <a:ln/>
        </p:spPr>
        <p:txBody>
          <a:bodyPr/>
          <a:lstStyle/>
          <a:p>
            <a:endParaRPr lang="nl-NL"/>
          </a:p>
        </p:txBody>
      </p:sp>
      <p:sp>
        <p:nvSpPr>
          <p:cNvPr id="17" name="!!ph_t1"/>
          <p:cNvSpPr txBox="1"/>
          <p:nvPr/>
        </p:nvSpPr>
        <p:spPr>
          <a:xfrm>
            <a:off x="8517636" y="5605272"/>
            <a:ext cx="914400" cy="228600"/>
          </a:xfrm>
          <a:prstGeom prst="rect">
            <a:avLst/>
          </a:prstGeom>
          <a:noFill/>
          <a:ln/>
        </p:spPr>
        <p:txBody>
          <a:bodyPr wrap="square" lIns="0" tIns="0" rIns="0" bIns="0" rtlCol="0" anchor="t"/>
          <a:lstStyle/>
          <a:p>
            <a:pPr marL="0" indent="0" algn="ctr">
              <a:buNone/>
            </a:pPr>
            <a:r>
              <a:rPr lang="nl-NL" sz="1000" b="1" dirty="0">
                <a:solidFill>
                  <a:srgbClr val="F28C38"/>
                </a:solidFill>
                <a:latin typeface="Calibri" pitchFamily="34" charset="0"/>
                <a:ea typeface="Calibri" pitchFamily="34" charset="-122"/>
                <a:cs typeface="Calibri" pitchFamily="34" charset="-120"/>
              </a:rPr>
              <a:t>'48–'54</a:t>
            </a:r>
            <a:endParaRPr lang="nl-NL" sz="1000" dirty="0"/>
          </a:p>
        </p:txBody>
      </p:sp>
      <p:sp>
        <p:nvSpPr>
          <p:cNvPr id="18" name="!!ph_d2"/>
          <p:cNvSpPr/>
          <p:nvPr/>
        </p:nvSpPr>
        <p:spPr>
          <a:xfrm>
            <a:off x="9793224" y="5385816"/>
            <a:ext cx="182880" cy="182880"/>
          </a:xfrm>
          <a:prstGeom prst="ellipse">
            <a:avLst/>
          </a:prstGeom>
          <a:solidFill>
            <a:srgbClr val="C9D1DA"/>
          </a:solidFill>
          <a:ln/>
        </p:spPr>
        <p:txBody>
          <a:bodyPr/>
          <a:lstStyle/>
          <a:p>
            <a:endParaRPr lang="nl-NL"/>
          </a:p>
        </p:txBody>
      </p:sp>
      <p:sp>
        <p:nvSpPr>
          <p:cNvPr id="19" name="!!ph_t2"/>
          <p:cNvSpPr txBox="1"/>
          <p:nvPr/>
        </p:nvSpPr>
        <p:spPr>
          <a:xfrm>
            <a:off x="9427464"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'55–'60</a:t>
            </a:r>
            <a:endParaRPr lang="nl-NL" sz="1000" dirty="0"/>
          </a:p>
        </p:txBody>
      </p:sp>
      <p:sp>
        <p:nvSpPr>
          <p:cNvPr id="20" name="!!ph_d3"/>
          <p:cNvSpPr/>
          <p:nvPr/>
        </p:nvSpPr>
        <p:spPr>
          <a:xfrm>
            <a:off x="10703052" y="5385816"/>
            <a:ext cx="182880" cy="182880"/>
          </a:xfrm>
          <a:prstGeom prst="ellipse">
            <a:avLst/>
          </a:prstGeom>
          <a:solidFill>
            <a:srgbClr val="C9D1DA"/>
          </a:solidFill>
          <a:ln/>
        </p:spPr>
        <p:txBody>
          <a:bodyPr/>
          <a:lstStyle/>
          <a:p>
            <a:endParaRPr lang="nl-NL"/>
          </a:p>
        </p:txBody>
      </p:sp>
      <p:sp>
        <p:nvSpPr>
          <p:cNvPr id="21" name="!!ph_t3"/>
          <p:cNvSpPr txBox="1"/>
          <p:nvPr/>
        </p:nvSpPr>
        <p:spPr>
          <a:xfrm>
            <a:off x="10337292"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 1960</a:t>
            </a:r>
            <a:endParaRPr lang="nl-NL" sz="1000" dirty="0"/>
          </a:p>
        </p:txBody>
      </p:sp>
      <p:sp>
        <p:nvSpPr>
          <p:cNvPr id="22" name="!!ph_act"/>
          <p:cNvSpPr/>
          <p:nvPr/>
        </p:nvSpPr>
        <p:spPr>
          <a:xfrm>
            <a:off x="8828532" y="5330952"/>
            <a:ext cx="292608" cy="292608"/>
          </a:xfrm>
          <a:prstGeom prst="ellipse">
            <a:avLst/>
          </a:prstGeom>
          <a:solidFill>
            <a:srgbClr val="F28C38"/>
          </a:solidFill>
          <a:ln w="25400">
            <a:solidFill>
              <a:srgbClr val="FFFFFF"/>
            </a:solidFill>
            <a:prstDash val="solid"/>
          </a:ln>
        </p:spPr>
        <p:txBody>
          <a:bodyPr/>
          <a:lstStyle/>
          <a:p>
            <a:endParaRPr lang="nl-NL"/>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50"/>
                                        <p:tgtEl>
                                          <p:spTgt spid="7"/>
                                        </p:tgtEl>
                                      </p:cBhvr>
                                    </p:animEffect>
                                    <p:anim calcmode="lin" valueType="num">
                                      <p:cBhvr additive="base">
                                        <p:cTn id="15"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6" dur="650" decel="100000" fill="hold"/>
                                        <p:tgtEl>
                                          <p:spTgt spid="7"/>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50"/>
                                        <p:tgtEl>
                                          <p:spTgt spid="9"/>
                                        </p:tgtEl>
                                      </p:cBhvr>
                                    </p:animEffect>
                                    <p:anim calcmode="lin" valueType="num">
                                      <p:cBhvr additive="base">
                                        <p:cTn id="27"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8" dur="650" decel="100000" fill="hold"/>
                                        <p:tgtEl>
                                          <p:spTgt spid="9"/>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anim calcmode="lin" valueType="num">
                                      <p:cBhvr additive="base">
                                        <p:cTn id="32"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50" decel="100000" fill="hold"/>
                                        <p:tgtEl>
                                          <p:spTgt spid="11"/>
                                        </p:tgtEl>
                                        <p:attrNameLst>
                                          <p:attrName>ppt_y</p:attrName>
                                        </p:attrNameLst>
                                      </p:cBhvr>
                                      <p:tavLst>
                                        <p:tav tm="0">
                                          <p:val>
                                            <p:strVal val="#ppt_y+0.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50"/>
                                        <p:tgtEl>
                                          <p:spTgt spid="12"/>
                                        </p:tgtEl>
                                      </p:cBhvr>
                                    </p:animEffect>
                                    <p:anim calcmode="lin" valueType="num">
                                      <p:cBhvr additive="base">
                                        <p:cTn id="44"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0" y="26666"/>
            <a:ext cx="12191695" cy="6804667"/>
          </a:xfrm>
          <a:prstGeom prst="rect">
            <a:avLst/>
          </a:prstGeom>
        </p:spPr>
      </p:pic>
      <p:sp>
        <p:nvSpPr>
          <p:cNvPr id="3" name="!!title"/>
          <p:cNvSpPr txBox="1"/>
          <p:nvPr/>
        </p:nvSpPr>
        <p:spPr>
          <a:xfrm>
            <a:off x="182880" y="6327648"/>
            <a:ext cx="1737360" cy="402336"/>
          </a:xfrm>
          <a:prstGeom prst="roundRect">
            <a:avLst>
              <a:gd name="adj" fmla="val 45455"/>
            </a:avLst>
          </a:prstGeom>
          <a:solidFill>
            <a:srgbClr val="2E8B74"/>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Wederopbouw</a:t>
            </a:r>
            <a:endParaRPr lang="nl-NL" sz="1500" dirty="0"/>
          </a:p>
        </p:txBody>
      </p:sp>
      <p:sp>
        <p:nvSpPr>
          <p:cNvPr id="4" name="s16_c1"/>
          <p:cNvSpPr txBox="1"/>
          <p:nvPr/>
        </p:nvSpPr>
        <p:spPr>
          <a:xfrm>
            <a:off x="320040" y="925753"/>
            <a:ext cx="1129792" cy="329184"/>
          </a:xfrm>
          <a:prstGeom prst="roundRect">
            <a:avLst>
              <a:gd name="adj" fmla="val 41667"/>
            </a:avLst>
          </a:prstGeom>
          <a:solidFill>
            <a:srgbClr val="5B6B82"/>
          </a:solidFill>
          <a:ln/>
        </p:spPr>
        <p:txBody>
          <a:bodyPr wrap="square" lIns="0" tIns="0" rIns="0" bIns="0" rtlCol="0" anchor="ctr"/>
          <a:lstStyle/>
          <a:p>
            <a:pPr marL="0" indent="0" algn="ctr">
              <a:buNone/>
            </a:pPr>
            <a:r>
              <a:rPr lang="nl-NL" sz="1300" b="1" kern="0" spc="100" dirty="0">
                <a:solidFill>
                  <a:srgbClr val="FFFFFF"/>
                </a:solidFill>
                <a:latin typeface="Calibri" pitchFamily="34" charset="0"/>
                <a:ea typeface="Calibri" pitchFamily="34" charset="-122"/>
                <a:cs typeface="Calibri" pitchFamily="34" charset="-120"/>
              </a:rPr>
              <a:t>PROBLEEM</a:t>
            </a:r>
            <a:endParaRPr lang="nl-NL" sz="1300" dirty="0"/>
          </a:p>
        </p:txBody>
      </p:sp>
      <p:sp>
        <p:nvSpPr>
          <p:cNvPr id="5" name="s16_c2"/>
          <p:cNvSpPr txBox="1"/>
          <p:nvPr/>
        </p:nvSpPr>
        <p:spPr>
          <a:xfrm>
            <a:off x="10503602" y="925753"/>
            <a:ext cx="1232154" cy="329184"/>
          </a:xfrm>
          <a:prstGeom prst="roundRect">
            <a:avLst>
              <a:gd name="adj" fmla="val 41667"/>
            </a:avLst>
          </a:prstGeom>
          <a:solidFill>
            <a:srgbClr val="F28C38"/>
          </a:solidFill>
          <a:ln/>
        </p:spPr>
        <p:txBody>
          <a:bodyPr wrap="square" lIns="0" tIns="0" rIns="0" bIns="0" rtlCol="0" anchor="ctr"/>
          <a:lstStyle/>
          <a:p>
            <a:pPr marL="0" indent="0" algn="ctr">
              <a:buNone/>
            </a:pPr>
            <a:r>
              <a:rPr lang="nl-NL" sz="1300" b="1" kern="0" spc="100" dirty="0">
                <a:solidFill>
                  <a:srgbClr val="FFFFFF"/>
                </a:solidFill>
                <a:latin typeface="Calibri" pitchFamily="34" charset="0"/>
                <a:ea typeface="Calibri" pitchFamily="34" charset="-122"/>
                <a:cs typeface="Calibri" pitchFamily="34" charset="-120"/>
              </a:rPr>
              <a:t>RESULTAAT</a:t>
            </a:r>
            <a:endParaRPr lang="nl-NL" sz="1300" dirty="0"/>
          </a:p>
        </p:txBody>
      </p:sp>
      <p:sp>
        <p:nvSpPr>
          <p:cNvPr id="6" name="s16_arr"/>
          <p:cNvSpPr/>
          <p:nvPr/>
        </p:nvSpPr>
        <p:spPr>
          <a:xfrm>
            <a:off x="4892040" y="3063240"/>
            <a:ext cx="2377440" cy="685800"/>
          </a:xfrm>
          <a:prstGeom prst="rightArrow">
            <a:avLst/>
          </a:prstGeom>
          <a:solidFill>
            <a:srgbClr val="F28C38">
              <a:alpha val="90000"/>
            </a:srgbClr>
          </a:solidFill>
          <a:ln/>
        </p:spPr>
        <p:txBody>
          <a:bodyPr/>
          <a:lstStyle/>
          <a:p>
            <a:endParaRPr lang="nl-NL"/>
          </a:p>
        </p:txBody>
      </p:sp>
      <p:sp>
        <p:nvSpPr>
          <p:cNvPr id="7" name="s16_arrt"/>
          <p:cNvSpPr txBox="1"/>
          <p:nvPr/>
        </p:nvSpPr>
        <p:spPr>
          <a:xfrm>
            <a:off x="4892040" y="3063240"/>
            <a:ext cx="2103120" cy="685800"/>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Marshallhulp</a:t>
            </a:r>
            <a:endParaRPr lang="nl-NL" sz="1600" dirty="0"/>
          </a:p>
        </p:txBody>
      </p:sp>
      <p:sp>
        <p:nvSpPr>
          <p:cNvPr id="8"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9"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0" name="!!rd_d1"/>
          <p:cNvSpPr/>
          <p:nvPr/>
        </p:nvSpPr>
        <p:spPr>
          <a:xfrm>
            <a:off x="2944368" y="6437376"/>
            <a:ext cx="128016" cy="128016"/>
          </a:xfrm>
          <a:prstGeom prst="ellipse">
            <a:avLst/>
          </a:prstGeom>
          <a:solidFill>
            <a:srgbClr val="1E2A3A"/>
          </a:solidFill>
          <a:ln/>
        </p:spPr>
        <p:txBody>
          <a:bodyPr/>
          <a:lstStyle/>
          <a:p>
            <a:endParaRPr lang="nl-NL"/>
          </a:p>
        </p:txBody>
      </p:sp>
      <p:sp>
        <p:nvSpPr>
          <p:cNvPr id="11"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2" name="!!rd_d2"/>
          <p:cNvSpPr/>
          <p:nvPr/>
        </p:nvSpPr>
        <p:spPr>
          <a:xfrm>
            <a:off x="4078224" y="6437376"/>
            <a:ext cx="128016" cy="128016"/>
          </a:xfrm>
          <a:prstGeom prst="ellipse">
            <a:avLst/>
          </a:prstGeom>
          <a:solidFill>
            <a:srgbClr val="C9D1DA"/>
          </a:solidFill>
          <a:ln/>
        </p:spPr>
        <p:txBody>
          <a:bodyPr/>
          <a:lstStyle/>
          <a:p>
            <a:endParaRPr lang="nl-NL"/>
          </a:p>
        </p:txBody>
      </p:sp>
      <p:sp>
        <p:nvSpPr>
          <p:cNvPr id="13"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14" name="!!rd_d3"/>
          <p:cNvSpPr/>
          <p:nvPr/>
        </p:nvSpPr>
        <p:spPr>
          <a:xfrm>
            <a:off x="5212080" y="6437376"/>
            <a:ext cx="128016" cy="128016"/>
          </a:xfrm>
          <a:prstGeom prst="ellipse">
            <a:avLst/>
          </a:prstGeom>
          <a:solidFill>
            <a:srgbClr val="C9D1DA"/>
          </a:solidFill>
          <a:ln/>
        </p:spPr>
        <p:txBody>
          <a:bodyPr/>
          <a:lstStyle/>
          <a:p>
            <a:endParaRPr lang="nl-NL"/>
          </a:p>
        </p:txBody>
      </p:sp>
      <p:sp>
        <p:nvSpPr>
          <p:cNvPr id="15"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16" name="!!rd_d4"/>
          <p:cNvSpPr/>
          <p:nvPr/>
        </p:nvSpPr>
        <p:spPr>
          <a:xfrm>
            <a:off x="6345936" y="6437376"/>
            <a:ext cx="128016" cy="128016"/>
          </a:xfrm>
          <a:prstGeom prst="ellipse">
            <a:avLst/>
          </a:prstGeom>
          <a:solidFill>
            <a:srgbClr val="C9D1DA"/>
          </a:solidFill>
          <a:ln/>
        </p:spPr>
        <p:txBody>
          <a:bodyPr/>
          <a:lstStyle/>
          <a:p>
            <a:endParaRPr lang="nl-NL"/>
          </a:p>
        </p:txBody>
      </p:sp>
      <p:sp>
        <p:nvSpPr>
          <p:cNvPr id="17"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18" name="!!rd_d5"/>
          <p:cNvSpPr/>
          <p:nvPr/>
        </p:nvSpPr>
        <p:spPr>
          <a:xfrm>
            <a:off x="7479792" y="6437376"/>
            <a:ext cx="128016" cy="128016"/>
          </a:xfrm>
          <a:prstGeom prst="ellipse">
            <a:avLst/>
          </a:prstGeom>
          <a:solidFill>
            <a:srgbClr val="C9D1DA"/>
          </a:solidFill>
          <a:ln/>
        </p:spPr>
        <p:txBody>
          <a:bodyPr/>
          <a:lstStyle/>
          <a:p>
            <a:endParaRPr lang="nl-NL"/>
          </a:p>
        </p:txBody>
      </p:sp>
      <p:sp>
        <p:nvSpPr>
          <p:cNvPr id="19"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0"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
        <p:nvSpPr>
          <p:cNvPr id="21" name="s16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22" name="s16_tv_dot"/>
          <p:cNvSpPr/>
          <p:nvPr/>
        </p:nvSpPr>
        <p:spPr>
          <a:xfrm>
            <a:off x="8979408" y="6373368"/>
            <a:ext cx="256032" cy="256032"/>
          </a:xfrm>
          <a:prstGeom prst="ellipse">
            <a:avLst/>
          </a:prstGeom>
          <a:solidFill>
            <a:srgbClr val="2F7BB5"/>
          </a:solidFill>
          <a:ln/>
        </p:spPr>
        <p:txBody>
          <a:bodyPr/>
          <a:lstStyle/>
          <a:p>
            <a:endParaRPr lang="nl-NL"/>
          </a:p>
        </p:txBody>
      </p:sp>
      <p:pic>
        <p:nvPicPr>
          <p:cNvPr id="23" name="s16_tv_play" descr="play_w">
            <a:hlinkClick r:id="rId4" tooltip="Open op Schooltv"/>
          </p:cNvPr>
          <p:cNvPicPr>
            <a:picLocks noChangeAspect="1"/>
          </p:cNvPicPr>
          <p:nvPr/>
        </p:nvPicPr>
        <p:blipFill>
          <a:blip r:embed="rId5"/>
          <a:stretch>
            <a:fillRect/>
          </a:stretch>
        </p:blipFill>
        <p:spPr>
          <a:xfrm>
            <a:off x="9052560" y="6437376"/>
            <a:ext cx="128016" cy="128016"/>
          </a:xfrm>
          <a:prstGeom prst="rect">
            <a:avLst/>
          </a:prstGeom>
        </p:spPr>
      </p:pic>
      <p:sp>
        <p:nvSpPr>
          <p:cNvPr id="24" name="s16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4" tooltip="Open op Schooltv">
                  <a:extLst>
                    <a:ext uri="{A12FA001-AC4F-418D-AE19-62706E023703}">
                      <ahyp:hlinkClr xmlns:ahyp="http://schemas.microsoft.com/office/drawing/2018/hyperlinkcolor" val="tx"/>
                    </a:ext>
                  </a:extLst>
                </a:hlinkClick>
              </a:rPr>
              <a:t>Schooltv: Het Marshallplan</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650"/>
                                        <p:tgtEl>
                                          <p:spTgt spid="6"/>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650"/>
                                        <p:tgtEl>
                                          <p:spTgt spid="7"/>
                                        </p:tgtEl>
                                      </p:cBhvr>
                                    </p:animEffect>
                                  </p:childTnLst>
                                </p:cTn>
                              </p:par>
                            </p:childTnLst>
                          </p:cTn>
                        </p:par>
                        <p:par>
                          <p:cTn id="18" fill="hold">
                            <p:stCondLst>
                              <p:cond delay="650"/>
                            </p:stCondLst>
                            <p:childTnLst>
                              <p:par>
                                <p:cTn id="19" presetID="53" presetClass="entr" presetSubtype="16"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2"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3" dur="275"/>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0" y="-1170520"/>
            <a:ext cx="14384432" cy="8028520"/>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 MARSHALLHULP</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ms0"/>
          <p:cNvSpPr/>
          <p:nvPr/>
        </p:nvSpPr>
        <p:spPr>
          <a:xfrm>
            <a:off x="7927848" y="1554480"/>
            <a:ext cx="329184" cy="329184"/>
          </a:xfrm>
          <a:prstGeom prst="ellipse">
            <a:avLst/>
          </a:prstGeom>
          <a:solidFill>
            <a:srgbClr val="F28C38"/>
          </a:solidFill>
          <a:ln/>
        </p:spPr>
        <p:txBody>
          <a:bodyPr/>
          <a:lstStyle/>
          <a:p>
            <a:endParaRPr lang="nl-NL"/>
          </a:p>
        </p:txBody>
      </p:sp>
      <p:sp>
        <p:nvSpPr>
          <p:cNvPr id="7" name="!!mst0"/>
          <p:cNvSpPr txBox="1"/>
          <p:nvPr/>
        </p:nvSpPr>
        <p:spPr>
          <a:xfrm>
            <a:off x="7927848"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1</a:t>
            </a:r>
            <a:endParaRPr lang="nl-NL" sz="1200" dirty="0"/>
          </a:p>
        </p:txBody>
      </p:sp>
      <p:sp>
        <p:nvSpPr>
          <p:cNvPr id="8" name="!!ms1"/>
          <p:cNvSpPr/>
          <p:nvPr/>
        </p:nvSpPr>
        <p:spPr>
          <a:xfrm>
            <a:off x="8348472" y="1554480"/>
            <a:ext cx="329184" cy="329184"/>
          </a:xfrm>
          <a:prstGeom prst="ellipse">
            <a:avLst/>
          </a:prstGeom>
          <a:solidFill>
            <a:srgbClr val="D7DEE5"/>
          </a:solidFill>
          <a:ln/>
        </p:spPr>
        <p:txBody>
          <a:bodyPr/>
          <a:lstStyle/>
          <a:p>
            <a:endParaRPr lang="nl-NL"/>
          </a:p>
        </p:txBody>
      </p:sp>
      <p:sp>
        <p:nvSpPr>
          <p:cNvPr id="9" name="!!mst1"/>
          <p:cNvSpPr txBox="1"/>
          <p:nvPr/>
        </p:nvSpPr>
        <p:spPr>
          <a:xfrm>
            <a:off x="8348472"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2</a:t>
            </a:r>
            <a:endParaRPr lang="nl-NL" sz="1200" dirty="0"/>
          </a:p>
        </p:txBody>
      </p:sp>
      <p:sp>
        <p:nvSpPr>
          <p:cNvPr id="10" name="!!ms2"/>
          <p:cNvSpPr/>
          <p:nvPr/>
        </p:nvSpPr>
        <p:spPr>
          <a:xfrm>
            <a:off x="8769096" y="1554480"/>
            <a:ext cx="329184" cy="329184"/>
          </a:xfrm>
          <a:prstGeom prst="ellipse">
            <a:avLst/>
          </a:prstGeom>
          <a:solidFill>
            <a:srgbClr val="D7DEE5"/>
          </a:solidFill>
          <a:ln/>
        </p:spPr>
        <p:txBody>
          <a:bodyPr/>
          <a:lstStyle/>
          <a:p>
            <a:endParaRPr lang="nl-NL"/>
          </a:p>
        </p:txBody>
      </p:sp>
      <p:sp>
        <p:nvSpPr>
          <p:cNvPr id="11" name="!!mst2"/>
          <p:cNvSpPr txBox="1"/>
          <p:nvPr/>
        </p:nvSpPr>
        <p:spPr>
          <a:xfrm>
            <a:off x="8769096"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3</a:t>
            </a:r>
            <a:endParaRPr lang="nl-NL" sz="1200" dirty="0"/>
          </a:p>
        </p:txBody>
      </p:sp>
      <p:sp>
        <p:nvSpPr>
          <p:cNvPr id="12" name="!!ms3"/>
          <p:cNvSpPr/>
          <p:nvPr/>
        </p:nvSpPr>
        <p:spPr>
          <a:xfrm>
            <a:off x="9189720" y="1554480"/>
            <a:ext cx="329184" cy="329184"/>
          </a:xfrm>
          <a:prstGeom prst="ellipse">
            <a:avLst/>
          </a:prstGeom>
          <a:solidFill>
            <a:srgbClr val="D7DEE5"/>
          </a:solidFill>
          <a:ln/>
        </p:spPr>
        <p:txBody>
          <a:bodyPr/>
          <a:lstStyle/>
          <a:p>
            <a:endParaRPr lang="nl-NL"/>
          </a:p>
        </p:txBody>
      </p:sp>
      <p:sp>
        <p:nvSpPr>
          <p:cNvPr id="13" name="!!mst3"/>
          <p:cNvSpPr txBox="1"/>
          <p:nvPr/>
        </p:nvSpPr>
        <p:spPr>
          <a:xfrm>
            <a:off x="9189720"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4</a:t>
            </a:r>
            <a:endParaRPr lang="nl-NL" sz="1200" dirty="0"/>
          </a:p>
        </p:txBody>
      </p:sp>
      <p:sp>
        <p:nvSpPr>
          <p:cNvPr id="14" name="!!ms4"/>
          <p:cNvSpPr/>
          <p:nvPr/>
        </p:nvSpPr>
        <p:spPr>
          <a:xfrm>
            <a:off x="9610344" y="1554480"/>
            <a:ext cx="329184" cy="329184"/>
          </a:xfrm>
          <a:prstGeom prst="ellipse">
            <a:avLst/>
          </a:prstGeom>
          <a:solidFill>
            <a:srgbClr val="D7DEE5"/>
          </a:solidFill>
          <a:ln/>
        </p:spPr>
        <p:txBody>
          <a:bodyPr/>
          <a:lstStyle/>
          <a:p>
            <a:endParaRPr lang="nl-NL"/>
          </a:p>
        </p:txBody>
      </p:sp>
      <p:sp>
        <p:nvSpPr>
          <p:cNvPr id="15" name="!!mst4"/>
          <p:cNvSpPr txBox="1"/>
          <p:nvPr/>
        </p:nvSpPr>
        <p:spPr>
          <a:xfrm>
            <a:off x="9610344"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5</a:t>
            </a:r>
            <a:endParaRPr lang="nl-NL" sz="1200" dirty="0"/>
          </a:p>
        </p:txBody>
      </p:sp>
      <p:sp>
        <p:nvSpPr>
          <p:cNvPr id="16" name="!!mslbl"/>
          <p:cNvSpPr txBox="1"/>
          <p:nvPr/>
        </p:nvSpPr>
        <p:spPr>
          <a:xfrm>
            <a:off x="10104120" y="1572768"/>
            <a:ext cx="1463040" cy="310896"/>
          </a:xfrm>
          <a:prstGeom prst="rect">
            <a:avLst/>
          </a:prstGeom>
          <a:noFill/>
          <a:ln/>
        </p:spPr>
        <p:txBody>
          <a:bodyPr wrap="square" lIns="0" tIns="0" rIns="0" bIns="0" rtlCol="0" anchor="ctr"/>
          <a:lstStyle/>
          <a:p>
            <a:pPr marL="0" indent="0" algn="l">
              <a:buNone/>
            </a:pPr>
            <a:r>
              <a:rPr lang="nl-NL" sz="1500" b="1" dirty="0">
                <a:solidFill>
                  <a:srgbClr val="F28C38"/>
                </a:solidFill>
                <a:latin typeface="Calibri" pitchFamily="34" charset="0"/>
                <a:ea typeface="Calibri" pitchFamily="34" charset="-122"/>
                <a:cs typeface="Calibri" pitchFamily="34" charset="-120"/>
              </a:rPr>
              <a:t>Stap 1: Probleem</a:t>
            </a:r>
            <a:endParaRPr lang="nl-NL" sz="1500" dirty="0"/>
          </a:p>
        </p:txBody>
      </p:sp>
      <p:sp>
        <p:nvSpPr>
          <p:cNvPr id="17" name="s17_bd0"/>
          <p:cNvSpPr/>
          <p:nvPr/>
        </p:nvSpPr>
        <p:spPr>
          <a:xfrm>
            <a:off x="7927848" y="2217420"/>
            <a:ext cx="118872" cy="118872"/>
          </a:xfrm>
          <a:prstGeom prst="ellipse">
            <a:avLst/>
          </a:prstGeom>
          <a:solidFill>
            <a:srgbClr val="F28C38"/>
          </a:solidFill>
          <a:ln/>
        </p:spPr>
        <p:txBody>
          <a:bodyPr/>
          <a:lstStyle/>
          <a:p>
            <a:endParaRPr lang="nl-NL"/>
          </a:p>
        </p:txBody>
      </p:sp>
      <p:sp>
        <p:nvSpPr>
          <p:cNvPr id="18" name="s17_b0"/>
          <p:cNvSpPr txBox="1"/>
          <p:nvPr/>
        </p:nvSpPr>
        <p:spPr>
          <a:xfrm>
            <a:off x="8202168" y="2121408"/>
            <a:ext cx="3364992" cy="32918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Nederland ligt in puin</a:t>
            </a:r>
            <a:endParaRPr lang="nl-NL" sz="1800" dirty="0"/>
          </a:p>
        </p:txBody>
      </p:sp>
      <p:sp>
        <p:nvSpPr>
          <p:cNvPr id="19" name="s17_bd1"/>
          <p:cNvSpPr/>
          <p:nvPr/>
        </p:nvSpPr>
        <p:spPr>
          <a:xfrm>
            <a:off x="7927848" y="2729484"/>
            <a:ext cx="118872" cy="118872"/>
          </a:xfrm>
          <a:prstGeom prst="ellipse">
            <a:avLst/>
          </a:prstGeom>
          <a:solidFill>
            <a:srgbClr val="F28C38"/>
          </a:solidFill>
          <a:ln/>
        </p:spPr>
        <p:txBody>
          <a:bodyPr/>
          <a:lstStyle/>
          <a:p>
            <a:endParaRPr lang="nl-NL"/>
          </a:p>
        </p:txBody>
      </p:sp>
      <p:sp>
        <p:nvSpPr>
          <p:cNvPr id="20" name="s17_b1"/>
          <p:cNvSpPr txBox="1"/>
          <p:nvPr/>
        </p:nvSpPr>
        <p:spPr>
          <a:xfrm>
            <a:off x="8202168" y="263347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Er is geen geld en er zijn geen grondstoffen</a:t>
            </a:r>
            <a:endParaRPr lang="nl-NL" sz="1800" dirty="0"/>
          </a:p>
        </p:txBody>
      </p:sp>
      <p:sp>
        <p:nvSpPr>
          <p:cNvPr id="21" name="s17_bd2"/>
          <p:cNvSpPr/>
          <p:nvPr/>
        </p:nvSpPr>
        <p:spPr>
          <a:xfrm>
            <a:off x="7927848" y="3515868"/>
            <a:ext cx="118872" cy="118872"/>
          </a:xfrm>
          <a:prstGeom prst="ellipse">
            <a:avLst/>
          </a:prstGeom>
          <a:solidFill>
            <a:srgbClr val="F28C38"/>
          </a:solidFill>
          <a:ln/>
        </p:spPr>
        <p:txBody>
          <a:bodyPr/>
          <a:lstStyle/>
          <a:p>
            <a:endParaRPr lang="nl-NL"/>
          </a:p>
        </p:txBody>
      </p:sp>
      <p:sp>
        <p:nvSpPr>
          <p:cNvPr id="22" name="s17_b2"/>
          <p:cNvSpPr txBox="1"/>
          <p:nvPr/>
        </p:nvSpPr>
        <p:spPr>
          <a:xfrm>
            <a:off x="8202168" y="3419856"/>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Na de Hongerwinter zijn mensen bang voor chaos en onrust</a:t>
            </a:r>
            <a:endParaRPr lang="nl-NL" sz="1800" dirty="0"/>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50"/>
                                        <p:tgtEl>
                                          <p:spTgt spid="17"/>
                                        </p:tgtEl>
                                      </p:cBhvr>
                                    </p:animEffect>
                                    <p:anim calcmode="lin" valueType="num">
                                      <p:cBhvr additive="base">
                                        <p:cTn id="8" dur="650" decel="100000" fill="hold"/>
                                        <p:tgtEl>
                                          <p:spTgt spid="1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1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650"/>
                                        <p:tgtEl>
                                          <p:spTgt spid="18"/>
                                        </p:tgtEl>
                                      </p:cBhvr>
                                    </p:animEffect>
                                    <p:anim calcmode="lin" valueType="num">
                                      <p:cBhvr additive="base">
                                        <p:cTn id="13"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50"/>
                                        <p:tgtEl>
                                          <p:spTgt spid="19"/>
                                        </p:tgtEl>
                                      </p:cBhvr>
                                    </p:animEffect>
                                    <p:anim calcmode="lin" valueType="num">
                                      <p:cBhvr additive="base">
                                        <p:cTn id="20"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1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50"/>
                                        <p:tgtEl>
                                          <p:spTgt spid="20"/>
                                        </p:tgtEl>
                                      </p:cBhvr>
                                    </p:animEffect>
                                    <p:anim calcmode="lin" valueType="num">
                                      <p:cBhvr additive="base">
                                        <p:cTn id="25"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650"/>
                                        <p:tgtEl>
                                          <p:spTgt spid="21"/>
                                        </p:tgtEl>
                                      </p:cBhvr>
                                    </p:animEffect>
                                    <p:anim calcmode="lin" valueType="num">
                                      <p:cBhvr additive="base">
                                        <p:cTn id="32" dur="650" decel="100000" fill="hold"/>
                                        <p:tgtEl>
                                          <p:spTgt spid="21"/>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21"/>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650"/>
                                        <p:tgtEl>
                                          <p:spTgt spid="22"/>
                                        </p:tgtEl>
                                      </p:cBhvr>
                                    </p:animEffect>
                                    <p:anim calcmode="lin" valueType="num">
                                      <p:cBhvr additive="base">
                                        <p:cTn id="37" dur="650" decel="100000" fill="hold"/>
                                        <p:tgtEl>
                                          <p:spTgt spid="22"/>
                                        </p:tgtEl>
                                        <p:attrNameLst>
                                          <p:attrName>ppt_x</p:attrName>
                                        </p:attrNameLst>
                                      </p:cBhvr>
                                      <p:tavLst>
                                        <p:tav tm="0">
                                          <p:val>
                                            <p:strVal val="#ppt_x"/>
                                          </p:val>
                                        </p:tav>
                                        <p:tav tm="100000">
                                          <p:val>
                                            <p:strVal val="#ppt_x"/>
                                          </p:val>
                                        </p:tav>
                                      </p:tavLst>
                                    </p:anim>
                                    <p:anim calcmode="lin" valueType="num">
                                      <p:cBhvr additive="base">
                                        <p:cTn id="38" dur="650" decel="100000" fill="hold"/>
                                        <p:tgtEl>
                                          <p:spTgt spid="2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1812448" y="-1224226"/>
            <a:ext cx="15914690" cy="8882618"/>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 MARSHALLHULP</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ms0"/>
          <p:cNvSpPr/>
          <p:nvPr/>
        </p:nvSpPr>
        <p:spPr>
          <a:xfrm>
            <a:off x="7927848" y="1554480"/>
            <a:ext cx="329184" cy="329184"/>
          </a:xfrm>
          <a:prstGeom prst="ellipse">
            <a:avLst/>
          </a:prstGeom>
          <a:solidFill>
            <a:srgbClr val="2E8B74"/>
          </a:solidFill>
          <a:ln/>
        </p:spPr>
        <p:txBody>
          <a:bodyPr/>
          <a:lstStyle/>
          <a:p>
            <a:endParaRPr lang="nl-NL"/>
          </a:p>
        </p:txBody>
      </p:sp>
      <p:sp>
        <p:nvSpPr>
          <p:cNvPr id="7" name="!!mst0"/>
          <p:cNvSpPr txBox="1"/>
          <p:nvPr/>
        </p:nvSpPr>
        <p:spPr>
          <a:xfrm>
            <a:off x="7927848"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1</a:t>
            </a:r>
            <a:endParaRPr lang="nl-NL" sz="1200" dirty="0"/>
          </a:p>
        </p:txBody>
      </p:sp>
      <p:sp>
        <p:nvSpPr>
          <p:cNvPr id="8" name="!!ms1"/>
          <p:cNvSpPr/>
          <p:nvPr/>
        </p:nvSpPr>
        <p:spPr>
          <a:xfrm>
            <a:off x="8348472" y="1554480"/>
            <a:ext cx="329184" cy="329184"/>
          </a:xfrm>
          <a:prstGeom prst="ellipse">
            <a:avLst/>
          </a:prstGeom>
          <a:solidFill>
            <a:srgbClr val="F28C38"/>
          </a:solidFill>
          <a:ln/>
        </p:spPr>
        <p:txBody>
          <a:bodyPr/>
          <a:lstStyle/>
          <a:p>
            <a:endParaRPr lang="nl-NL"/>
          </a:p>
        </p:txBody>
      </p:sp>
      <p:sp>
        <p:nvSpPr>
          <p:cNvPr id="9" name="!!mst1"/>
          <p:cNvSpPr txBox="1"/>
          <p:nvPr/>
        </p:nvSpPr>
        <p:spPr>
          <a:xfrm>
            <a:off x="8348472"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2</a:t>
            </a:r>
            <a:endParaRPr lang="nl-NL" sz="1200" dirty="0"/>
          </a:p>
        </p:txBody>
      </p:sp>
      <p:sp>
        <p:nvSpPr>
          <p:cNvPr id="10" name="!!ms2"/>
          <p:cNvSpPr/>
          <p:nvPr/>
        </p:nvSpPr>
        <p:spPr>
          <a:xfrm>
            <a:off x="8769096" y="1554480"/>
            <a:ext cx="329184" cy="329184"/>
          </a:xfrm>
          <a:prstGeom prst="ellipse">
            <a:avLst/>
          </a:prstGeom>
          <a:solidFill>
            <a:srgbClr val="D7DEE5"/>
          </a:solidFill>
          <a:ln/>
        </p:spPr>
        <p:txBody>
          <a:bodyPr/>
          <a:lstStyle/>
          <a:p>
            <a:endParaRPr lang="nl-NL"/>
          </a:p>
        </p:txBody>
      </p:sp>
      <p:sp>
        <p:nvSpPr>
          <p:cNvPr id="11" name="!!mst2"/>
          <p:cNvSpPr txBox="1"/>
          <p:nvPr/>
        </p:nvSpPr>
        <p:spPr>
          <a:xfrm>
            <a:off x="8769096"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3</a:t>
            </a:r>
            <a:endParaRPr lang="nl-NL" sz="1200" dirty="0"/>
          </a:p>
        </p:txBody>
      </p:sp>
      <p:sp>
        <p:nvSpPr>
          <p:cNvPr id="12" name="!!ms3"/>
          <p:cNvSpPr/>
          <p:nvPr/>
        </p:nvSpPr>
        <p:spPr>
          <a:xfrm>
            <a:off x="9189720" y="1554480"/>
            <a:ext cx="329184" cy="329184"/>
          </a:xfrm>
          <a:prstGeom prst="ellipse">
            <a:avLst/>
          </a:prstGeom>
          <a:solidFill>
            <a:srgbClr val="D7DEE5"/>
          </a:solidFill>
          <a:ln/>
        </p:spPr>
        <p:txBody>
          <a:bodyPr/>
          <a:lstStyle/>
          <a:p>
            <a:endParaRPr lang="nl-NL"/>
          </a:p>
        </p:txBody>
      </p:sp>
      <p:sp>
        <p:nvSpPr>
          <p:cNvPr id="13" name="!!mst3"/>
          <p:cNvSpPr txBox="1"/>
          <p:nvPr/>
        </p:nvSpPr>
        <p:spPr>
          <a:xfrm>
            <a:off x="9189720"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4</a:t>
            </a:r>
            <a:endParaRPr lang="nl-NL" sz="1200" dirty="0"/>
          </a:p>
        </p:txBody>
      </p:sp>
      <p:sp>
        <p:nvSpPr>
          <p:cNvPr id="14" name="!!ms4"/>
          <p:cNvSpPr/>
          <p:nvPr/>
        </p:nvSpPr>
        <p:spPr>
          <a:xfrm>
            <a:off x="9610344" y="1554480"/>
            <a:ext cx="329184" cy="329184"/>
          </a:xfrm>
          <a:prstGeom prst="ellipse">
            <a:avLst/>
          </a:prstGeom>
          <a:solidFill>
            <a:srgbClr val="D7DEE5"/>
          </a:solidFill>
          <a:ln/>
        </p:spPr>
        <p:txBody>
          <a:bodyPr/>
          <a:lstStyle/>
          <a:p>
            <a:endParaRPr lang="nl-NL"/>
          </a:p>
        </p:txBody>
      </p:sp>
      <p:sp>
        <p:nvSpPr>
          <p:cNvPr id="15" name="!!mst4"/>
          <p:cNvSpPr txBox="1"/>
          <p:nvPr/>
        </p:nvSpPr>
        <p:spPr>
          <a:xfrm>
            <a:off x="9610344"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5</a:t>
            </a:r>
            <a:endParaRPr lang="nl-NL" sz="1200" dirty="0"/>
          </a:p>
        </p:txBody>
      </p:sp>
      <p:sp>
        <p:nvSpPr>
          <p:cNvPr id="16" name="!!mslbl"/>
          <p:cNvSpPr txBox="1"/>
          <p:nvPr/>
        </p:nvSpPr>
        <p:spPr>
          <a:xfrm>
            <a:off x="10104120" y="1572768"/>
            <a:ext cx="1463040" cy="310896"/>
          </a:xfrm>
          <a:prstGeom prst="rect">
            <a:avLst/>
          </a:prstGeom>
          <a:noFill/>
          <a:ln/>
        </p:spPr>
        <p:txBody>
          <a:bodyPr wrap="square" lIns="0" tIns="0" rIns="0" bIns="0" rtlCol="0" anchor="ctr"/>
          <a:lstStyle/>
          <a:p>
            <a:pPr marL="0" indent="0" algn="l">
              <a:buNone/>
            </a:pPr>
            <a:r>
              <a:rPr lang="nl-NL" sz="1500" b="1" dirty="0">
                <a:solidFill>
                  <a:srgbClr val="F28C38"/>
                </a:solidFill>
                <a:latin typeface="Calibri" pitchFamily="34" charset="0"/>
                <a:ea typeface="Calibri" pitchFamily="34" charset="-122"/>
                <a:cs typeface="Calibri" pitchFamily="34" charset="-120"/>
              </a:rPr>
              <a:t>Stap 2: Hulp</a:t>
            </a:r>
            <a:endParaRPr lang="nl-NL" sz="1500" dirty="0"/>
          </a:p>
        </p:txBody>
      </p:sp>
      <p:sp>
        <p:nvSpPr>
          <p:cNvPr id="17" name="s18_bd0"/>
          <p:cNvSpPr/>
          <p:nvPr/>
        </p:nvSpPr>
        <p:spPr>
          <a:xfrm>
            <a:off x="7927848" y="2217420"/>
            <a:ext cx="118872" cy="118872"/>
          </a:xfrm>
          <a:prstGeom prst="ellipse">
            <a:avLst/>
          </a:prstGeom>
          <a:solidFill>
            <a:srgbClr val="F28C38"/>
          </a:solidFill>
          <a:ln/>
        </p:spPr>
        <p:txBody>
          <a:bodyPr/>
          <a:lstStyle/>
          <a:p>
            <a:endParaRPr lang="nl-NL"/>
          </a:p>
        </p:txBody>
      </p:sp>
      <p:sp>
        <p:nvSpPr>
          <p:cNvPr id="18" name="s18_b0"/>
          <p:cNvSpPr txBox="1"/>
          <p:nvPr/>
        </p:nvSpPr>
        <p:spPr>
          <a:xfrm>
            <a:off x="8202168" y="2121408"/>
            <a:ext cx="3364992" cy="87782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1947: de Amerikaanse minister George Marshall biedt Europa hulp aan</a:t>
            </a:r>
            <a:endParaRPr lang="nl-NL" sz="1800" dirty="0"/>
          </a:p>
        </p:txBody>
      </p:sp>
      <p:sp>
        <p:nvSpPr>
          <p:cNvPr id="19" name="s18_bd1"/>
          <p:cNvSpPr/>
          <p:nvPr/>
        </p:nvSpPr>
        <p:spPr>
          <a:xfrm>
            <a:off x="7927848" y="3278124"/>
            <a:ext cx="118872" cy="118872"/>
          </a:xfrm>
          <a:prstGeom prst="ellipse">
            <a:avLst/>
          </a:prstGeom>
          <a:solidFill>
            <a:srgbClr val="F28C38"/>
          </a:solidFill>
          <a:ln/>
        </p:spPr>
        <p:txBody>
          <a:bodyPr/>
          <a:lstStyle/>
          <a:p>
            <a:endParaRPr lang="nl-NL"/>
          </a:p>
        </p:txBody>
      </p:sp>
      <p:sp>
        <p:nvSpPr>
          <p:cNvPr id="20" name="s18_b1"/>
          <p:cNvSpPr txBox="1"/>
          <p:nvPr/>
        </p:nvSpPr>
        <p:spPr>
          <a:xfrm>
            <a:off x="8202168" y="318211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Nederland krijgt 1948 – 1954 ruim 1 miljard dollar</a:t>
            </a:r>
            <a:endParaRPr lang="nl-NL" sz="1800" dirty="0"/>
          </a:p>
        </p:txBody>
      </p:sp>
      <p:sp>
        <p:nvSpPr>
          <p:cNvPr id="21" name="s18_chev0"/>
          <p:cNvSpPr/>
          <p:nvPr/>
        </p:nvSpPr>
        <p:spPr>
          <a:xfrm rot="2280000">
            <a:off x="2269998" y="2527927"/>
            <a:ext cx="731520" cy="402336"/>
          </a:xfrm>
          <a:prstGeom prst="chevron">
            <a:avLst/>
          </a:prstGeom>
          <a:solidFill>
            <a:srgbClr val="F28C38"/>
          </a:solidFill>
          <a:ln/>
        </p:spPr>
        <p:txBody>
          <a:bodyPr/>
          <a:lstStyle/>
          <a:p>
            <a:endParaRPr lang="nl-NL"/>
          </a:p>
        </p:txBody>
      </p:sp>
      <p:sp>
        <p:nvSpPr>
          <p:cNvPr id="22" name="s18_chev1"/>
          <p:cNvSpPr/>
          <p:nvPr/>
        </p:nvSpPr>
        <p:spPr>
          <a:xfrm rot="2280000">
            <a:off x="3134927" y="3269175"/>
            <a:ext cx="731520" cy="402336"/>
          </a:xfrm>
          <a:prstGeom prst="chevron">
            <a:avLst/>
          </a:prstGeom>
          <a:solidFill>
            <a:srgbClr val="F28C38"/>
          </a:solidFill>
          <a:ln/>
        </p:spPr>
        <p:txBody>
          <a:bodyPr/>
          <a:lstStyle/>
          <a:p>
            <a:endParaRPr lang="nl-NL"/>
          </a:p>
        </p:txBody>
      </p:sp>
      <p:sp>
        <p:nvSpPr>
          <p:cNvPr id="23" name="s18_chev2"/>
          <p:cNvSpPr/>
          <p:nvPr/>
        </p:nvSpPr>
        <p:spPr>
          <a:xfrm rot="2280000">
            <a:off x="3938075" y="4010422"/>
            <a:ext cx="731520" cy="402336"/>
          </a:xfrm>
          <a:prstGeom prst="chevron">
            <a:avLst/>
          </a:prstGeom>
          <a:solidFill>
            <a:srgbClr val="F28C38"/>
          </a:solidFill>
          <a:ln/>
        </p:spPr>
        <p:txBody>
          <a:bodyPr/>
          <a:lstStyle/>
          <a:p>
            <a:endParaRPr lang="nl-NL"/>
          </a:p>
        </p:txBody>
      </p:sp>
      <p:sp>
        <p:nvSpPr>
          <p:cNvPr id="24" name="s18_chev3"/>
          <p:cNvSpPr/>
          <p:nvPr/>
        </p:nvSpPr>
        <p:spPr>
          <a:xfrm rot="2280000">
            <a:off x="4741223" y="4813441"/>
            <a:ext cx="731520" cy="402336"/>
          </a:xfrm>
          <a:prstGeom prst="chevron">
            <a:avLst/>
          </a:prstGeom>
          <a:solidFill>
            <a:srgbClr val="F28C38"/>
          </a:solidFill>
          <a:ln/>
        </p:spPr>
        <p:txBody>
          <a:bodyPr/>
          <a:lstStyle/>
          <a:p>
            <a:endParaRPr lang="nl-NL"/>
          </a:p>
        </p:txBody>
      </p:sp>
      <p:sp>
        <p:nvSpPr>
          <p:cNvPr id="2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7" name="!!rd_d1"/>
          <p:cNvSpPr/>
          <p:nvPr/>
        </p:nvSpPr>
        <p:spPr>
          <a:xfrm>
            <a:off x="2944368" y="6437376"/>
            <a:ext cx="128016" cy="128016"/>
          </a:xfrm>
          <a:prstGeom prst="ellipse">
            <a:avLst/>
          </a:prstGeom>
          <a:solidFill>
            <a:srgbClr val="1E2A3A"/>
          </a:solidFill>
          <a:ln/>
        </p:spPr>
        <p:txBody>
          <a:bodyPr/>
          <a:lstStyle/>
          <a:p>
            <a:endParaRPr lang="nl-NL"/>
          </a:p>
        </p:txBody>
      </p:sp>
      <p:sp>
        <p:nvSpPr>
          <p:cNvPr id="2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9" name="!!rd_d2"/>
          <p:cNvSpPr/>
          <p:nvPr/>
        </p:nvSpPr>
        <p:spPr>
          <a:xfrm>
            <a:off x="4078224" y="6437376"/>
            <a:ext cx="128016" cy="128016"/>
          </a:xfrm>
          <a:prstGeom prst="ellipse">
            <a:avLst/>
          </a:prstGeom>
          <a:solidFill>
            <a:srgbClr val="C9D1DA"/>
          </a:solidFill>
          <a:ln/>
        </p:spPr>
        <p:txBody>
          <a:bodyPr/>
          <a:lstStyle/>
          <a:p>
            <a:endParaRPr lang="nl-NL"/>
          </a:p>
        </p:txBody>
      </p:sp>
      <p:sp>
        <p:nvSpPr>
          <p:cNvPr id="3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31" name="!!rd_d3"/>
          <p:cNvSpPr/>
          <p:nvPr/>
        </p:nvSpPr>
        <p:spPr>
          <a:xfrm>
            <a:off x="5212080" y="6437376"/>
            <a:ext cx="128016" cy="128016"/>
          </a:xfrm>
          <a:prstGeom prst="ellipse">
            <a:avLst/>
          </a:prstGeom>
          <a:solidFill>
            <a:srgbClr val="C9D1DA"/>
          </a:solidFill>
          <a:ln/>
        </p:spPr>
        <p:txBody>
          <a:bodyPr/>
          <a:lstStyle/>
          <a:p>
            <a:endParaRPr lang="nl-NL"/>
          </a:p>
        </p:txBody>
      </p:sp>
      <p:sp>
        <p:nvSpPr>
          <p:cNvPr id="3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3" name="!!rd_d4"/>
          <p:cNvSpPr/>
          <p:nvPr/>
        </p:nvSpPr>
        <p:spPr>
          <a:xfrm>
            <a:off x="6345936" y="6437376"/>
            <a:ext cx="128016" cy="128016"/>
          </a:xfrm>
          <a:prstGeom prst="ellipse">
            <a:avLst/>
          </a:prstGeom>
          <a:solidFill>
            <a:srgbClr val="C9D1DA"/>
          </a:solidFill>
          <a:ln/>
        </p:spPr>
        <p:txBody>
          <a:bodyPr/>
          <a:lstStyle/>
          <a:p>
            <a:endParaRPr lang="nl-NL"/>
          </a:p>
        </p:txBody>
      </p:sp>
      <p:sp>
        <p:nvSpPr>
          <p:cNvPr id="3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5" name="!!rd_d5"/>
          <p:cNvSpPr/>
          <p:nvPr/>
        </p:nvSpPr>
        <p:spPr>
          <a:xfrm>
            <a:off x="7479792" y="6437376"/>
            <a:ext cx="128016" cy="128016"/>
          </a:xfrm>
          <a:prstGeom prst="ellipse">
            <a:avLst/>
          </a:prstGeom>
          <a:solidFill>
            <a:srgbClr val="C9D1DA"/>
          </a:solidFill>
          <a:ln/>
        </p:spPr>
        <p:txBody>
          <a:bodyPr/>
          <a:lstStyle/>
          <a:p>
            <a:endParaRPr lang="nl-NL"/>
          </a:p>
        </p:txBody>
      </p:sp>
      <p:sp>
        <p:nvSpPr>
          <p:cNvPr id="3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7"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50"/>
                                        <p:tgtEl>
                                          <p:spTgt spid="17"/>
                                        </p:tgtEl>
                                      </p:cBhvr>
                                    </p:animEffect>
                                    <p:anim calcmode="lin" valueType="num">
                                      <p:cBhvr additive="base">
                                        <p:cTn id="8" dur="650" decel="100000" fill="hold"/>
                                        <p:tgtEl>
                                          <p:spTgt spid="1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1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650"/>
                                        <p:tgtEl>
                                          <p:spTgt spid="18"/>
                                        </p:tgtEl>
                                      </p:cBhvr>
                                    </p:animEffect>
                                    <p:anim calcmode="lin" valueType="num">
                                      <p:cBhvr additive="base">
                                        <p:cTn id="13"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50"/>
                                        <p:tgtEl>
                                          <p:spTgt spid="19"/>
                                        </p:tgtEl>
                                      </p:cBhvr>
                                    </p:animEffect>
                                    <p:anim calcmode="lin" valueType="num">
                                      <p:cBhvr additive="base">
                                        <p:cTn id="20"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1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50"/>
                                        <p:tgtEl>
                                          <p:spTgt spid="20"/>
                                        </p:tgtEl>
                                      </p:cBhvr>
                                    </p:animEffect>
                                    <p:anim calcmode="lin" valueType="num">
                                      <p:cBhvr additive="base">
                                        <p:cTn id="25"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350" decel="100000" fill="hold"/>
                                        <p:tgtEl>
                                          <p:spTgt spid="21"/>
                                        </p:tgtEl>
                                        <p:attrNameLst>
                                          <p:attrName>ppt_x</p:attrName>
                                        </p:attrNameLst>
                                      </p:cBhvr>
                                      <p:tavLst>
                                        <p:tav tm="0">
                                          <p:val>
                                            <p:strVal val="#ppt_x-0.35"/>
                                          </p:val>
                                        </p:tav>
                                        <p:tav tm="100000">
                                          <p:val>
                                            <p:strVal val="#ppt_x"/>
                                          </p:val>
                                        </p:tav>
                                      </p:tavLst>
                                    </p:anim>
                                    <p:anim calcmode="lin" valueType="num">
                                      <p:cBhvr additive="base">
                                        <p:cTn id="32" dur="350" decel="100000" fill="hold"/>
                                        <p:tgtEl>
                                          <p:spTgt spid="21"/>
                                        </p:tgtEl>
                                        <p:attrNameLst>
                                          <p:attrName>ppt_y</p:attrName>
                                        </p:attrNameLst>
                                      </p:cBhvr>
                                      <p:tavLst>
                                        <p:tav tm="0">
                                          <p:val>
                                            <p:strVal val="#ppt_y"/>
                                          </p:val>
                                        </p:tav>
                                        <p:tav tm="100000">
                                          <p:val>
                                            <p:strVal val="#ppt_y"/>
                                          </p:val>
                                        </p:tav>
                                      </p:tavLst>
                                    </p:anim>
                                    <p:animEffect transition="in" filter="fade">
                                      <p:cBhvr>
                                        <p:cTn id="33" dur="244"/>
                                        <p:tgtEl>
                                          <p:spTgt spid="21"/>
                                        </p:tgtEl>
                                      </p:cBhvr>
                                    </p:animEffect>
                                  </p:childTnLst>
                                </p:cTn>
                              </p:par>
                            </p:childTnLst>
                          </p:cTn>
                        </p:par>
                        <p:par>
                          <p:cTn id="34" fill="hold">
                            <p:stCondLst>
                              <p:cond delay="350"/>
                            </p:stCondLst>
                            <p:childTnLst>
                              <p:par>
                                <p:cTn id="35" presetID="2" presetClass="entr" presetSubtype="8"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350" decel="100000" fill="hold"/>
                                        <p:tgtEl>
                                          <p:spTgt spid="22"/>
                                        </p:tgtEl>
                                        <p:attrNameLst>
                                          <p:attrName>ppt_x</p:attrName>
                                        </p:attrNameLst>
                                      </p:cBhvr>
                                      <p:tavLst>
                                        <p:tav tm="0">
                                          <p:val>
                                            <p:strVal val="#ppt_x-0.35"/>
                                          </p:val>
                                        </p:tav>
                                        <p:tav tm="100000">
                                          <p:val>
                                            <p:strVal val="#ppt_x"/>
                                          </p:val>
                                        </p:tav>
                                      </p:tavLst>
                                    </p:anim>
                                    <p:anim calcmode="lin" valueType="num">
                                      <p:cBhvr additive="base">
                                        <p:cTn id="38" dur="350" decel="100000" fill="hold"/>
                                        <p:tgtEl>
                                          <p:spTgt spid="22"/>
                                        </p:tgtEl>
                                        <p:attrNameLst>
                                          <p:attrName>ppt_y</p:attrName>
                                        </p:attrNameLst>
                                      </p:cBhvr>
                                      <p:tavLst>
                                        <p:tav tm="0">
                                          <p:val>
                                            <p:strVal val="#ppt_y"/>
                                          </p:val>
                                        </p:tav>
                                        <p:tav tm="100000">
                                          <p:val>
                                            <p:strVal val="#ppt_y"/>
                                          </p:val>
                                        </p:tav>
                                      </p:tavLst>
                                    </p:anim>
                                    <p:animEffect transition="in" filter="fade">
                                      <p:cBhvr>
                                        <p:cTn id="39" dur="244"/>
                                        <p:tgtEl>
                                          <p:spTgt spid="22"/>
                                        </p:tgtEl>
                                      </p:cBhvr>
                                    </p:animEffect>
                                  </p:childTnLst>
                                </p:cTn>
                              </p:par>
                            </p:childTnLst>
                          </p:cTn>
                        </p:par>
                        <p:par>
                          <p:cTn id="40" fill="hold">
                            <p:stCondLst>
                              <p:cond delay="700"/>
                            </p:stCondLst>
                            <p:childTnLst>
                              <p:par>
                                <p:cTn id="41" presetID="2" presetClass="entr" presetSubtype="8"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350" decel="100000" fill="hold"/>
                                        <p:tgtEl>
                                          <p:spTgt spid="23"/>
                                        </p:tgtEl>
                                        <p:attrNameLst>
                                          <p:attrName>ppt_x</p:attrName>
                                        </p:attrNameLst>
                                      </p:cBhvr>
                                      <p:tavLst>
                                        <p:tav tm="0">
                                          <p:val>
                                            <p:strVal val="#ppt_x-0.35"/>
                                          </p:val>
                                        </p:tav>
                                        <p:tav tm="100000">
                                          <p:val>
                                            <p:strVal val="#ppt_x"/>
                                          </p:val>
                                        </p:tav>
                                      </p:tavLst>
                                    </p:anim>
                                    <p:anim calcmode="lin" valueType="num">
                                      <p:cBhvr additive="base">
                                        <p:cTn id="44" dur="350" decel="100000" fill="hold"/>
                                        <p:tgtEl>
                                          <p:spTgt spid="23"/>
                                        </p:tgtEl>
                                        <p:attrNameLst>
                                          <p:attrName>ppt_y</p:attrName>
                                        </p:attrNameLst>
                                      </p:cBhvr>
                                      <p:tavLst>
                                        <p:tav tm="0">
                                          <p:val>
                                            <p:strVal val="#ppt_y"/>
                                          </p:val>
                                        </p:tav>
                                        <p:tav tm="100000">
                                          <p:val>
                                            <p:strVal val="#ppt_y"/>
                                          </p:val>
                                        </p:tav>
                                      </p:tavLst>
                                    </p:anim>
                                    <p:animEffect transition="in" filter="fade">
                                      <p:cBhvr>
                                        <p:cTn id="45" dur="244"/>
                                        <p:tgtEl>
                                          <p:spTgt spid="23"/>
                                        </p:tgtEl>
                                      </p:cBhvr>
                                    </p:animEffect>
                                  </p:childTnLst>
                                </p:cTn>
                              </p:par>
                            </p:childTnLst>
                          </p:cTn>
                        </p:par>
                        <p:par>
                          <p:cTn id="46" fill="hold">
                            <p:stCondLst>
                              <p:cond delay="1050"/>
                            </p:stCondLst>
                            <p:childTnLst>
                              <p:par>
                                <p:cTn id="47" presetID="2" presetClass="entr" presetSubtype="8"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350" decel="100000" fill="hold"/>
                                        <p:tgtEl>
                                          <p:spTgt spid="24"/>
                                        </p:tgtEl>
                                        <p:attrNameLst>
                                          <p:attrName>ppt_x</p:attrName>
                                        </p:attrNameLst>
                                      </p:cBhvr>
                                      <p:tavLst>
                                        <p:tav tm="0">
                                          <p:val>
                                            <p:strVal val="#ppt_x-0.35"/>
                                          </p:val>
                                        </p:tav>
                                        <p:tav tm="100000">
                                          <p:val>
                                            <p:strVal val="#ppt_x"/>
                                          </p:val>
                                        </p:tav>
                                      </p:tavLst>
                                    </p:anim>
                                    <p:anim calcmode="lin" valueType="num">
                                      <p:cBhvr additive="base">
                                        <p:cTn id="50" dur="350" decel="100000" fill="hold"/>
                                        <p:tgtEl>
                                          <p:spTgt spid="24"/>
                                        </p:tgtEl>
                                        <p:attrNameLst>
                                          <p:attrName>ppt_y</p:attrName>
                                        </p:attrNameLst>
                                      </p:cBhvr>
                                      <p:tavLst>
                                        <p:tav tm="0">
                                          <p:val>
                                            <p:strVal val="#ppt_y"/>
                                          </p:val>
                                        </p:tav>
                                        <p:tav tm="100000">
                                          <p:val>
                                            <p:strVal val="#ppt_y"/>
                                          </p:val>
                                        </p:tav>
                                      </p:tavLst>
                                    </p:anim>
                                    <p:animEffect transition="in" filter="fade">
                                      <p:cBhvr>
                                        <p:cTn id="51" dur="244"/>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4430315" y="-1615440"/>
            <a:ext cx="16622010" cy="9277401"/>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 MARSHALLHULP</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ms0"/>
          <p:cNvSpPr/>
          <p:nvPr/>
        </p:nvSpPr>
        <p:spPr>
          <a:xfrm>
            <a:off x="7927848" y="1554480"/>
            <a:ext cx="329184" cy="329184"/>
          </a:xfrm>
          <a:prstGeom prst="ellipse">
            <a:avLst/>
          </a:prstGeom>
          <a:solidFill>
            <a:srgbClr val="2E8B74"/>
          </a:solidFill>
          <a:ln/>
        </p:spPr>
        <p:txBody>
          <a:bodyPr/>
          <a:lstStyle/>
          <a:p>
            <a:endParaRPr lang="nl-NL"/>
          </a:p>
        </p:txBody>
      </p:sp>
      <p:sp>
        <p:nvSpPr>
          <p:cNvPr id="7" name="!!mst0"/>
          <p:cNvSpPr txBox="1"/>
          <p:nvPr/>
        </p:nvSpPr>
        <p:spPr>
          <a:xfrm>
            <a:off x="7927848"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1</a:t>
            </a:r>
            <a:endParaRPr lang="nl-NL" sz="1200" dirty="0"/>
          </a:p>
        </p:txBody>
      </p:sp>
      <p:sp>
        <p:nvSpPr>
          <p:cNvPr id="8" name="!!ms1"/>
          <p:cNvSpPr/>
          <p:nvPr/>
        </p:nvSpPr>
        <p:spPr>
          <a:xfrm>
            <a:off x="8348472" y="1554480"/>
            <a:ext cx="329184" cy="329184"/>
          </a:xfrm>
          <a:prstGeom prst="ellipse">
            <a:avLst/>
          </a:prstGeom>
          <a:solidFill>
            <a:srgbClr val="2E8B74"/>
          </a:solidFill>
          <a:ln/>
        </p:spPr>
        <p:txBody>
          <a:bodyPr/>
          <a:lstStyle/>
          <a:p>
            <a:endParaRPr lang="nl-NL"/>
          </a:p>
        </p:txBody>
      </p:sp>
      <p:sp>
        <p:nvSpPr>
          <p:cNvPr id="9" name="!!mst1"/>
          <p:cNvSpPr txBox="1"/>
          <p:nvPr/>
        </p:nvSpPr>
        <p:spPr>
          <a:xfrm>
            <a:off x="8348472"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2</a:t>
            </a:r>
            <a:endParaRPr lang="nl-NL" sz="1200" dirty="0"/>
          </a:p>
        </p:txBody>
      </p:sp>
      <p:sp>
        <p:nvSpPr>
          <p:cNvPr id="10" name="!!ms2"/>
          <p:cNvSpPr/>
          <p:nvPr/>
        </p:nvSpPr>
        <p:spPr>
          <a:xfrm>
            <a:off x="8769096" y="1554480"/>
            <a:ext cx="329184" cy="329184"/>
          </a:xfrm>
          <a:prstGeom prst="ellipse">
            <a:avLst/>
          </a:prstGeom>
          <a:solidFill>
            <a:srgbClr val="F28C38"/>
          </a:solidFill>
          <a:ln/>
        </p:spPr>
        <p:txBody>
          <a:bodyPr/>
          <a:lstStyle/>
          <a:p>
            <a:endParaRPr lang="nl-NL"/>
          </a:p>
        </p:txBody>
      </p:sp>
      <p:sp>
        <p:nvSpPr>
          <p:cNvPr id="11" name="!!mst2"/>
          <p:cNvSpPr txBox="1"/>
          <p:nvPr/>
        </p:nvSpPr>
        <p:spPr>
          <a:xfrm>
            <a:off x="8769096"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3</a:t>
            </a:r>
            <a:endParaRPr lang="nl-NL" sz="1200" dirty="0"/>
          </a:p>
        </p:txBody>
      </p:sp>
      <p:sp>
        <p:nvSpPr>
          <p:cNvPr id="12" name="!!ms3"/>
          <p:cNvSpPr/>
          <p:nvPr/>
        </p:nvSpPr>
        <p:spPr>
          <a:xfrm>
            <a:off x="9189720" y="1554480"/>
            <a:ext cx="329184" cy="329184"/>
          </a:xfrm>
          <a:prstGeom prst="ellipse">
            <a:avLst/>
          </a:prstGeom>
          <a:solidFill>
            <a:srgbClr val="D7DEE5"/>
          </a:solidFill>
          <a:ln/>
        </p:spPr>
        <p:txBody>
          <a:bodyPr/>
          <a:lstStyle/>
          <a:p>
            <a:endParaRPr lang="nl-NL"/>
          </a:p>
        </p:txBody>
      </p:sp>
      <p:sp>
        <p:nvSpPr>
          <p:cNvPr id="13" name="!!mst3"/>
          <p:cNvSpPr txBox="1"/>
          <p:nvPr/>
        </p:nvSpPr>
        <p:spPr>
          <a:xfrm>
            <a:off x="9189720"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4</a:t>
            </a:r>
            <a:endParaRPr lang="nl-NL" sz="1200" dirty="0"/>
          </a:p>
        </p:txBody>
      </p:sp>
      <p:sp>
        <p:nvSpPr>
          <p:cNvPr id="14" name="!!ms4"/>
          <p:cNvSpPr/>
          <p:nvPr/>
        </p:nvSpPr>
        <p:spPr>
          <a:xfrm>
            <a:off x="9610344" y="1554480"/>
            <a:ext cx="329184" cy="329184"/>
          </a:xfrm>
          <a:prstGeom prst="ellipse">
            <a:avLst/>
          </a:prstGeom>
          <a:solidFill>
            <a:srgbClr val="D7DEE5"/>
          </a:solidFill>
          <a:ln/>
        </p:spPr>
        <p:txBody>
          <a:bodyPr/>
          <a:lstStyle/>
          <a:p>
            <a:endParaRPr lang="nl-NL"/>
          </a:p>
        </p:txBody>
      </p:sp>
      <p:sp>
        <p:nvSpPr>
          <p:cNvPr id="15" name="!!mst4"/>
          <p:cNvSpPr txBox="1"/>
          <p:nvPr/>
        </p:nvSpPr>
        <p:spPr>
          <a:xfrm>
            <a:off x="9610344"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5</a:t>
            </a:r>
            <a:endParaRPr lang="nl-NL" sz="1200" dirty="0"/>
          </a:p>
        </p:txBody>
      </p:sp>
      <p:sp>
        <p:nvSpPr>
          <p:cNvPr id="16" name="!!mslbl"/>
          <p:cNvSpPr txBox="1"/>
          <p:nvPr/>
        </p:nvSpPr>
        <p:spPr>
          <a:xfrm>
            <a:off x="10104120" y="1572768"/>
            <a:ext cx="1463040" cy="310896"/>
          </a:xfrm>
          <a:prstGeom prst="rect">
            <a:avLst/>
          </a:prstGeom>
          <a:noFill/>
          <a:ln/>
        </p:spPr>
        <p:txBody>
          <a:bodyPr wrap="square" lIns="0" tIns="0" rIns="0" bIns="0" rtlCol="0" anchor="ctr"/>
          <a:lstStyle/>
          <a:p>
            <a:pPr marL="0" indent="0" algn="l">
              <a:buNone/>
            </a:pPr>
            <a:r>
              <a:rPr lang="nl-NL" sz="1500" b="1" dirty="0">
                <a:solidFill>
                  <a:srgbClr val="F28C38"/>
                </a:solidFill>
                <a:latin typeface="Calibri" pitchFamily="34" charset="0"/>
                <a:ea typeface="Calibri" pitchFamily="34" charset="-122"/>
                <a:cs typeface="Calibri" pitchFamily="34" charset="-120"/>
              </a:rPr>
              <a:t>Stap 3: Investering</a:t>
            </a:r>
            <a:endParaRPr lang="nl-NL" sz="1500" dirty="0"/>
          </a:p>
        </p:txBody>
      </p:sp>
      <p:sp>
        <p:nvSpPr>
          <p:cNvPr id="17" name="s19_bd0"/>
          <p:cNvSpPr/>
          <p:nvPr/>
        </p:nvSpPr>
        <p:spPr>
          <a:xfrm>
            <a:off x="7927848" y="2217420"/>
            <a:ext cx="118872" cy="118872"/>
          </a:xfrm>
          <a:prstGeom prst="ellipse">
            <a:avLst/>
          </a:prstGeom>
          <a:solidFill>
            <a:srgbClr val="F28C38"/>
          </a:solidFill>
          <a:ln/>
        </p:spPr>
        <p:txBody>
          <a:bodyPr/>
          <a:lstStyle/>
          <a:p>
            <a:endParaRPr lang="nl-NL"/>
          </a:p>
        </p:txBody>
      </p:sp>
      <p:sp>
        <p:nvSpPr>
          <p:cNvPr id="18" name="s19_b0"/>
          <p:cNvSpPr txBox="1"/>
          <p:nvPr/>
        </p:nvSpPr>
        <p:spPr>
          <a:xfrm>
            <a:off x="8202168" y="212140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Met de dollars koopt Nederland machines en grondstoffen</a:t>
            </a:r>
            <a:endParaRPr lang="nl-NL" sz="1800" dirty="0"/>
          </a:p>
        </p:txBody>
      </p:sp>
      <p:sp>
        <p:nvSpPr>
          <p:cNvPr id="19" name="s19_bd1"/>
          <p:cNvSpPr/>
          <p:nvPr/>
        </p:nvSpPr>
        <p:spPr>
          <a:xfrm>
            <a:off x="7927848" y="3003804"/>
            <a:ext cx="118872" cy="118872"/>
          </a:xfrm>
          <a:prstGeom prst="ellipse">
            <a:avLst/>
          </a:prstGeom>
          <a:solidFill>
            <a:srgbClr val="F28C38"/>
          </a:solidFill>
          <a:ln/>
        </p:spPr>
        <p:txBody>
          <a:bodyPr/>
          <a:lstStyle/>
          <a:p>
            <a:endParaRPr lang="nl-NL"/>
          </a:p>
        </p:txBody>
      </p:sp>
      <p:sp>
        <p:nvSpPr>
          <p:cNvPr id="20" name="s19_b1"/>
          <p:cNvSpPr txBox="1"/>
          <p:nvPr/>
        </p:nvSpPr>
        <p:spPr>
          <a:xfrm>
            <a:off x="8202168" y="290779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Fabrieken en boeren kunnen weer produceren</a:t>
            </a:r>
            <a:endParaRPr lang="nl-NL" sz="1800" dirty="0"/>
          </a:p>
        </p:txBody>
      </p:sp>
      <p:sp>
        <p:nvSpPr>
          <p:cNvPr id="21" name="s19_res"/>
          <p:cNvSpPr txBox="1"/>
          <p:nvPr/>
        </p:nvSpPr>
        <p:spPr>
          <a:xfrm>
            <a:off x="7927848" y="3831336"/>
            <a:ext cx="3639312" cy="1143000"/>
          </a:xfrm>
          <a:prstGeom prst="roundRect">
            <a:avLst>
              <a:gd name="adj" fmla="val 6400"/>
            </a:avLst>
          </a:prstGeom>
          <a:solidFill>
            <a:srgbClr val="FDEEE2"/>
          </a:solidFill>
          <a:ln/>
        </p:spPr>
        <p:txBody>
          <a:bodyPr wrap="square" lIns="50800" tIns="127000" rIns="127000" bIns="50800" rtlCol="0" anchor="ctr"/>
          <a:lstStyle/>
          <a:p>
            <a:pPr marL="0" indent="0" algn="l">
              <a:buNone/>
            </a:pPr>
            <a:r>
              <a:rPr lang="nl-NL" sz="1400" b="1" dirty="0">
                <a:solidFill>
                  <a:srgbClr val="F28C38"/>
                </a:solidFill>
                <a:latin typeface="Calibri" pitchFamily="34" charset="0"/>
                <a:ea typeface="Calibri" pitchFamily="34" charset="-122"/>
                <a:cs typeface="Calibri" pitchFamily="34" charset="-120"/>
              </a:rPr>
              <a:t>Stap 4 · Resultaat
</a:t>
            </a:r>
            <a:r>
              <a:rPr lang="nl-NL" sz="1800" b="1" dirty="0">
                <a:solidFill>
                  <a:srgbClr val="1E2A3A"/>
                </a:solidFill>
                <a:latin typeface="Calibri" pitchFamily="34" charset="0"/>
                <a:ea typeface="Calibri" pitchFamily="34" charset="-122"/>
                <a:cs typeface="Calibri" pitchFamily="34" charset="-120"/>
              </a:rPr>
              <a:t>1950: de economie is weer even groot als vóór de oorlog!</a:t>
            </a:r>
            <a:endParaRPr lang="nl-NL" sz="1800" dirty="0"/>
          </a:p>
        </p:txBody>
      </p:sp>
      <p:sp>
        <p:nvSpPr>
          <p:cNvPr id="22"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3"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4" name="!!rd_d1"/>
          <p:cNvSpPr/>
          <p:nvPr/>
        </p:nvSpPr>
        <p:spPr>
          <a:xfrm>
            <a:off x="2944368" y="6437376"/>
            <a:ext cx="128016" cy="128016"/>
          </a:xfrm>
          <a:prstGeom prst="ellipse">
            <a:avLst/>
          </a:prstGeom>
          <a:solidFill>
            <a:srgbClr val="1E2A3A"/>
          </a:solidFill>
          <a:ln/>
        </p:spPr>
        <p:txBody>
          <a:bodyPr/>
          <a:lstStyle/>
          <a:p>
            <a:endParaRPr lang="nl-NL"/>
          </a:p>
        </p:txBody>
      </p:sp>
      <p:sp>
        <p:nvSpPr>
          <p:cNvPr id="25"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6" name="!!rd_d2"/>
          <p:cNvSpPr/>
          <p:nvPr/>
        </p:nvSpPr>
        <p:spPr>
          <a:xfrm>
            <a:off x="4078224" y="6437376"/>
            <a:ext cx="128016" cy="128016"/>
          </a:xfrm>
          <a:prstGeom prst="ellipse">
            <a:avLst/>
          </a:prstGeom>
          <a:solidFill>
            <a:srgbClr val="C9D1DA"/>
          </a:solidFill>
          <a:ln/>
        </p:spPr>
        <p:txBody>
          <a:bodyPr/>
          <a:lstStyle/>
          <a:p>
            <a:endParaRPr lang="nl-NL"/>
          </a:p>
        </p:txBody>
      </p:sp>
      <p:sp>
        <p:nvSpPr>
          <p:cNvPr id="27"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8" name="!!rd_d3"/>
          <p:cNvSpPr/>
          <p:nvPr/>
        </p:nvSpPr>
        <p:spPr>
          <a:xfrm>
            <a:off x="5212080" y="6437376"/>
            <a:ext cx="128016" cy="128016"/>
          </a:xfrm>
          <a:prstGeom prst="ellipse">
            <a:avLst/>
          </a:prstGeom>
          <a:solidFill>
            <a:srgbClr val="C9D1DA"/>
          </a:solidFill>
          <a:ln/>
        </p:spPr>
        <p:txBody>
          <a:bodyPr/>
          <a:lstStyle/>
          <a:p>
            <a:endParaRPr lang="nl-NL"/>
          </a:p>
        </p:txBody>
      </p:sp>
      <p:sp>
        <p:nvSpPr>
          <p:cNvPr id="29"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0" name="!!rd_d4"/>
          <p:cNvSpPr/>
          <p:nvPr/>
        </p:nvSpPr>
        <p:spPr>
          <a:xfrm>
            <a:off x="6345936" y="6437376"/>
            <a:ext cx="128016" cy="128016"/>
          </a:xfrm>
          <a:prstGeom prst="ellipse">
            <a:avLst/>
          </a:prstGeom>
          <a:solidFill>
            <a:srgbClr val="C9D1DA"/>
          </a:solidFill>
          <a:ln/>
        </p:spPr>
        <p:txBody>
          <a:bodyPr/>
          <a:lstStyle/>
          <a:p>
            <a:endParaRPr lang="nl-NL"/>
          </a:p>
        </p:txBody>
      </p:sp>
      <p:sp>
        <p:nvSpPr>
          <p:cNvPr id="31"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2" name="!!rd_d5"/>
          <p:cNvSpPr/>
          <p:nvPr/>
        </p:nvSpPr>
        <p:spPr>
          <a:xfrm>
            <a:off x="7479792" y="6437376"/>
            <a:ext cx="128016" cy="128016"/>
          </a:xfrm>
          <a:prstGeom prst="ellipse">
            <a:avLst/>
          </a:prstGeom>
          <a:solidFill>
            <a:srgbClr val="C9D1DA"/>
          </a:solidFill>
          <a:ln/>
        </p:spPr>
        <p:txBody>
          <a:bodyPr/>
          <a:lstStyle/>
          <a:p>
            <a:endParaRPr lang="nl-NL"/>
          </a:p>
        </p:txBody>
      </p:sp>
      <p:sp>
        <p:nvSpPr>
          <p:cNvPr id="33"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4"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50"/>
                                        <p:tgtEl>
                                          <p:spTgt spid="17"/>
                                        </p:tgtEl>
                                      </p:cBhvr>
                                    </p:animEffect>
                                    <p:anim calcmode="lin" valueType="num">
                                      <p:cBhvr additive="base">
                                        <p:cTn id="8" dur="650" decel="100000" fill="hold"/>
                                        <p:tgtEl>
                                          <p:spTgt spid="1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1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650"/>
                                        <p:tgtEl>
                                          <p:spTgt spid="18"/>
                                        </p:tgtEl>
                                      </p:cBhvr>
                                    </p:animEffect>
                                    <p:anim calcmode="lin" valueType="num">
                                      <p:cBhvr additive="base">
                                        <p:cTn id="13"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50"/>
                                        <p:tgtEl>
                                          <p:spTgt spid="19"/>
                                        </p:tgtEl>
                                      </p:cBhvr>
                                    </p:animEffect>
                                    <p:anim calcmode="lin" valueType="num">
                                      <p:cBhvr additive="base">
                                        <p:cTn id="20"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1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50"/>
                                        <p:tgtEl>
                                          <p:spTgt spid="20"/>
                                        </p:tgtEl>
                                      </p:cBhvr>
                                    </p:animEffect>
                                    <p:anim calcmode="lin" valueType="num">
                                      <p:cBhvr additive="base">
                                        <p:cTn id="25"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50" fill="hold"/>
                                        <p:tgtEl>
                                          <p:spTgt spid="2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2" dur="550" fill="hold"/>
                                        <p:tgtEl>
                                          <p:spTgt spid="2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3" dur="275"/>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3555472" y="-1513573"/>
            <a:ext cx="15747167" cy="8789117"/>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 MARSHALLHULP</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ms0"/>
          <p:cNvSpPr/>
          <p:nvPr/>
        </p:nvSpPr>
        <p:spPr>
          <a:xfrm>
            <a:off x="7927848" y="1554480"/>
            <a:ext cx="329184" cy="329184"/>
          </a:xfrm>
          <a:prstGeom prst="ellipse">
            <a:avLst/>
          </a:prstGeom>
          <a:solidFill>
            <a:srgbClr val="2E8B74"/>
          </a:solidFill>
          <a:ln/>
        </p:spPr>
        <p:txBody>
          <a:bodyPr/>
          <a:lstStyle/>
          <a:p>
            <a:endParaRPr lang="nl-NL"/>
          </a:p>
        </p:txBody>
      </p:sp>
      <p:sp>
        <p:nvSpPr>
          <p:cNvPr id="7" name="!!mst0"/>
          <p:cNvSpPr txBox="1"/>
          <p:nvPr/>
        </p:nvSpPr>
        <p:spPr>
          <a:xfrm>
            <a:off x="7927848"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1</a:t>
            </a:r>
            <a:endParaRPr lang="nl-NL" sz="1200" dirty="0"/>
          </a:p>
        </p:txBody>
      </p:sp>
      <p:sp>
        <p:nvSpPr>
          <p:cNvPr id="8" name="!!ms1"/>
          <p:cNvSpPr/>
          <p:nvPr/>
        </p:nvSpPr>
        <p:spPr>
          <a:xfrm>
            <a:off x="8348472" y="1554480"/>
            <a:ext cx="329184" cy="329184"/>
          </a:xfrm>
          <a:prstGeom prst="ellipse">
            <a:avLst/>
          </a:prstGeom>
          <a:solidFill>
            <a:srgbClr val="2E8B74"/>
          </a:solidFill>
          <a:ln/>
        </p:spPr>
        <p:txBody>
          <a:bodyPr/>
          <a:lstStyle/>
          <a:p>
            <a:endParaRPr lang="nl-NL"/>
          </a:p>
        </p:txBody>
      </p:sp>
      <p:sp>
        <p:nvSpPr>
          <p:cNvPr id="9" name="!!mst1"/>
          <p:cNvSpPr txBox="1"/>
          <p:nvPr/>
        </p:nvSpPr>
        <p:spPr>
          <a:xfrm>
            <a:off x="8348472"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2</a:t>
            </a:r>
            <a:endParaRPr lang="nl-NL" sz="1200" dirty="0"/>
          </a:p>
        </p:txBody>
      </p:sp>
      <p:sp>
        <p:nvSpPr>
          <p:cNvPr id="10" name="!!ms2"/>
          <p:cNvSpPr/>
          <p:nvPr/>
        </p:nvSpPr>
        <p:spPr>
          <a:xfrm>
            <a:off x="8769096" y="1554480"/>
            <a:ext cx="329184" cy="329184"/>
          </a:xfrm>
          <a:prstGeom prst="ellipse">
            <a:avLst/>
          </a:prstGeom>
          <a:solidFill>
            <a:srgbClr val="2E8B74"/>
          </a:solidFill>
          <a:ln/>
        </p:spPr>
        <p:txBody>
          <a:bodyPr/>
          <a:lstStyle/>
          <a:p>
            <a:endParaRPr lang="nl-NL"/>
          </a:p>
        </p:txBody>
      </p:sp>
      <p:sp>
        <p:nvSpPr>
          <p:cNvPr id="11" name="!!mst2"/>
          <p:cNvSpPr txBox="1"/>
          <p:nvPr/>
        </p:nvSpPr>
        <p:spPr>
          <a:xfrm>
            <a:off x="8769096"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3</a:t>
            </a:r>
            <a:endParaRPr lang="nl-NL" sz="1200" dirty="0"/>
          </a:p>
        </p:txBody>
      </p:sp>
      <p:sp>
        <p:nvSpPr>
          <p:cNvPr id="12" name="!!ms3"/>
          <p:cNvSpPr/>
          <p:nvPr/>
        </p:nvSpPr>
        <p:spPr>
          <a:xfrm>
            <a:off x="9189720" y="1554480"/>
            <a:ext cx="329184" cy="329184"/>
          </a:xfrm>
          <a:prstGeom prst="ellipse">
            <a:avLst/>
          </a:prstGeom>
          <a:solidFill>
            <a:srgbClr val="2E8B74"/>
          </a:solidFill>
          <a:ln/>
        </p:spPr>
        <p:txBody>
          <a:bodyPr/>
          <a:lstStyle/>
          <a:p>
            <a:endParaRPr lang="nl-NL"/>
          </a:p>
        </p:txBody>
      </p:sp>
      <p:sp>
        <p:nvSpPr>
          <p:cNvPr id="13" name="!!mst3"/>
          <p:cNvSpPr txBox="1"/>
          <p:nvPr/>
        </p:nvSpPr>
        <p:spPr>
          <a:xfrm>
            <a:off x="9189720"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4</a:t>
            </a:r>
            <a:endParaRPr lang="nl-NL" sz="1200" dirty="0"/>
          </a:p>
        </p:txBody>
      </p:sp>
      <p:sp>
        <p:nvSpPr>
          <p:cNvPr id="14" name="!!ms4"/>
          <p:cNvSpPr/>
          <p:nvPr/>
        </p:nvSpPr>
        <p:spPr>
          <a:xfrm>
            <a:off x="9610344" y="1554480"/>
            <a:ext cx="329184" cy="329184"/>
          </a:xfrm>
          <a:prstGeom prst="ellipse">
            <a:avLst/>
          </a:prstGeom>
          <a:solidFill>
            <a:srgbClr val="F28C38"/>
          </a:solidFill>
          <a:ln/>
        </p:spPr>
        <p:txBody>
          <a:bodyPr/>
          <a:lstStyle/>
          <a:p>
            <a:endParaRPr lang="nl-NL"/>
          </a:p>
        </p:txBody>
      </p:sp>
      <p:sp>
        <p:nvSpPr>
          <p:cNvPr id="15" name="!!mst4"/>
          <p:cNvSpPr txBox="1"/>
          <p:nvPr/>
        </p:nvSpPr>
        <p:spPr>
          <a:xfrm>
            <a:off x="9610344" y="1554480"/>
            <a:ext cx="329184" cy="329184"/>
          </a:xfrm>
          <a:prstGeom prst="rect">
            <a:avLst/>
          </a:prstGeom>
          <a:noFill/>
          <a:ln/>
        </p:spPr>
        <p:txBody>
          <a:bodyPr wrap="square" lIns="0" tIns="0" rIns="0" bIns="0" rtlCol="0" anchor="ctr"/>
          <a:lstStyle/>
          <a:p>
            <a:pPr marL="0" indent="0" algn="ctr">
              <a:buNone/>
            </a:pPr>
            <a:r>
              <a:rPr lang="nl-NL" sz="1200" b="1" dirty="0">
                <a:solidFill>
                  <a:srgbClr val="FFFFFF"/>
                </a:solidFill>
                <a:latin typeface="Calibri" pitchFamily="34" charset="0"/>
                <a:ea typeface="Calibri" pitchFamily="34" charset="-122"/>
                <a:cs typeface="Calibri" pitchFamily="34" charset="-120"/>
              </a:rPr>
              <a:t>5</a:t>
            </a:r>
            <a:endParaRPr lang="nl-NL" sz="1200" dirty="0"/>
          </a:p>
        </p:txBody>
      </p:sp>
      <p:sp>
        <p:nvSpPr>
          <p:cNvPr id="16" name="!!mslbl"/>
          <p:cNvSpPr txBox="1"/>
          <p:nvPr/>
        </p:nvSpPr>
        <p:spPr>
          <a:xfrm>
            <a:off x="10104120" y="1572768"/>
            <a:ext cx="1463040" cy="310896"/>
          </a:xfrm>
          <a:prstGeom prst="rect">
            <a:avLst/>
          </a:prstGeom>
          <a:noFill/>
          <a:ln/>
        </p:spPr>
        <p:txBody>
          <a:bodyPr wrap="square" lIns="0" tIns="0" rIns="0" bIns="0" rtlCol="0" anchor="ctr"/>
          <a:lstStyle/>
          <a:p>
            <a:pPr marL="0" indent="0" algn="l">
              <a:buNone/>
            </a:pPr>
            <a:r>
              <a:rPr lang="nl-NL" sz="1500" b="1" dirty="0">
                <a:solidFill>
                  <a:srgbClr val="F28C38"/>
                </a:solidFill>
                <a:latin typeface="Calibri" pitchFamily="34" charset="0"/>
                <a:ea typeface="Calibri" pitchFamily="34" charset="-122"/>
                <a:cs typeface="Calibri" pitchFamily="34" charset="-120"/>
              </a:rPr>
              <a:t>Stap 5: Toekomst</a:t>
            </a:r>
            <a:endParaRPr lang="nl-NL" sz="1500" dirty="0"/>
          </a:p>
        </p:txBody>
      </p:sp>
      <p:sp>
        <p:nvSpPr>
          <p:cNvPr id="17" name="s20_bd0"/>
          <p:cNvSpPr/>
          <p:nvPr/>
        </p:nvSpPr>
        <p:spPr>
          <a:xfrm>
            <a:off x="7927848" y="2217420"/>
            <a:ext cx="118872" cy="118872"/>
          </a:xfrm>
          <a:prstGeom prst="ellipse">
            <a:avLst/>
          </a:prstGeom>
          <a:solidFill>
            <a:srgbClr val="F28C38"/>
          </a:solidFill>
          <a:ln/>
        </p:spPr>
        <p:txBody>
          <a:bodyPr/>
          <a:lstStyle/>
          <a:p>
            <a:endParaRPr lang="nl-NL"/>
          </a:p>
        </p:txBody>
      </p:sp>
      <p:sp>
        <p:nvSpPr>
          <p:cNvPr id="18" name="s20_b0"/>
          <p:cNvSpPr txBox="1"/>
          <p:nvPr/>
        </p:nvSpPr>
        <p:spPr>
          <a:xfrm>
            <a:off x="8202168" y="212140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hulp legt de basis voor de groei van de industrie</a:t>
            </a:r>
            <a:endParaRPr lang="nl-NL" sz="1800" dirty="0"/>
          </a:p>
        </p:txBody>
      </p:sp>
      <p:sp>
        <p:nvSpPr>
          <p:cNvPr id="19" name="s20_bd1"/>
          <p:cNvSpPr/>
          <p:nvPr/>
        </p:nvSpPr>
        <p:spPr>
          <a:xfrm>
            <a:off x="7927848" y="3003804"/>
            <a:ext cx="118872" cy="118872"/>
          </a:xfrm>
          <a:prstGeom prst="ellipse">
            <a:avLst/>
          </a:prstGeom>
          <a:solidFill>
            <a:srgbClr val="F28C38"/>
          </a:solidFill>
          <a:ln/>
        </p:spPr>
        <p:txBody>
          <a:bodyPr/>
          <a:lstStyle/>
          <a:p>
            <a:endParaRPr lang="nl-NL"/>
          </a:p>
        </p:txBody>
      </p:sp>
      <p:sp>
        <p:nvSpPr>
          <p:cNvPr id="20" name="s20_b1"/>
          <p:cNvSpPr txBox="1"/>
          <p:nvPr/>
        </p:nvSpPr>
        <p:spPr>
          <a:xfrm>
            <a:off x="8202168" y="2907792"/>
            <a:ext cx="3364992" cy="87782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Daarna volgt de welvaart van de jaren 60: de consumptiemaatschappij</a:t>
            </a:r>
            <a:endParaRPr lang="nl-NL" sz="1800" dirty="0"/>
          </a:p>
        </p:txBody>
      </p:sp>
      <p:sp>
        <p:nvSpPr>
          <p:cNvPr id="21" name="s20_toek"/>
          <p:cNvSpPr/>
          <p:nvPr/>
        </p:nvSpPr>
        <p:spPr>
          <a:xfrm>
            <a:off x="457200" y="5349240"/>
            <a:ext cx="6858000" cy="548640"/>
          </a:xfrm>
          <a:prstGeom prst="rightArrow">
            <a:avLst/>
          </a:prstGeom>
          <a:solidFill>
            <a:srgbClr val="F28C38"/>
          </a:solidFill>
          <a:ln/>
        </p:spPr>
        <p:txBody>
          <a:bodyPr/>
          <a:lstStyle/>
          <a:p>
            <a:endParaRPr lang="nl-NL"/>
          </a:p>
        </p:txBody>
      </p:sp>
      <p:sp>
        <p:nvSpPr>
          <p:cNvPr id="22" name="s20_toekt"/>
          <p:cNvSpPr txBox="1"/>
          <p:nvPr/>
        </p:nvSpPr>
        <p:spPr>
          <a:xfrm>
            <a:off x="685800" y="5349240"/>
            <a:ext cx="6035040" cy="548640"/>
          </a:xfrm>
          <a:prstGeom prst="rect">
            <a:avLst/>
          </a:prstGeom>
          <a:noFill/>
          <a:ln/>
        </p:spPr>
        <p:txBody>
          <a:bodyPr wrap="square" lIns="0" tIns="0" rIns="0" bIns="0" rtlCol="0" anchor="ctr"/>
          <a:lstStyle/>
          <a:p>
            <a:pPr marL="0" indent="0" algn="l">
              <a:buNone/>
            </a:pPr>
            <a:r>
              <a:rPr lang="nl-NL" sz="1600" b="1" dirty="0">
                <a:solidFill>
                  <a:srgbClr val="FFFFFF"/>
                </a:solidFill>
                <a:latin typeface="Calibri" pitchFamily="34" charset="0"/>
                <a:ea typeface="Calibri" pitchFamily="34" charset="-122"/>
                <a:cs typeface="Calibri" pitchFamily="34" charset="-120"/>
              </a:rPr>
              <a:t>toekomstlijn → jaren 60: welvaart voor iedereen</a:t>
            </a:r>
            <a:endParaRPr lang="nl-NL" sz="1600" dirty="0"/>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50"/>
                                        <p:tgtEl>
                                          <p:spTgt spid="17"/>
                                        </p:tgtEl>
                                      </p:cBhvr>
                                    </p:animEffect>
                                    <p:anim calcmode="lin" valueType="num">
                                      <p:cBhvr additive="base">
                                        <p:cTn id="8" dur="650" decel="100000" fill="hold"/>
                                        <p:tgtEl>
                                          <p:spTgt spid="1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1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650"/>
                                        <p:tgtEl>
                                          <p:spTgt spid="18"/>
                                        </p:tgtEl>
                                      </p:cBhvr>
                                    </p:animEffect>
                                    <p:anim calcmode="lin" valueType="num">
                                      <p:cBhvr additive="base">
                                        <p:cTn id="13"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50"/>
                                        <p:tgtEl>
                                          <p:spTgt spid="19"/>
                                        </p:tgtEl>
                                      </p:cBhvr>
                                    </p:animEffect>
                                    <p:anim calcmode="lin" valueType="num">
                                      <p:cBhvr additive="base">
                                        <p:cTn id="20"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1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50"/>
                                        <p:tgtEl>
                                          <p:spTgt spid="20"/>
                                        </p:tgtEl>
                                      </p:cBhvr>
                                    </p:animEffect>
                                    <p:anim calcmode="lin" valueType="num">
                                      <p:cBhvr additive="base">
                                        <p:cTn id="25"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1000"/>
                                        <p:tgtEl>
                                          <p:spTgt spid="2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nfo_marshall" descr="info_marshall"/>
          <p:cNvPicPr>
            <a:picLocks noChangeAspect="1"/>
          </p:cNvPicPr>
          <p:nvPr/>
        </p:nvPicPr>
        <p:blipFill>
          <a:blip r:embed="rId3"/>
          <a:stretch>
            <a:fillRect/>
          </a:stretch>
        </p:blipFill>
        <p:spPr>
          <a:xfrm>
            <a:off x="0" y="26666"/>
            <a:ext cx="12191695" cy="6804667"/>
          </a:xfrm>
          <a:prstGeom prst="rect">
            <a:avLst/>
          </a:prstGeom>
        </p:spPr>
      </p:pic>
      <p:sp>
        <p:nvSpPr>
          <p:cNvPr id="3" name="!!title"/>
          <p:cNvSpPr txBox="1"/>
          <p:nvPr/>
        </p:nvSpPr>
        <p:spPr>
          <a:xfrm>
            <a:off x="182880" y="6327648"/>
            <a:ext cx="1737360" cy="402336"/>
          </a:xfrm>
          <a:prstGeom prst="roundRect">
            <a:avLst>
              <a:gd name="adj" fmla="val 45455"/>
            </a:avLst>
          </a:prstGeom>
          <a:solidFill>
            <a:srgbClr val="2E8B74"/>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Wederopbouw</a:t>
            </a:r>
            <a:endParaRPr lang="nl-NL" sz="1500" dirty="0"/>
          </a:p>
        </p:txBody>
      </p:sp>
      <p:sp>
        <p:nvSpPr>
          <p:cNvPr id="4" name="!!card"/>
          <p:cNvSpPr/>
          <p:nvPr/>
        </p:nvSpPr>
        <p:spPr>
          <a:xfrm>
            <a:off x="320040" y="4434840"/>
            <a:ext cx="11551615" cy="1691640"/>
          </a:xfrm>
          <a:prstGeom prst="roundRect">
            <a:avLst>
              <a:gd name="adj" fmla="val 6486"/>
            </a:avLst>
          </a:prstGeom>
          <a:solidFill>
            <a:srgbClr val="FFFFFF">
              <a:alpha val="96000"/>
            </a:srgbClr>
          </a:solidFill>
          <a:ln/>
          <a:effectLst>
            <a:outerShdw blurRad="127000" dist="38100" dir="5400000" algn="bl" rotWithShape="0">
              <a:srgbClr val="000000">
                <a:alpha val="25000"/>
              </a:srgbClr>
            </a:outerShdw>
          </a:effectLst>
        </p:spPr>
        <p:txBody>
          <a:bodyPr/>
          <a:lstStyle/>
          <a:p>
            <a:endParaRPr lang="nl-NL"/>
          </a:p>
        </p:txBody>
      </p:sp>
      <p:sp>
        <p:nvSpPr>
          <p:cNvPr id="5" name="s21_kl"/>
          <p:cNvSpPr txBox="1"/>
          <p:nvPr/>
        </p:nvSpPr>
        <p:spPr>
          <a:xfrm>
            <a:off x="640080" y="4590288"/>
            <a:ext cx="7315200" cy="274320"/>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DE KETTING VAN OORZAAK EN GEVOLG</a:t>
            </a:r>
            <a:endParaRPr lang="nl-NL" sz="1200" dirty="0"/>
          </a:p>
        </p:txBody>
      </p:sp>
      <p:sp>
        <p:nvSpPr>
          <p:cNvPr id="6" name="s21_k0"/>
          <p:cNvSpPr txBox="1"/>
          <p:nvPr/>
        </p:nvSpPr>
        <p:spPr>
          <a:xfrm>
            <a:off x="548640" y="4983480"/>
            <a:ext cx="1874520" cy="868680"/>
          </a:xfrm>
          <a:prstGeom prst="roundRect">
            <a:avLst>
              <a:gd name="adj" fmla="val 12632"/>
            </a:avLst>
          </a:prstGeom>
          <a:solidFill>
            <a:srgbClr val="E5F3EE"/>
          </a:solidFill>
          <a:ln/>
        </p:spPr>
        <p:txBody>
          <a:bodyPr wrap="square" lIns="0" tIns="0" rIns="0" bIns="0" rtlCol="0" anchor="ctr"/>
          <a:lstStyle/>
          <a:p>
            <a:pPr marL="0" indent="0" algn="ctr">
              <a:buNone/>
            </a:pPr>
            <a:r>
              <a:rPr lang="nl-NL" sz="1700" b="1" dirty="0">
                <a:solidFill>
                  <a:srgbClr val="1E2A3A"/>
                </a:solidFill>
                <a:latin typeface="Calibri" pitchFamily="34" charset="0"/>
                <a:ea typeface="Calibri" pitchFamily="34" charset="-122"/>
                <a:cs typeface="Calibri" pitchFamily="34" charset="-120"/>
              </a:rPr>
              <a:t>Oorlogsschade</a:t>
            </a:r>
            <a:endParaRPr lang="nl-NL" sz="1700" dirty="0"/>
          </a:p>
        </p:txBody>
      </p:sp>
      <p:sp>
        <p:nvSpPr>
          <p:cNvPr id="7" name="s21_k1"/>
          <p:cNvSpPr txBox="1"/>
          <p:nvPr/>
        </p:nvSpPr>
        <p:spPr>
          <a:xfrm>
            <a:off x="2853614" y="4983480"/>
            <a:ext cx="1874520" cy="868680"/>
          </a:xfrm>
          <a:prstGeom prst="roundRect">
            <a:avLst>
              <a:gd name="adj" fmla="val 12632"/>
            </a:avLst>
          </a:prstGeom>
          <a:solidFill>
            <a:srgbClr val="FDEEE2"/>
          </a:solidFill>
          <a:ln/>
        </p:spPr>
        <p:txBody>
          <a:bodyPr wrap="square" lIns="0" tIns="0" rIns="0" bIns="0" rtlCol="0" anchor="ctr"/>
          <a:lstStyle/>
          <a:p>
            <a:pPr marL="0" indent="0" algn="ctr">
              <a:buNone/>
            </a:pPr>
            <a:r>
              <a:rPr lang="nl-NL" sz="1700" b="1" dirty="0">
                <a:solidFill>
                  <a:srgbClr val="1E2A3A"/>
                </a:solidFill>
                <a:latin typeface="Calibri" pitchFamily="34" charset="0"/>
                <a:ea typeface="Calibri" pitchFamily="34" charset="-122"/>
                <a:cs typeface="Calibri" pitchFamily="34" charset="-120"/>
              </a:rPr>
              <a:t>Marshallhulp</a:t>
            </a:r>
            <a:endParaRPr lang="nl-NL" sz="1700" dirty="0"/>
          </a:p>
        </p:txBody>
      </p:sp>
      <p:sp>
        <p:nvSpPr>
          <p:cNvPr id="8" name="s21_ka1"/>
          <p:cNvSpPr/>
          <p:nvPr/>
        </p:nvSpPr>
        <p:spPr>
          <a:xfrm>
            <a:off x="2478024" y="5230368"/>
            <a:ext cx="320726" cy="365760"/>
          </a:xfrm>
          <a:prstGeom prst="rightArrow">
            <a:avLst/>
          </a:prstGeom>
          <a:solidFill>
            <a:srgbClr val="F28C38"/>
          </a:solidFill>
          <a:ln/>
        </p:spPr>
        <p:txBody>
          <a:bodyPr/>
          <a:lstStyle/>
          <a:p>
            <a:endParaRPr lang="nl-NL"/>
          </a:p>
        </p:txBody>
      </p:sp>
      <p:sp>
        <p:nvSpPr>
          <p:cNvPr id="9" name="s21_k2"/>
          <p:cNvSpPr txBox="1"/>
          <p:nvPr/>
        </p:nvSpPr>
        <p:spPr>
          <a:xfrm>
            <a:off x="5158588" y="4983480"/>
            <a:ext cx="1874520" cy="868680"/>
          </a:xfrm>
          <a:prstGeom prst="roundRect">
            <a:avLst>
              <a:gd name="adj" fmla="val 12632"/>
            </a:avLst>
          </a:prstGeom>
          <a:solidFill>
            <a:srgbClr val="E5F3EE"/>
          </a:solidFill>
          <a:ln/>
        </p:spPr>
        <p:txBody>
          <a:bodyPr wrap="square" lIns="0" tIns="0" rIns="0" bIns="0" rtlCol="0" anchor="ctr"/>
          <a:lstStyle/>
          <a:p>
            <a:pPr marL="0" indent="0" algn="ctr">
              <a:buNone/>
            </a:pPr>
            <a:r>
              <a:rPr lang="nl-NL" sz="1700" b="1" dirty="0">
                <a:solidFill>
                  <a:srgbClr val="1E2A3A"/>
                </a:solidFill>
                <a:latin typeface="Calibri" pitchFamily="34" charset="0"/>
                <a:ea typeface="Calibri" pitchFamily="34" charset="-122"/>
                <a:cs typeface="Calibri" pitchFamily="34" charset="-120"/>
              </a:rPr>
              <a:t>Machines en grondstoffen</a:t>
            </a:r>
            <a:endParaRPr lang="nl-NL" sz="1700" dirty="0"/>
          </a:p>
        </p:txBody>
      </p:sp>
      <p:sp>
        <p:nvSpPr>
          <p:cNvPr id="10" name="s21_ka2"/>
          <p:cNvSpPr/>
          <p:nvPr/>
        </p:nvSpPr>
        <p:spPr>
          <a:xfrm>
            <a:off x="4782998" y="5230368"/>
            <a:ext cx="320726" cy="365760"/>
          </a:xfrm>
          <a:prstGeom prst="rightArrow">
            <a:avLst/>
          </a:prstGeom>
          <a:solidFill>
            <a:srgbClr val="F28C38"/>
          </a:solidFill>
          <a:ln/>
        </p:spPr>
        <p:txBody>
          <a:bodyPr/>
          <a:lstStyle/>
          <a:p>
            <a:endParaRPr lang="nl-NL"/>
          </a:p>
        </p:txBody>
      </p:sp>
      <p:sp>
        <p:nvSpPr>
          <p:cNvPr id="11" name="s21_k3"/>
          <p:cNvSpPr txBox="1"/>
          <p:nvPr/>
        </p:nvSpPr>
        <p:spPr>
          <a:xfrm>
            <a:off x="7463561" y="4983480"/>
            <a:ext cx="1874520" cy="868680"/>
          </a:xfrm>
          <a:prstGeom prst="roundRect">
            <a:avLst>
              <a:gd name="adj" fmla="val 12632"/>
            </a:avLst>
          </a:prstGeom>
          <a:solidFill>
            <a:srgbClr val="E5F3EE"/>
          </a:solidFill>
          <a:ln/>
        </p:spPr>
        <p:txBody>
          <a:bodyPr wrap="square" lIns="0" tIns="0" rIns="0" bIns="0" rtlCol="0" anchor="ctr"/>
          <a:lstStyle/>
          <a:p>
            <a:pPr marL="0" indent="0" algn="ctr">
              <a:buNone/>
            </a:pPr>
            <a:r>
              <a:rPr lang="nl-NL" sz="1700" b="1" dirty="0">
                <a:solidFill>
                  <a:srgbClr val="1E2A3A"/>
                </a:solidFill>
                <a:latin typeface="Calibri" pitchFamily="34" charset="0"/>
                <a:ea typeface="Calibri" pitchFamily="34" charset="-122"/>
                <a:cs typeface="Calibri" pitchFamily="34" charset="-120"/>
              </a:rPr>
              <a:t>Meer productie</a:t>
            </a:r>
            <a:endParaRPr lang="nl-NL" sz="1700" dirty="0"/>
          </a:p>
        </p:txBody>
      </p:sp>
      <p:sp>
        <p:nvSpPr>
          <p:cNvPr id="12" name="s21_ka3"/>
          <p:cNvSpPr/>
          <p:nvPr/>
        </p:nvSpPr>
        <p:spPr>
          <a:xfrm>
            <a:off x="7087972" y="5230368"/>
            <a:ext cx="320726" cy="365760"/>
          </a:xfrm>
          <a:prstGeom prst="rightArrow">
            <a:avLst/>
          </a:prstGeom>
          <a:solidFill>
            <a:srgbClr val="F28C38"/>
          </a:solidFill>
          <a:ln/>
        </p:spPr>
        <p:txBody>
          <a:bodyPr/>
          <a:lstStyle/>
          <a:p>
            <a:endParaRPr lang="nl-NL"/>
          </a:p>
        </p:txBody>
      </p:sp>
      <p:sp>
        <p:nvSpPr>
          <p:cNvPr id="13" name="s21_k4"/>
          <p:cNvSpPr txBox="1"/>
          <p:nvPr/>
        </p:nvSpPr>
        <p:spPr>
          <a:xfrm>
            <a:off x="9768535" y="4983480"/>
            <a:ext cx="1874520" cy="868680"/>
          </a:xfrm>
          <a:prstGeom prst="roundRect">
            <a:avLst>
              <a:gd name="adj" fmla="val 12632"/>
            </a:avLst>
          </a:prstGeom>
          <a:solidFill>
            <a:srgbClr val="F28C38"/>
          </a:solidFill>
          <a:ln/>
        </p:spPr>
        <p:txBody>
          <a:bodyPr wrap="square" lIns="0" tIns="0" rIns="0" bIns="0" rtlCol="0" anchor="ctr"/>
          <a:lstStyle/>
          <a:p>
            <a:pPr marL="0" indent="0" algn="ctr">
              <a:buNone/>
            </a:pPr>
            <a:r>
              <a:rPr lang="nl-NL" sz="1700" b="1" dirty="0">
                <a:solidFill>
                  <a:srgbClr val="FFFFFF"/>
                </a:solidFill>
                <a:latin typeface="Calibri" pitchFamily="34" charset="0"/>
                <a:ea typeface="Calibri" pitchFamily="34" charset="-122"/>
                <a:cs typeface="Calibri" pitchFamily="34" charset="-120"/>
              </a:rPr>
              <a:t>Welvaart</a:t>
            </a:r>
            <a:endParaRPr lang="nl-NL" sz="1700" dirty="0"/>
          </a:p>
        </p:txBody>
      </p:sp>
      <p:sp>
        <p:nvSpPr>
          <p:cNvPr id="14" name="s21_ka4"/>
          <p:cNvSpPr/>
          <p:nvPr/>
        </p:nvSpPr>
        <p:spPr>
          <a:xfrm>
            <a:off x="9392945" y="5230368"/>
            <a:ext cx="320726" cy="365760"/>
          </a:xfrm>
          <a:prstGeom prst="rightArrow">
            <a:avLst/>
          </a:prstGeom>
          <a:solidFill>
            <a:srgbClr val="F28C38"/>
          </a:solidFill>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1"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 dur="275"/>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400"/>
                                        <p:tgtEl>
                                          <p:spTgt spid="8"/>
                                        </p:tgtEl>
                                      </p:cBhvr>
                                    </p:animEffect>
                                  </p:childTnLst>
                                </p:cTn>
                              </p:par>
                            </p:childTnLst>
                          </p:cTn>
                        </p:par>
                        <p:par>
                          <p:cTn id="18" fill="hold">
                            <p:stCondLst>
                              <p:cond delay="4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2"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3" dur="275"/>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400"/>
                                        <p:tgtEl>
                                          <p:spTgt spid="10"/>
                                        </p:tgtEl>
                                      </p:cBhvr>
                                    </p:animEffect>
                                  </p:childTnLst>
                                </p:cTn>
                              </p:par>
                            </p:childTnLst>
                          </p:cTn>
                        </p:par>
                        <p:par>
                          <p:cTn id="29" fill="hold">
                            <p:stCondLst>
                              <p:cond delay="400"/>
                            </p:stCondLst>
                            <p:childTnLst>
                              <p:par>
                                <p:cTn id="30" presetID="53" presetClass="entr" presetSubtype="16"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3"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4" dur="275"/>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400"/>
                                        <p:tgtEl>
                                          <p:spTgt spid="12"/>
                                        </p:tgtEl>
                                      </p:cBhvr>
                                    </p:animEffect>
                                  </p:childTnLst>
                                </p:cTn>
                              </p:par>
                            </p:childTnLst>
                          </p:cTn>
                        </p:par>
                        <p:par>
                          <p:cTn id="40" fill="hold">
                            <p:stCondLst>
                              <p:cond delay="400"/>
                            </p:stCondLst>
                            <p:childTnLst>
                              <p:par>
                                <p:cTn id="41" presetID="53" presetClass="entr" presetSubtype="16"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4"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5" dur="275"/>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400"/>
                                        <p:tgtEl>
                                          <p:spTgt spid="14"/>
                                        </p:tgtEl>
                                      </p:cBhvr>
                                    </p:animEffect>
                                  </p:childTnLst>
                                </p:cTn>
                              </p:par>
                            </p:childTnLst>
                          </p:cTn>
                        </p:par>
                        <p:par>
                          <p:cTn id="51" fill="hold">
                            <p:stCondLst>
                              <p:cond delay="400"/>
                            </p:stCondLst>
                            <p:childTnLst>
                              <p:par>
                                <p:cTn id="52" presetID="53" presetClass="entr" presetSubtype="16"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5"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6" dur="275"/>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Het harmoniemodel</a:t>
            </a:r>
            <a:endParaRPr lang="nl-NL" sz="3400" dirty="0"/>
          </a:p>
        </p:txBody>
      </p:sp>
      <p:sp>
        <p:nvSpPr>
          <p:cNvPr id="4" name="!!card"/>
          <p:cNvSpPr/>
          <p:nvPr/>
        </p:nvSpPr>
        <p:spPr>
          <a:xfrm>
            <a:off x="502920" y="1280160"/>
            <a:ext cx="5486400" cy="4132993"/>
          </a:xfrm>
          <a:prstGeom prst="roundRect">
            <a:avLst>
              <a:gd name="adj" fmla="val 1327"/>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5" name="s22_foto" descr="onderhandelaren_1954"/>
          <p:cNvPicPr>
            <a:picLocks noChangeAspect="1"/>
          </p:cNvPicPr>
          <p:nvPr/>
        </p:nvPicPr>
        <p:blipFill>
          <a:blip r:embed="rId3"/>
          <a:stretch>
            <a:fillRect/>
          </a:stretch>
        </p:blipFill>
        <p:spPr>
          <a:xfrm>
            <a:off x="548640" y="1325880"/>
            <a:ext cx="5394960" cy="4041553"/>
          </a:xfrm>
          <a:prstGeom prst="rect">
            <a:avLst/>
          </a:prstGeom>
        </p:spPr>
      </p:pic>
      <p:sp>
        <p:nvSpPr>
          <p:cNvPr id="6" name="s22_o1"/>
          <p:cNvSpPr txBox="1"/>
          <p:nvPr/>
        </p:nvSpPr>
        <p:spPr>
          <a:xfrm>
            <a:off x="548640" y="5458873"/>
            <a:ext cx="5394960" cy="27432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Bron 45 · Overheid, werkgevers en vakbond aan één tafel (1954)</a:t>
            </a:r>
            <a:endParaRPr lang="nl-NL" sz="1200" dirty="0"/>
          </a:p>
        </p:txBody>
      </p:sp>
      <p:sp>
        <p:nvSpPr>
          <p:cNvPr id="7" name="s22_tl0"/>
          <p:cNvSpPr/>
          <p:nvPr/>
        </p:nvSpPr>
        <p:spPr>
          <a:xfrm flipV="1">
            <a:off x="7040880" y="1965960"/>
            <a:ext cx="2057400" cy="2331720"/>
          </a:xfrm>
          <a:prstGeom prst="line">
            <a:avLst/>
          </a:prstGeom>
          <a:noFill/>
          <a:ln w="38100">
            <a:solidFill>
              <a:srgbClr val="C3CCD6"/>
            </a:solidFill>
            <a:prstDash val="dash"/>
          </a:ln>
        </p:spPr>
        <p:txBody>
          <a:bodyPr/>
          <a:lstStyle/>
          <a:p>
            <a:endParaRPr lang="nl-NL"/>
          </a:p>
        </p:txBody>
      </p:sp>
      <p:sp>
        <p:nvSpPr>
          <p:cNvPr id="8" name="s22_tl1"/>
          <p:cNvSpPr/>
          <p:nvPr/>
        </p:nvSpPr>
        <p:spPr>
          <a:xfrm>
            <a:off x="7040880" y="4297680"/>
            <a:ext cx="4114800" cy="0"/>
          </a:xfrm>
          <a:prstGeom prst="line">
            <a:avLst/>
          </a:prstGeom>
          <a:noFill/>
          <a:ln w="38100">
            <a:solidFill>
              <a:srgbClr val="C3CCD6"/>
            </a:solidFill>
            <a:prstDash val="dash"/>
          </a:ln>
        </p:spPr>
        <p:txBody>
          <a:bodyPr/>
          <a:lstStyle/>
          <a:p>
            <a:endParaRPr lang="nl-NL"/>
          </a:p>
        </p:txBody>
      </p:sp>
      <p:sp>
        <p:nvSpPr>
          <p:cNvPr id="9" name="s22_tl2"/>
          <p:cNvSpPr/>
          <p:nvPr/>
        </p:nvSpPr>
        <p:spPr>
          <a:xfrm>
            <a:off x="9098280" y="1965960"/>
            <a:ext cx="2057400" cy="2331720"/>
          </a:xfrm>
          <a:prstGeom prst="line">
            <a:avLst/>
          </a:prstGeom>
          <a:noFill/>
          <a:ln w="38100">
            <a:solidFill>
              <a:srgbClr val="C3CCD6"/>
            </a:solidFill>
            <a:prstDash val="dash"/>
          </a:ln>
        </p:spPr>
        <p:txBody>
          <a:bodyPr/>
          <a:lstStyle/>
          <a:p>
            <a:endParaRPr lang="nl-NL"/>
          </a:p>
        </p:txBody>
      </p:sp>
      <p:sp>
        <p:nvSpPr>
          <p:cNvPr id="10" name="s22_pc0"/>
          <p:cNvSpPr/>
          <p:nvPr/>
        </p:nvSpPr>
        <p:spPr>
          <a:xfrm>
            <a:off x="8549640" y="1417320"/>
            <a:ext cx="1097280" cy="1097280"/>
          </a:xfrm>
          <a:prstGeom prst="ellipse">
            <a:avLst/>
          </a:prstGeom>
          <a:solidFill>
            <a:srgbClr val="2E8B74"/>
          </a:solidFill>
          <a:ln w="38100">
            <a:solidFill>
              <a:srgbClr val="FFFFFF"/>
            </a:solidFill>
            <a:prstDash val="solid"/>
          </a:ln>
          <a:effectLst>
            <a:outerShdw blurRad="127000" dist="38100" dir="5400000" algn="bl" rotWithShape="0">
              <a:srgbClr val="000000">
                <a:alpha val="20000"/>
              </a:srgbClr>
            </a:outerShdw>
          </a:effectLst>
        </p:spPr>
        <p:txBody>
          <a:bodyPr/>
          <a:lstStyle/>
          <a:p>
            <a:endParaRPr lang="nl-NL"/>
          </a:p>
        </p:txBody>
      </p:sp>
      <p:pic>
        <p:nvPicPr>
          <p:cNvPr id="11" name="s22_pi0" descr="landmark_w"/>
          <p:cNvPicPr>
            <a:picLocks noChangeAspect="1"/>
          </p:cNvPicPr>
          <p:nvPr/>
        </p:nvPicPr>
        <p:blipFill>
          <a:blip r:embed="rId4"/>
          <a:stretch>
            <a:fillRect/>
          </a:stretch>
        </p:blipFill>
        <p:spPr>
          <a:xfrm>
            <a:off x="8823960" y="1691640"/>
            <a:ext cx="548640" cy="548640"/>
          </a:xfrm>
          <a:prstGeom prst="rect">
            <a:avLst/>
          </a:prstGeom>
        </p:spPr>
      </p:pic>
      <p:sp>
        <p:nvSpPr>
          <p:cNvPr id="12" name="s22_pt0"/>
          <p:cNvSpPr txBox="1"/>
          <p:nvPr/>
        </p:nvSpPr>
        <p:spPr>
          <a:xfrm>
            <a:off x="8183880" y="2560320"/>
            <a:ext cx="1828800" cy="365760"/>
          </a:xfrm>
          <a:prstGeom prst="rect">
            <a:avLst/>
          </a:prstGeom>
          <a:noFill/>
          <a:ln/>
        </p:spPr>
        <p:txBody>
          <a:bodyPr wrap="square" lIns="0" tIns="0" rIns="0" bIns="0" rtlCol="0" anchor="t"/>
          <a:lstStyle/>
          <a:p>
            <a:pPr marL="0" indent="0" algn="ctr">
              <a:buNone/>
            </a:pPr>
            <a:r>
              <a:rPr lang="nl-NL" sz="1800" b="1" dirty="0">
                <a:solidFill>
                  <a:srgbClr val="1E2A3A"/>
                </a:solidFill>
                <a:latin typeface="Calibri" pitchFamily="34" charset="0"/>
                <a:ea typeface="Calibri" pitchFamily="34" charset="-122"/>
                <a:cs typeface="Calibri" pitchFamily="34" charset="-120"/>
              </a:rPr>
              <a:t>Overheid</a:t>
            </a:r>
            <a:endParaRPr lang="nl-NL" sz="1800" dirty="0"/>
          </a:p>
        </p:txBody>
      </p:sp>
      <p:sp>
        <p:nvSpPr>
          <p:cNvPr id="13" name="s22_pc1"/>
          <p:cNvSpPr/>
          <p:nvPr/>
        </p:nvSpPr>
        <p:spPr>
          <a:xfrm>
            <a:off x="6492240" y="3749040"/>
            <a:ext cx="1097280" cy="1097280"/>
          </a:xfrm>
          <a:prstGeom prst="ellipse">
            <a:avLst/>
          </a:prstGeom>
          <a:solidFill>
            <a:srgbClr val="2E8B74"/>
          </a:solidFill>
          <a:ln w="38100">
            <a:solidFill>
              <a:srgbClr val="FFFFFF"/>
            </a:solidFill>
            <a:prstDash val="solid"/>
          </a:ln>
          <a:effectLst>
            <a:outerShdw blurRad="127000" dist="38100" dir="5400000" algn="bl" rotWithShape="0">
              <a:srgbClr val="000000">
                <a:alpha val="20000"/>
              </a:srgbClr>
            </a:outerShdw>
          </a:effectLst>
        </p:spPr>
        <p:txBody>
          <a:bodyPr/>
          <a:lstStyle/>
          <a:p>
            <a:endParaRPr lang="nl-NL"/>
          </a:p>
        </p:txBody>
      </p:sp>
      <p:pic>
        <p:nvPicPr>
          <p:cNvPr id="14" name="s22_pi1" descr="boss_w"/>
          <p:cNvPicPr>
            <a:picLocks noChangeAspect="1"/>
          </p:cNvPicPr>
          <p:nvPr/>
        </p:nvPicPr>
        <p:blipFill>
          <a:blip r:embed="rId5"/>
          <a:stretch>
            <a:fillRect/>
          </a:stretch>
        </p:blipFill>
        <p:spPr>
          <a:xfrm>
            <a:off x="6766560" y="4023360"/>
            <a:ext cx="548640" cy="548640"/>
          </a:xfrm>
          <a:prstGeom prst="rect">
            <a:avLst/>
          </a:prstGeom>
        </p:spPr>
      </p:pic>
      <p:sp>
        <p:nvSpPr>
          <p:cNvPr id="15" name="s22_pt1"/>
          <p:cNvSpPr txBox="1"/>
          <p:nvPr/>
        </p:nvSpPr>
        <p:spPr>
          <a:xfrm>
            <a:off x="6126480" y="4892040"/>
            <a:ext cx="1828800" cy="365760"/>
          </a:xfrm>
          <a:prstGeom prst="rect">
            <a:avLst/>
          </a:prstGeom>
          <a:noFill/>
          <a:ln/>
        </p:spPr>
        <p:txBody>
          <a:bodyPr wrap="square" lIns="0" tIns="0" rIns="0" bIns="0" rtlCol="0" anchor="t"/>
          <a:lstStyle/>
          <a:p>
            <a:pPr marL="0" indent="0" algn="ctr">
              <a:buNone/>
            </a:pPr>
            <a:r>
              <a:rPr lang="nl-NL" sz="1800" b="1" dirty="0">
                <a:solidFill>
                  <a:srgbClr val="1E2A3A"/>
                </a:solidFill>
                <a:latin typeface="Calibri" pitchFamily="34" charset="0"/>
                <a:ea typeface="Calibri" pitchFamily="34" charset="-122"/>
                <a:cs typeface="Calibri" pitchFamily="34" charset="-120"/>
              </a:rPr>
              <a:t>Werkgevers</a:t>
            </a:r>
            <a:endParaRPr lang="nl-NL" sz="1800" dirty="0"/>
          </a:p>
        </p:txBody>
      </p:sp>
      <p:sp>
        <p:nvSpPr>
          <p:cNvPr id="16" name="s22_pc2"/>
          <p:cNvSpPr/>
          <p:nvPr/>
        </p:nvSpPr>
        <p:spPr>
          <a:xfrm>
            <a:off x="10607040" y="3749040"/>
            <a:ext cx="1097280" cy="1097280"/>
          </a:xfrm>
          <a:prstGeom prst="ellipse">
            <a:avLst/>
          </a:prstGeom>
          <a:solidFill>
            <a:srgbClr val="2E8B74"/>
          </a:solidFill>
          <a:ln w="38100">
            <a:solidFill>
              <a:srgbClr val="FFFFFF"/>
            </a:solidFill>
            <a:prstDash val="solid"/>
          </a:ln>
          <a:effectLst>
            <a:outerShdw blurRad="127000" dist="38100" dir="5400000" algn="bl" rotWithShape="0">
              <a:srgbClr val="000000">
                <a:alpha val="20000"/>
              </a:srgbClr>
            </a:outerShdw>
          </a:effectLst>
        </p:spPr>
        <p:txBody>
          <a:bodyPr/>
          <a:lstStyle/>
          <a:p>
            <a:endParaRPr lang="nl-NL"/>
          </a:p>
        </p:txBody>
      </p:sp>
      <p:pic>
        <p:nvPicPr>
          <p:cNvPr id="17" name="s22_pi2" descr="worker_w"/>
          <p:cNvPicPr>
            <a:picLocks noChangeAspect="1"/>
          </p:cNvPicPr>
          <p:nvPr/>
        </p:nvPicPr>
        <p:blipFill>
          <a:blip r:embed="rId6"/>
          <a:stretch>
            <a:fillRect/>
          </a:stretch>
        </p:blipFill>
        <p:spPr>
          <a:xfrm>
            <a:off x="10881360" y="4023360"/>
            <a:ext cx="548640" cy="548640"/>
          </a:xfrm>
          <a:prstGeom prst="rect">
            <a:avLst/>
          </a:prstGeom>
        </p:spPr>
      </p:pic>
      <p:sp>
        <p:nvSpPr>
          <p:cNvPr id="18" name="s22_pt2"/>
          <p:cNvSpPr txBox="1"/>
          <p:nvPr/>
        </p:nvSpPr>
        <p:spPr>
          <a:xfrm>
            <a:off x="10241280" y="4892040"/>
            <a:ext cx="1828800" cy="365760"/>
          </a:xfrm>
          <a:prstGeom prst="rect">
            <a:avLst/>
          </a:prstGeom>
          <a:noFill/>
          <a:ln/>
        </p:spPr>
        <p:txBody>
          <a:bodyPr wrap="square" lIns="0" tIns="0" rIns="0" bIns="0" rtlCol="0" anchor="t"/>
          <a:lstStyle/>
          <a:p>
            <a:pPr marL="0" indent="0" algn="ctr">
              <a:buNone/>
            </a:pPr>
            <a:r>
              <a:rPr lang="nl-NL" sz="1800" b="1" dirty="0">
                <a:solidFill>
                  <a:srgbClr val="1E2A3A"/>
                </a:solidFill>
                <a:latin typeface="Calibri" pitchFamily="34" charset="0"/>
                <a:ea typeface="Calibri" pitchFamily="34" charset="-122"/>
                <a:cs typeface="Calibri" pitchFamily="34" charset="-120"/>
              </a:rPr>
              <a:t>Vakbonden</a:t>
            </a:r>
            <a:endParaRPr lang="nl-NL" sz="1800" dirty="0"/>
          </a:p>
        </p:txBody>
      </p:sp>
      <p:sp>
        <p:nvSpPr>
          <p:cNvPr id="19" name="s22_mid"/>
          <p:cNvSpPr txBox="1"/>
          <p:nvPr/>
        </p:nvSpPr>
        <p:spPr>
          <a:xfrm>
            <a:off x="7909560" y="2788920"/>
            <a:ext cx="2377440" cy="822960"/>
          </a:xfrm>
          <a:prstGeom prst="roundRect">
            <a:avLst>
              <a:gd name="adj" fmla="val 8889"/>
            </a:avLst>
          </a:prstGeom>
          <a:solidFill>
            <a:srgbClr val="FFFFFF"/>
          </a:solidFill>
          <a:ln/>
        </p:spPr>
        <p:txBody>
          <a:bodyPr wrap="square" lIns="0" tIns="0" rIns="0" bIns="0" rtlCol="0" anchor="ctr"/>
          <a:lstStyle/>
          <a:p>
            <a:pPr marL="0" indent="0" algn="ctr">
              <a:buNone/>
            </a:pPr>
            <a:r>
              <a:rPr lang="nl-NL" sz="1600" b="1" dirty="0">
                <a:solidFill>
                  <a:srgbClr val="F28C38"/>
                </a:solidFill>
                <a:latin typeface="Calibri" pitchFamily="34" charset="0"/>
                <a:ea typeface="Calibri" pitchFamily="34" charset="-122"/>
                <a:cs typeface="Calibri" pitchFamily="34" charset="-120"/>
              </a:rPr>
              <a:t>Samenwerken in plaats van staken</a:t>
            </a:r>
            <a:endParaRPr lang="nl-NL" sz="1600" dirty="0"/>
          </a:p>
        </p:txBody>
      </p:sp>
      <p:sp>
        <p:nvSpPr>
          <p:cNvPr id="20" name="s22_def"/>
          <p:cNvSpPr txBox="1"/>
          <p:nvPr/>
        </p:nvSpPr>
        <p:spPr>
          <a:xfrm>
            <a:off x="6675120" y="5349240"/>
            <a:ext cx="5120640" cy="731520"/>
          </a:xfrm>
          <a:prstGeom prst="rect">
            <a:avLst/>
          </a:prstGeom>
          <a:noFill/>
          <a:ln/>
        </p:spPr>
        <p:txBody>
          <a:bodyPr wrap="square" lIns="0" tIns="0" rIns="0" bIns="0" rtlCol="0" anchor="t"/>
          <a:lstStyle/>
          <a:p>
            <a:pPr marL="0" indent="0" algn="l">
              <a:buNone/>
            </a:pPr>
            <a:r>
              <a:rPr lang="nl-NL" sz="1600" b="1" dirty="0">
                <a:solidFill>
                  <a:srgbClr val="2E8B74"/>
                </a:solidFill>
                <a:latin typeface="Calibri" pitchFamily="34" charset="0"/>
                <a:ea typeface="Calibri" pitchFamily="34" charset="-122"/>
                <a:cs typeface="Calibri" pitchFamily="34" charset="-120"/>
              </a:rPr>
              <a:t>Harmoniemodel: </a:t>
            </a:r>
            <a:r>
              <a:rPr lang="nl-NL" sz="1600" dirty="0">
                <a:solidFill>
                  <a:srgbClr val="1E2A3A"/>
                </a:solidFill>
                <a:latin typeface="Calibri" pitchFamily="34" charset="0"/>
                <a:ea typeface="Calibri" pitchFamily="34" charset="-122"/>
                <a:cs typeface="Calibri" pitchFamily="34" charset="-120"/>
              </a:rPr>
              <a:t>overheid, werkgevers en werknemers werken samen om het land op te bouwen.</a:t>
            </a:r>
            <a:endParaRPr lang="nl-NL" sz="1600" dirty="0"/>
          </a:p>
        </p:txBody>
      </p:sp>
      <p:sp>
        <p:nvSpPr>
          <p:cNvPr id="21"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2"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3" name="!!rd_d1"/>
          <p:cNvSpPr/>
          <p:nvPr/>
        </p:nvSpPr>
        <p:spPr>
          <a:xfrm>
            <a:off x="2944368" y="6437376"/>
            <a:ext cx="128016" cy="128016"/>
          </a:xfrm>
          <a:prstGeom prst="ellipse">
            <a:avLst/>
          </a:prstGeom>
          <a:solidFill>
            <a:srgbClr val="1E2A3A"/>
          </a:solidFill>
          <a:ln/>
        </p:spPr>
        <p:txBody>
          <a:bodyPr/>
          <a:lstStyle/>
          <a:p>
            <a:endParaRPr lang="nl-NL"/>
          </a:p>
        </p:txBody>
      </p:sp>
      <p:sp>
        <p:nvSpPr>
          <p:cNvPr id="24"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5" name="!!rd_d2"/>
          <p:cNvSpPr/>
          <p:nvPr/>
        </p:nvSpPr>
        <p:spPr>
          <a:xfrm>
            <a:off x="4078224" y="6437376"/>
            <a:ext cx="128016" cy="128016"/>
          </a:xfrm>
          <a:prstGeom prst="ellipse">
            <a:avLst/>
          </a:prstGeom>
          <a:solidFill>
            <a:srgbClr val="C9D1DA"/>
          </a:solidFill>
          <a:ln/>
        </p:spPr>
        <p:txBody>
          <a:bodyPr/>
          <a:lstStyle/>
          <a:p>
            <a:endParaRPr lang="nl-NL"/>
          </a:p>
        </p:txBody>
      </p:sp>
      <p:sp>
        <p:nvSpPr>
          <p:cNvPr id="26"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7" name="!!rd_d3"/>
          <p:cNvSpPr/>
          <p:nvPr/>
        </p:nvSpPr>
        <p:spPr>
          <a:xfrm>
            <a:off x="5212080" y="6437376"/>
            <a:ext cx="128016" cy="128016"/>
          </a:xfrm>
          <a:prstGeom prst="ellipse">
            <a:avLst/>
          </a:prstGeom>
          <a:solidFill>
            <a:srgbClr val="C9D1DA"/>
          </a:solidFill>
          <a:ln/>
        </p:spPr>
        <p:txBody>
          <a:bodyPr/>
          <a:lstStyle/>
          <a:p>
            <a:endParaRPr lang="nl-NL"/>
          </a:p>
        </p:txBody>
      </p:sp>
      <p:sp>
        <p:nvSpPr>
          <p:cNvPr id="28"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9" name="!!rd_d4"/>
          <p:cNvSpPr/>
          <p:nvPr/>
        </p:nvSpPr>
        <p:spPr>
          <a:xfrm>
            <a:off x="6345936" y="6437376"/>
            <a:ext cx="128016" cy="128016"/>
          </a:xfrm>
          <a:prstGeom prst="ellipse">
            <a:avLst/>
          </a:prstGeom>
          <a:solidFill>
            <a:srgbClr val="C9D1DA"/>
          </a:solidFill>
          <a:ln/>
        </p:spPr>
        <p:txBody>
          <a:bodyPr/>
          <a:lstStyle/>
          <a:p>
            <a:endParaRPr lang="nl-NL"/>
          </a:p>
        </p:txBody>
      </p:sp>
      <p:sp>
        <p:nvSpPr>
          <p:cNvPr id="30"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1" name="!!rd_d5"/>
          <p:cNvSpPr/>
          <p:nvPr/>
        </p:nvSpPr>
        <p:spPr>
          <a:xfrm>
            <a:off x="7479792" y="6437376"/>
            <a:ext cx="128016" cy="128016"/>
          </a:xfrm>
          <a:prstGeom prst="ellipse">
            <a:avLst/>
          </a:prstGeom>
          <a:solidFill>
            <a:srgbClr val="C9D1DA"/>
          </a:solidFill>
          <a:ln/>
        </p:spPr>
        <p:txBody>
          <a:bodyPr/>
          <a:lstStyle/>
          <a:p>
            <a:endParaRPr lang="nl-NL"/>
          </a:p>
        </p:txBody>
      </p:sp>
      <p:sp>
        <p:nvSpPr>
          <p:cNvPr id="32"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3"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11"/>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50"/>
                                        <p:tgtEl>
                                          <p:spTgt spid="12"/>
                                        </p:tgtEl>
                                      </p:cBhvr>
                                    </p:animEffect>
                                    <p:anim calcmode="lin" valueType="num">
                                      <p:cBhvr additive="base">
                                        <p:cTn id="18"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19"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13"/>
                                        </p:tgtEl>
                                      </p:cBhvr>
                                    </p:animEffect>
                                  </p:childTnLst>
                                </p:cTn>
                              </p:par>
                              <p:par>
                                <p:cTn id="27" presetID="53" presetClass="entr" presetSubtype="16"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0"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1" dur="275"/>
                                        <p:tgtEl>
                                          <p:spTgt spid="14"/>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650"/>
                                        <p:tgtEl>
                                          <p:spTgt spid="15"/>
                                        </p:tgtEl>
                                      </p:cBhvr>
                                    </p:animEffect>
                                    <p:anim calcmode="lin" valueType="num">
                                      <p:cBhvr additive="base">
                                        <p:cTn id="35" dur="650" decel="100000" fill="hold"/>
                                        <p:tgtEl>
                                          <p:spTgt spid="15"/>
                                        </p:tgtEl>
                                        <p:attrNameLst>
                                          <p:attrName>ppt_x</p:attrName>
                                        </p:attrNameLst>
                                      </p:cBhvr>
                                      <p:tavLst>
                                        <p:tav tm="0">
                                          <p:val>
                                            <p:strVal val="#ppt_x"/>
                                          </p:val>
                                        </p:tav>
                                        <p:tav tm="100000">
                                          <p:val>
                                            <p:strVal val="#ppt_x"/>
                                          </p:val>
                                        </p:tav>
                                      </p:tavLst>
                                    </p:anim>
                                    <p:anim calcmode="lin" valueType="num">
                                      <p:cBhvr additive="base">
                                        <p:cTn id="36" dur="650" decel="100000" fill="hold"/>
                                        <p:tgtEl>
                                          <p:spTgt spid="15"/>
                                        </p:tgtEl>
                                        <p:attrNameLst>
                                          <p:attrName>ppt_y</p:attrName>
                                        </p:attrNameLst>
                                      </p:cBhvr>
                                      <p:tavLst>
                                        <p:tav tm="0">
                                          <p:val>
                                            <p:strVal val="#ppt_y+0.06"/>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2"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3" dur="275"/>
                                        <p:tgtEl>
                                          <p:spTgt spid="16"/>
                                        </p:tgtEl>
                                      </p:cBhvr>
                                    </p:animEffect>
                                  </p:childTnLst>
                                </p:cTn>
                              </p:par>
                              <p:par>
                                <p:cTn id="44" presetID="53" presetClass="entr" presetSubtype="16"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7"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8" dur="275"/>
                                        <p:tgtEl>
                                          <p:spTgt spid="17"/>
                                        </p:tgtEl>
                                      </p:cBhvr>
                                    </p:animEffect>
                                  </p:childTnLst>
                                </p:cTn>
                              </p:par>
                              <p:par>
                                <p:cTn id="49" presetID="42"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50"/>
                                        <p:tgtEl>
                                          <p:spTgt spid="18"/>
                                        </p:tgtEl>
                                      </p:cBhvr>
                                    </p:animEffect>
                                    <p:anim calcmode="lin" valueType="num">
                                      <p:cBhvr additive="base">
                                        <p:cTn id="52"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53" dur="650" decel="1000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left)">
                                      <p:cBhvr>
                                        <p:cTn id="58" dur="650"/>
                                        <p:tgtEl>
                                          <p:spTgt spid="7"/>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650"/>
                                        <p:tgtEl>
                                          <p:spTgt spid="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650"/>
                                        <p:tgtEl>
                                          <p:spTgt spid="9"/>
                                        </p:tgtEl>
                                      </p:cBhvr>
                                    </p:animEffect>
                                  </p:childTnLst>
                                </p:cTn>
                              </p:par>
                            </p:childTnLst>
                          </p:cTn>
                        </p:par>
                        <p:par>
                          <p:cTn id="65" fill="hold">
                            <p:stCondLst>
                              <p:cond delay="650"/>
                            </p:stCondLst>
                            <p:childTnLst>
                              <p:par>
                                <p:cTn id="66" presetID="53" presetClass="entr" presetSubtype="16"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50" fill="hold"/>
                                        <p:tgtEl>
                                          <p:spTgt spid="1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9" dur="550" fill="hold"/>
                                        <p:tgtEl>
                                          <p:spTgt spid="1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0" dur="275"/>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650"/>
                                        <p:tgtEl>
                                          <p:spTgt spid="20"/>
                                        </p:tgtEl>
                                      </p:cBhvr>
                                    </p:animEffect>
                                    <p:anim calcmode="lin" valueType="num">
                                      <p:cBhvr additive="base">
                                        <p:cTn id="76"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77" dur="650" decel="100000" fill="hold"/>
                                        <p:tgtEl>
                                          <p:spTgt spid="20"/>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5" grpId="0" animBg="1"/>
      <p:bldP spid="16" grpId="0" animBg="1"/>
      <p:bldP spid="18"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Het harmoniemodel</a:t>
            </a:r>
            <a:endParaRPr lang="nl-NL" sz="3400" dirty="0"/>
          </a:p>
        </p:txBody>
      </p:sp>
      <p:sp>
        <p:nvSpPr>
          <p:cNvPr id="4" name="!!hv"/>
          <p:cNvSpPr txBox="1"/>
          <p:nvPr/>
        </p:nvSpPr>
        <p:spPr>
          <a:xfrm>
            <a:off x="566928" y="1024128"/>
            <a:ext cx="7315200" cy="365760"/>
          </a:xfrm>
          <a:prstGeom prst="rect">
            <a:avLst/>
          </a:prstGeom>
          <a:noFill/>
          <a:ln/>
        </p:spPr>
        <p:txBody>
          <a:bodyPr wrap="square" lIns="0" tIns="0" rIns="0" bIns="0" rtlCol="0" anchor="t"/>
          <a:lstStyle/>
          <a:p>
            <a:pPr marL="0" indent="0" algn="l">
              <a:buNone/>
            </a:pPr>
            <a:r>
              <a:rPr lang="nl-NL" sz="1900" dirty="0">
                <a:solidFill>
                  <a:srgbClr val="5B6B7B"/>
                </a:solidFill>
                <a:latin typeface="Calibri" pitchFamily="34" charset="0"/>
                <a:ea typeface="Calibri" pitchFamily="34" charset="-122"/>
                <a:cs typeface="Calibri" pitchFamily="34" charset="-120"/>
              </a:rPr>
              <a:t>De afspraak: wat doet iedereen?</a:t>
            </a:r>
            <a:endParaRPr lang="nl-NL" sz="1900" dirty="0"/>
          </a:p>
        </p:txBody>
      </p:sp>
      <p:sp>
        <p:nvSpPr>
          <p:cNvPr id="5" name="s23_cb0"/>
          <p:cNvSpPr/>
          <p:nvPr/>
        </p:nvSpPr>
        <p:spPr>
          <a:xfrm>
            <a:off x="548640" y="1645920"/>
            <a:ext cx="3520440" cy="2103120"/>
          </a:xfrm>
          <a:prstGeom prst="roundRect">
            <a:avLst>
              <a:gd name="adj" fmla="val 5217"/>
            </a:avLst>
          </a:prstGeom>
          <a:solidFill>
            <a:srgbClr val="E5F3EE"/>
          </a:solidFill>
          <a:ln/>
        </p:spPr>
        <p:txBody>
          <a:bodyPr/>
          <a:lstStyle/>
          <a:p>
            <a:endParaRPr lang="nl-NL"/>
          </a:p>
        </p:txBody>
      </p:sp>
      <p:sp>
        <p:nvSpPr>
          <p:cNvPr id="6" name="s23_cc0"/>
          <p:cNvSpPr/>
          <p:nvPr/>
        </p:nvSpPr>
        <p:spPr>
          <a:xfrm>
            <a:off x="822960" y="1920240"/>
            <a:ext cx="731520" cy="731520"/>
          </a:xfrm>
          <a:prstGeom prst="ellipse">
            <a:avLst/>
          </a:prstGeom>
          <a:solidFill>
            <a:srgbClr val="2E8B74"/>
          </a:solidFill>
          <a:ln/>
        </p:spPr>
        <p:txBody>
          <a:bodyPr/>
          <a:lstStyle/>
          <a:p>
            <a:endParaRPr lang="nl-NL"/>
          </a:p>
        </p:txBody>
      </p:sp>
      <p:pic>
        <p:nvPicPr>
          <p:cNvPr id="7" name="s23_ci0" descr="worker_w"/>
          <p:cNvPicPr>
            <a:picLocks noChangeAspect="1"/>
          </p:cNvPicPr>
          <p:nvPr/>
        </p:nvPicPr>
        <p:blipFill>
          <a:blip r:embed="rId3"/>
          <a:stretch>
            <a:fillRect/>
          </a:stretch>
        </p:blipFill>
        <p:spPr>
          <a:xfrm>
            <a:off x="1005840" y="2103120"/>
            <a:ext cx="365760" cy="365760"/>
          </a:xfrm>
          <a:prstGeom prst="rect">
            <a:avLst/>
          </a:prstGeom>
        </p:spPr>
      </p:pic>
      <p:sp>
        <p:nvSpPr>
          <p:cNvPr id="8" name="s23_ct0"/>
          <p:cNvSpPr txBox="1"/>
          <p:nvPr/>
        </p:nvSpPr>
        <p:spPr>
          <a:xfrm>
            <a:off x="1737360" y="2057400"/>
            <a:ext cx="2148840" cy="457200"/>
          </a:xfrm>
          <a:prstGeom prst="rect">
            <a:avLst/>
          </a:prstGeom>
          <a:noFill/>
          <a:ln/>
        </p:spPr>
        <p:txBody>
          <a:bodyPr wrap="square" lIns="0" tIns="0" rIns="0" bIns="0" rtlCol="0" anchor="t"/>
          <a:lstStyle/>
          <a:p>
            <a:pPr marL="0" indent="0" algn="l">
              <a:buNone/>
            </a:pPr>
            <a:r>
              <a:rPr lang="nl-NL" sz="2200" b="1" dirty="0">
                <a:solidFill>
                  <a:srgbClr val="1E2A3A"/>
                </a:solidFill>
                <a:latin typeface="Calibri" pitchFamily="34" charset="0"/>
                <a:ea typeface="Calibri" pitchFamily="34" charset="-122"/>
                <a:cs typeface="Calibri" pitchFamily="34" charset="-120"/>
              </a:rPr>
              <a:t>Vakbonden</a:t>
            </a:r>
            <a:endParaRPr lang="nl-NL" sz="2200" dirty="0"/>
          </a:p>
        </p:txBody>
      </p:sp>
      <p:sp>
        <p:nvSpPr>
          <p:cNvPr id="9" name="s23_cd0"/>
          <p:cNvSpPr txBox="1"/>
          <p:nvPr/>
        </p:nvSpPr>
        <p:spPr>
          <a:xfrm>
            <a:off x="822960" y="2834640"/>
            <a:ext cx="2971800" cy="77724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vragen geen hoger loon</a:t>
            </a:r>
            <a:endParaRPr lang="nl-NL" sz="1800" dirty="0"/>
          </a:p>
        </p:txBody>
      </p:sp>
      <p:sp>
        <p:nvSpPr>
          <p:cNvPr id="10" name="s23_cb1"/>
          <p:cNvSpPr/>
          <p:nvPr/>
        </p:nvSpPr>
        <p:spPr>
          <a:xfrm>
            <a:off x="4389120" y="1645920"/>
            <a:ext cx="3520440" cy="2103120"/>
          </a:xfrm>
          <a:prstGeom prst="roundRect">
            <a:avLst>
              <a:gd name="adj" fmla="val 5217"/>
            </a:avLst>
          </a:prstGeom>
          <a:solidFill>
            <a:srgbClr val="E5F3EE"/>
          </a:solidFill>
          <a:ln/>
        </p:spPr>
        <p:txBody>
          <a:bodyPr/>
          <a:lstStyle/>
          <a:p>
            <a:endParaRPr lang="nl-NL"/>
          </a:p>
        </p:txBody>
      </p:sp>
      <p:sp>
        <p:nvSpPr>
          <p:cNvPr id="11" name="s23_cc1"/>
          <p:cNvSpPr/>
          <p:nvPr/>
        </p:nvSpPr>
        <p:spPr>
          <a:xfrm>
            <a:off x="4663440" y="1920240"/>
            <a:ext cx="731520" cy="731520"/>
          </a:xfrm>
          <a:prstGeom prst="ellipse">
            <a:avLst/>
          </a:prstGeom>
          <a:solidFill>
            <a:srgbClr val="2E8B74"/>
          </a:solidFill>
          <a:ln/>
        </p:spPr>
        <p:txBody>
          <a:bodyPr/>
          <a:lstStyle/>
          <a:p>
            <a:endParaRPr lang="nl-NL"/>
          </a:p>
        </p:txBody>
      </p:sp>
      <p:pic>
        <p:nvPicPr>
          <p:cNvPr id="12" name="s23_ci1" descr="boss_w"/>
          <p:cNvPicPr>
            <a:picLocks noChangeAspect="1"/>
          </p:cNvPicPr>
          <p:nvPr/>
        </p:nvPicPr>
        <p:blipFill>
          <a:blip r:embed="rId4"/>
          <a:stretch>
            <a:fillRect/>
          </a:stretch>
        </p:blipFill>
        <p:spPr>
          <a:xfrm>
            <a:off x="4846320" y="2103120"/>
            <a:ext cx="365760" cy="365760"/>
          </a:xfrm>
          <a:prstGeom prst="rect">
            <a:avLst/>
          </a:prstGeom>
        </p:spPr>
      </p:pic>
      <p:sp>
        <p:nvSpPr>
          <p:cNvPr id="13" name="s23_ct1"/>
          <p:cNvSpPr txBox="1"/>
          <p:nvPr/>
        </p:nvSpPr>
        <p:spPr>
          <a:xfrm>
            <a:off x="5577840" y="2057400"/>
            <a:ext cx="2148840" cy="457200"/>
          </a:xfrm>
          <a:prstGeom prst="rect">
            <a:avLst/>
          </a:prstGeom>
          <a:noFill/>
          <a:ln/>
        </p:spPr>
        <p:txBody>
          <a:bodyPr wrap="square" lIns="0" tIns="0" rIns="0" bIns="0" rtlCol="0" anchor="t"/>
          <a:lstStyle/>
          <a:p>
            <a:pPr marL="0" indent="0" algn="l">
              <a:buNone/>
            </a:pPr>
            <a:r>
              <a:rPr lang="nl-NL" sz="2200" b="1" dirty="0">
                <a:solidFill>
                  <a:srgbClr val="1E2A3A"/>
                </a:solidFill>
                <a:latin typeface="Calibri" pitchFamily="34" charset="0"/>
                <a:ea typeface="Calibri" pitchFamily="34" charset="-122"/>
                <a:cs typeface="Calibri" pitchFamily="34" charset="-120"/>
              </a:rPr>
              <a:t>Werkgevers</a:t>
            </a:r>
            <a:endParaRPr lang="nl-NL" sz="2200" dirty="0"/>
          </a:p>
        </p:txBody>
      </p:sp>
      <p:sp>
        <p:nvSpPr>
          <p:cNvPr id="14" name="s23_cd1"/>
          <p:cNvSpPr txBox="1"/>
          <p:nvPr/>
        </p:nvSpPr>
        <p:spPr>
          <a:xfrm>
            <a:off x="4663440" y="2834640"/>
            <a:ext cx="2971800" cy="77724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helpen zoveel mogelijk mensen aan werk</a:t>
            </a:r>
            <a:endParaRPr lang="nl-NL" sz="1800" dirty="0"/>
          </a:p>
        </p:txBody>
      </p:sp>
      <p:sp>
        <p:nvSpPr>
          <p:cNvPr id="15" name="s23_cb2"/>
          <p:cNvSpPr/>
          <p:nvPr/>
        </p:nvSpPr>
        <p:spPr>
          <a:xfrm>
            <a:off x="8229600" y="1645920"/>
            <a:ext cx="3520440" cy="2103120"/>
          </a:xfrm>
          <a:prstGeom prst="roundRect">
            <a:avLst>
              <a:gd name="adj" fmla="val 5217"/>
            </a:avLst>
          </a:prstGeom>
          <a:solidFill>
            <a:srgbClr val="E5F3EE"/>
          </a:solidFill>
          <a:ln/>
        </p:spPr>
        <p:txBody>
          <a:bodyPr/>
          <a:lstStyle/>
          <a:p>
            <a:endParaRPr lang="nl-NL"/>
          </a:p>
        </p:txBody>
      </p:sp>
      <p:sp>
        <p:nvSpPr>
          <p:cNvPr id="16" name="s23_cc2"/>
          <p:cNvSpPr/>
          <p:nvPr/>
        </p:nvSpPr>
        <p:spPr>
          <a:xfrm>
            <a:off x="8503920" y="1920240"/>
            <a:ext cx="731520" cy="731520"/>
          </a:xfrm>
          <a:prstGeom prst="ellipse">
            <a:avLst/>
          </a:prstGeom>
          <a:solidFill>
            <a:srgbClr val="2E8B74"/>
          </a:solidFill>
          <a:ln/>
        </p:spPr>
        <p:txBody>
          <a:bodyPr/>
          <a:lstStyle/>
          <a:p>
            <a:endParaRPr lang="nl-NL"/>
          </a:p>
        </p:txBody>
      </p:sp>
      <p:pic>
        <p:nvPicPr>
          <p:cNvPr id="17" name="s23_ci2" descr="landmark_w"/>
          <p:cNvPicPr>
            <a:picLocks noChangeAspect="1"/>
          </p:cNvPicPr>
          <p:nvPr/>
        </p:nvPicPr>
        <p:blipFill>
          <a:blip r:embed="rId5"/>
          <a:stretch>
            <a:fillRect/>
          </a:stretch>
        </p:blipFill>
        <p:spPr>
          <a:xfrm>
            <a:off x="8686800" y="2103120"/>
            <a:ext cx="365760" cy="365760"/>
          </a:xfrm>
          <a:prstGeom prst="rect">
            <a:avLst/>
          </a:prstGeom>
        </p:spPr>
      </p:pic>
      <p:sp>
        <p:nvSpPr>
          <p:cNvPr id="18" name="s23_ct2"/>
          <p:cNvSpPr txBox="1"/>
          <p:nvPr/>
        </p:nvSpPr>
        <p:spPr>
          <a:xfrm>
            <a:off x="9418320" y="2057400"/>
            <a:ext cx="2148840" cy="457200"/>
          </a:xfrm>
          <a:prstGeom prst="rect">
            <a:avLst/>
          </a:prstGeom>
          <a:noFill/>
          <a:ln/>
        </p:spPr>
        <p:txBody>
          <a:bodyPr wrap="square" lIns="0" tIns="0" rIns="0" bIns="0" rtlCol="0" anchor="t"/>
          <a:lstStyle/>
          <a:p>
            <a:pPr marL="0" indent="0" algn="l">
              <a:buNone/>
            </a:pPr>
            <a:r>
              <a:rPr lang="nl-NL" sz="2200" b="1" dirty="0">
                <a:solidFill>
                  <a:srgbClr val="1E2A3A"/>
                </a:solidFill>
                <a:latin typeface="Calibri" pitchFamily="34" charset="0"/>
                <a:ea typeface="Calibri" pitchFamily="34" charset="-122"/>
                <a:cs typeface="Calibri" pitchFamily="34" charset="-120"/>
              </a:rPr>
              <a:t>Overheid</a:t>
            </a:r>
            <a:endParaRPr lang="nl-NL" sz="2200" dirty="0"/>
          </a:p>
        </p:txBody>
      </p:sp>
      <p:sp>
        <p:nvSpPr>
          <p:cNvPr id="19" name="s23_cd2"/>
          <p:cNvSpPr txBox="1"/>
          <p:nvPr/>
        </p:nvSpPr>
        <p:spPr>
          <a:xfrm>
            <a:off x="8503920" y="2834640"/>
            <a:ext cx="2971800" cy="77724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geeft geld aan bedrijven én maakt nieuwe sociale wetten</a:t>
            </a:r>
            <a:endParaRPr lang="nl-NL" sz="1800" dirty="0"/>
          </a:p>
        </p:txBody>
      </p:sp>
      <p:sp>
        <p:nvSpPr>
          <p:cNvPr id="20" name="s23_glp_bg"/>
          <p:cNvSpPr/>
          <p:nvPr/>
        </p:nvSpPr>
        <p:spPr>
          <a:xfrm>
            <a:off x="548640" y="4023360"/>
            <a:ext cx="11109960" cy="960120"/>
          </a:xfrm>
          <a:prstGeom prst="roundRect">
            <a:avLst>
              <a:gd name="adj" fmla="val 9524"/>
            </a:avLst>
          </a:prstGeom>
          <a:solidFill>
            <a:srgbClr val="FFFFFF"/>
          </a:solidFill>
          <a:ln w="25400">
            <a:solidFill>
              <a:srgbClr val="F28C38"/>
            </a:solidFill>
            <a:prstDash val="solid"/>
          </a:ln>
        </p:spPr>
        <p:txBody>
          <a:bodyPr/>
          <a:lstStyle/>
          <a:p>
            <a:endParaRPr lang="nl-NL"/>
          </a:p>
        </p:txBody>
      </p:sp>
      <p:pic>
        <p:nvPicPr>
          <p:cNvPr id="21" name="s23_glp_i" descr="scale_acc"/>
          <p:cNvPicPr>
            <a:picLocks noChangeAspect="1"/>
          </p:cNvPicPr>
          <p:nvPr/>
        </p:nvPicPr>
        <p:blipFill>
          <a:blip r:embed="rId6"/>
          <a:stretch>
            <a:fillRect/>
          </a:stretch>
        </p:blipFill>
        <p:spPr>
          <a:xfrm>
            <a:off x="777240" y="4270248"/>
            <a:ext cx="475488" cy="475488"/>
          </a:xfrm>
          <a:prstGeom prst="rect">
            <a:avLst/>
          </a:prstGeom>
        </p:spPr>
      </p:pic>
      <p:sp>
        <p:nvSpPr>
          <p:cNvPr id="22" name="s23_glp_t"/>
          <p:cNvSpPr txBox="1"/>
          <p:nvPr/>
        </p:nvSpPr>
        <p:spPr>
          <a:xfrm>
            <a:off x="1463040" y="4133088"/>
            <a:ext cx="9966960" cy="749808"/>
          </a:xfrm>
          <a:prstGeom prst="rect">
            <a:avLst/>
          </a:prstGeom>
          <a:noFill/>
          <a:ln/>
        </p:spPr>
        <p:txBody>
          <a:bodyPr wrap="square" lIns="0" tIns="0" rIns="0" bIns="0" rtlCol="0" anchor="ctr"/>
          <a:lstStyle/>
          <a:p>
            <a:pPr marL="0" indent="0" algn="l">
              <a:buNone/>
            </a:pPr>
            <a:r>
              <a:rPr lang="nl-NL" sz="1900" b="1" dirty="0">
                <a:solidFill>
                  <a:srgbClr val="F28C38"/>
                </a:solidFill>
                <a:latin typeface="Calibri" pitchFamily="34" charset="0"/>
                <a:ea typeface="Calibri" pitchFamily="34" charset="-122"/>
                <a:cs typeface="Calibri" pitchFamily="34" charset="-120"/>
              </a:rPr>
              <a:t>Geleide loonpolitiek: </a:t>
            </a:r>
            <a:r>
              <a:rPr lang="nl-NL" sz="1900" dirty="0">
                <a:solidFill>
                  <a:srgbClr val="1E2A3A"/>
                </a:solidFill>
                <a:latin typeface="Calibri" pitchFamily="34" charset="0"/>
                <a:ea typeface="Calibri" pitchFamily="34" charset="-122"/>
                <a:cs typeface="Calibri" pitchFamily="34" charset="-120"/>
              </a:rPr>
              <a:t>de lonen blijven een paar jaar laag. Al het geld is nodig om de oorlogsschade te herstellen.</a:t>
            </a:r>
            <a:endParaRPr lang="nl-NL" sz="1900" dirty="0"/>
          </a:p>
        </p:txBody>
      </p:sp>
      <p:sp>
        <p:nvSpPr>
          <p:cNvPr id="23" name="s23_ruil_bg"/>
          <p:cNvSpPr/>
          <p:nvPr/>
        </p:nvSpPr>
        <p:spPr>
          <a:xfrm>
            <a:off x="548640" y="5166360"/>
            <a:ext cx="11109960" cy="960120"/>
          </a:xfrm>
          <a:prstGeom prst="roundRect">
            <a:avLst>
              <a:gd name="adj" fmla="val 9524"/>
            </a:avLst>
          </a:prstGeom>
          <a:solidFill>
            <a:srgbClr val="FDEEE2"/>
          </a:solidFill>
          <a:ln/>
        </p:spPr>
        <p:txBody>
          <a:bodyPr/>
          <a:lstStyle/>
          <a:p>
            <a:endParaRPr lang="nl-NL"/>
          </a:p>
        </p:txBody>
      </p:sp>
      <p:pic>
        <p:nvPicPr>
          <p:cNvPr id="24" name="s23_ruil_i" descr="handshake_acc"/>
          <p:cNvPicPr>
            <a:picLocks noChangeAspect="1"/>
          </p:cNvPicPr>
          <p:nvPr/>
        </p:nvPicPr>
        <p:blipFill>
          <a:blip r:embed="rId7"/>
          <a:stretch>
            <a:fillRect/>
          </a:stretch>
        </p:blipFill>
        <p:spPr>
          <a:xfrm>
            <a:off x="777240" y="5394960"/>
            <a:ext cx="502920" cy="502920"/>
          </a:xfrm>
          <a:prstGeom prst="rect">
            <a:avLst/>
          </a:prstGeom>
        </p:spPr>
      </p:pic>
      <p:sp>
        <p:nvSpPr>
          <p:cNvPr id="25" name="s23_ruil_t"/>
          <p:cNvSpPr txBox="1"/>
          <p:nvPr/>
        </p:nvSpPr>
        <p:spPr>
          <a:xfrm>
            <a:off x="1463040" y="5276088"/>
            <a:ext cx="9966960" cy="749808"/>
          </a:xfrm>
          <a:prstGeom prst="rect">
            <a:avLst/>
          </a:prstGeom>
          <a:noFill/>
          <a:ln/>
        </p:spPr>
        <p:txBody>
          <a:bodyPr wrap="square" lIns="0" tIns="0" rIns="0" bIns="0" rtlCol="0" anchor="ctr"/>
          <a:lstStyle/>
          <a:p>
            <a:pPr marL="0" indent="0" algn="l">
              <a:buNone/>
            </a:pPr>
            <a:r>
              <a:rPr lang="nl-NL" sz="1900" b="1" dirty="0">
                <a:solidFill>
                  <a:srgbClr val="F28C38"/>
                </a:solidFill>
                <a:latin typeface="Calibri" pitchFamily="34" charset="0"/>
                <a:ea typeface="Calibri" pitchFamily="34" charset="-122"/>
                <a:cs typeface="Calibri" pitchFamily="34" charset="-120"/>
              </a:rPr>
              <a:t>In ruil: </a:t>
            </a:r>
            <a:r>
              <a:rPr lang="nl-NL" sz="1900" dirty="0">
                <a:solidFill>
                  <a:srgbClr val="1E2A3A"/>
                </a:solidFill>
                <a:latin typeface="Calibri" pitchFamily="34" charset="0"/>
                <a:ea typeface="Calibri" pitchFamily="34" charset="-122"/>
                <a:cs typeface="Calibri" pitchFamily="34" charset="-120"/>
              </a:rPr>
              <a:t>uitkeringen voor ouderen, arbeidsongeschikten, werklozen, weduwen en wezen.</a:t>
            </a:r>
            <a:endParaRPr lang="nl-NL" sz="1900" dirty="0"/>
          </a:p>
        </p:txBody>
      </p:sp>
      <p:sp>
        <p:nvSpPr>
          <p:cNvPr id="26"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7"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8" name="!!rd_d1"/>
          <p:cNvSpPr/>
          <p:nvPr/>
        </p:nvSpPr>
        <p:spPr>
          <a:xfrm>
            <a:off x="2944368" y="6437376"/>
            <a:ext cx="128016" cy="128016"/>
          </a:xfrm>
          <a:prstGeom prst="ellipse">
            <a:avLst/>
          </a:prstGeom>
          <a:solidFill>
            <a:srgbClr val="1E2A3A"/>
          </a:solidFill>
          <a:ln/>
        </p:spPr>
        <p:txBody>
          <a:bodyPr/>
          <a:lstStyle/>
          <a:p>
            <a:endParaRPr lang="nl-NL"/>
          </a:p>
        </p:txBody>
      </p:sp>
      <p:sp>
        <p:nvSpPr>
          <p:cNvPr id="29"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30" name="!!rd_d2"/>
          <p:cNvSpPr/>
          <p:nvPr/>
        </p:nvSpPr>
        <p:spPr>
          <a:xfrm>
            <a:off x="4078224" y="6437376"/>
            <a:ext cx="128016" cy="128016"/>
          </a:xfrm>
          <a:prstGeom prst="ellipse">
            <a:avLst/>
          </a:prstGeom>
          <a:solidFill>
            <a:srgbClr val="C9D1DA"/>
          </a:solidFill>
          <a:ln/>
        </p:spPr>
        <p:txBody>
          <a:bodyPr/>
          <a:lstStyle/>
          <a:p>
            <a:endParaRPr lang="nl-NL"/>
          </a:p>
        </p:txBody>
      </p:sp>
      <p:sp>
        <p:nvSpPr>
          <p:cNvPr id="31"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32" name="!!rd_d3"/>
          <p:cNvSpPr/>
          <p:nvPr/>
        </p:nvSpPr>
        <p:spPr>
          <a:xfrm>
            <a:off x="5212080" y="6437376"/>
            <a:ext cx="128016" cy="128016"/>
          </a:xfrm>
          <a:prstGeom prst="ellipse">
            <a:avLst/>
          </a:prstGeom>
          <a:solidFill>
            <a:srgbClr val="C9D1DA"/>
          </a:solidFill>
          <a:ln/>
        </p:spPr>
        <p:txBody>
          <a:bodyPr/>
          <a:lstStyle/>
          <a:p>
            <a:endParaRPr lang="nl-NL"/>
          </a:p>
        </p:txBody>
      </p:sp>
      <p:sp>
        <p:nvSpPr>
          <p:cNvPr id="33"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4" name="!!rd_d4"/>
          <p:cNvSpPr/>
          <p:nvPr/>
        </p:nvSpPr>
        <p:spPr>
          <a:xfrm>
            <a:off x="6345936" y="6437376"/>
            <a:ext cx="128016" cy="128016"/>
          </a:xfrm>
          <a:prstGeom prst="ellipse">
            <a:avLst/>
          </a:prstGeom>
          <a:solidFill>
            <a:srgbClr val="C9D1DA"/>
          </a:solidFill>
          <a:ln/>
        </p:spPr>
        <p:txBody>
          <a:bodyPr/>
          <a:lstStyle/>
          <a:p>
            <a:endParaRPr lang="nl-NL"/>
          </a:p>
        </p:txBody>
      </p:sp>
      <p:sp>
        <p:nvSpPr>
          <p:cNvPr id="35"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6" name="!!rd_d5"/>
          <p:cNvSpPr/>
          <p:nvPr/>
        </p:nvSpPr>
        <p:spPr>
          <a:xfrm>
            <a:off x="7479792" y="6437376"/>
            <a:ext cx="128016" cy="128016"/>
          </a:xfrm>
          <a:prstGeom prst="ellipse">
            <a:avLst/>
          </a:prstGeom>
          <a:solidFill>
            <a:srgbClr val="C9D1DA"/>
          </a:solidFill>
          <a:ln/>
        </p:spPr>
        <p:txBody>
          <a:bodyPr/>
          <a:lstStyle/>
          <a:p>
            <a:endParaRPr lang="nl-NL"/>
          </a:p>
        </p:txBody>
      </p:sp>
      <p:sp>
        <p:nvSpPr>
          <p:cNvPr id="37"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8"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8" dur="600" decel="100000" fill="hold"/>
                                        <p:tgtEl>
                                          <p:spTgt spid="5"/>
                                        </p:tgtEl>
                                        <p:attrNameLst>
                                          <p:attrName>ppt_y</p:attrName>
                                        </p:attrNameLst>
                                      </p:cBhvr>
                                      <p:tavLst>
                                        <p:tav tm="0">
                                          <p:val>
                                            <p:strVal val="#ppt_y+0.3"/>
                                          </p:val>
                                        </p:tav>
                                        <p:tav tm="100000">
                                          <p:val>
                                            <p:strVal val="#ppt_y"/>
                                          </p:val>
                                        </p:tav>
                                      </p:tavLst>
                                    </p:anim>
                                    <p:animEffect transition="in" filter="fade">
                                      <p:cBhvr>
                                        <p:cTn id="9" dur="420"/>
                                        <p:tgtEl>
                                          <p:spTgt spid="5"/>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3" dur="600" decel="100000" fill="hold"/>
                                        <p:tgtEl>
                                          <p:spTgt spid="6"/>
                                        </p:tgtEl>
                                        <p:attrNameLst>
                                          <p:attrName>ppt_y</p:attrName>
                                        </p:attrNameLst>
                                      </p:cBhvr>
                                      <p:tavLst>
                                        <p:tav tm="0">
                                          <p:val>
                                            <p:strVal val="#ppt_y+0.3"/>
                                          </p:val>
                                        </p:tav>
                                        <p:tav tm="100000">
                                          <p:val>
                                            <p:strVal val="#ppt_y"/>
                                          </p:val>
                                        </p:tav>
                                      </p:tavLst>
                                    </p:anim>
                                    <p:animEffect transition="in" filter="fade">
                                      <p:cBhvr>
                                        <p:cTn id="14" dur="420"/>
                                        <p:tgtEl>
                                          <p:spTgt spid="6"/>
                                        </p:tgtEl>
                                      </p:cBhvr>
                                    </p:animEffect>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8" dur="600" decel="100000" fill="hold"/>
                                        <p:tgtEl>
                                          <p:spTgt spid="7"/>
                                        </p:tgtEl>
                                        <p:attrNameLst>
                                          <p:attrName>ppt_y</p:attrName>
                                        </p:attrNameLst>
                                      </p:cBhvr>
                                      <p:tavLst>
                                        <p:tav tm="0">
                                          <p:val>
                                            <p:strVal val="#ppt_y+0.3"/>
                                          </p:val>
                                        </p:tav>
                                        <p:tav tm="100000">
                                          <p:val>
                                            <p:strVal val="#ppt_y"/>
                                          </p:val>
                                        </p:tav>
                                      </p:tavLst>
                                    </p:anim>
                                    <p:animEffect transition="in" filter="fade">
                                      <p:cBhvr>
                                        <p:cTn id="19" dur="420"/>
                                        <p:tgtEl>
                                          <p:spTgt spid="7"/>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3" dur="600" decel="100000" fill="hold"/>
                                        <p:tgtEl>
                                          <p:spTgt spid="8"/>
                                        </p:tgtEl>
                                        <p:attrNameLst>
                                          <p:attrName>ppt_y</p:attrName>
                                        </p:attrNameLst>
                                      </p:cBhvr>
                                      <p:tavLst>
                                        <p:tav tm="0">
                                          <p:val>
                                            <p:strVal val="#ppt_y+0.3"/>
                                          </p:val>
                                        </p:tav>
                                        <p:tav tm="100000">
                                          <p:val>
                                            <p:strVal val="#ppt_y"/>
                                          </p:val>
                                        </p:tav>
                                      </p:tavLst>
                                    </p:anim>
                                    <p:animEffect transition="in" filter="fade">
                                      <p:cBhvr>
                                        <p:cTn id="24" dur="420"/>
                                        <p:tgtEl>
                                          <p:spTgt spid="8"/>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8" dur="600" decel="100000" fill="hold"/>
                                        <p:tgtEl>
                                          <p:spTgt spid="9"/>
                                        </p:tgtEl>
                                        <p:attrNameLst>
                                          <p:attrName>ppt_y</p:attrName>
                                        </p:attrNameLst>
                                      </p:cBhvr>
                                      <p:tavLst>
                                        <p:tav tm="0">
                                          <p:val>
                                            <p:strVal val="#ppt_y+0.3"/>
                                          </p:val>
                                        </p:tav>
                                        <p:tav tm="100000">
                                          <p:val>
                                            <p:strVal val="#ppt_y"/>
                                          </p:val>
                                        </p:tav>
                                      </p:tavLst>
                                    </p:anim>
                                    <p:animEffect transition="in" filter="fade">
                                      <p:cBhvr>
                                        <p:cTn id="29" dur="42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35" dur="600" decel="100000" fill="hold"/>
                                        <p:tgtEl>
                                          <p:spTgt spid="10"/>
                                        </p:tgtEl>
                                        <p:attrNameLst>
                                          <p:attrName>ppt_y</p:attrName>
                                        </p:attrNameLst>
                                      </p:cBhvr>
                                      <p:tavLst>
                                        <p:tav tm="0">
                                          <p:val>
                                            <p:strVal val="#ppt_y+0.3"/>
                                          </p:val>
                                        </p:tav>
                                        <p:tav tm="100000">
                                          <p:val>
                                            <p:strVal val="#ppt_y"/>
                                          </p:val>
                                        </p:tav>
                                      </p:tavLst>
                                    </p:anim>
                                    <p:animEffect transition="in" filter="fade">
                                      <p:cBhvr>
                                        <p:cTn id="36" dur="420"/>
                                        <p:tgtEl>
                                          <p:spTgt spid="10"/>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00" decel="100000" fill="hold"/>
                                        <p:tgtEl>
                                          <p:spTgt spid="11"/>
                                        </p:tgtEl>
                                        <p:attrNameLst>
                                          <p:attrName>ppt_y</p:attrName>
                                        </p:attrNameLst>
                                      </p:cBhvr>
                                      <p:tavLst>
                                        <p:tav tm="0">
                                          <p:val>
                                            <p:strVal val="#ppt_y+0.3"/>
                                          </p:val>
                                        </p:tav>
                                        <p:tav tm="100000">
                                          <p:val>
                                            <p:strVal val="#ppt_y"/>
                                          </p:val>
                                        </p:tav>
                                      </p:tavLst>
                                    </p:anim>
                                    <p:animEffect transition="in" filter="fade">
                                      <p:cBhvr>
                                        <p:cTn id="41" dur="420"/>
                                        <p:tgtEl>
                                          <p:spTgt spid="11"/>
                                        </p:tgtEl>
                                      </p:cBhvr>
                                    </p:animEffect>
                                  </p:childTnLst>
                                </p:cTn>
                              </p:par>
                              <p:par>
                                <p:cTn id="42" presetID="2" presetClass="entr" presetSubtype="4"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5" dur="600" decel="100000" fill="hold"/>
                                        <p:tgtEl>
                                          <p:spTgt spid="12"/>
                                        </p:tgtEl>
                                        <p:attrNameLst>
                                          <p:attrName>ppt_y</p:attrName>
                                        </p:attrNameLst>
                                      </p:cBhvr>
                                      <p:tavLst>
                                        <p:tav tm="0">
                                          <p:val>
                                            <p:strVal val="#ppt_y+0.3"/>
                                          </p:val>
                                        </p:tav>
                                        <p:tav tm="100000">
                                          <p:val>
                                            <p:strVal val="#ppt_y"/>
                                          </p:val>
                                        </p:tav>
                                      </p:tavLst>
                                    </p:anim>
                                    <p:animEffect transition="in" filter="fade">
                                      <p:cBhvr>
                                        <p:cTn id="46" dur="420"/>
                                        <p:tgtEl>
                                          <p:spTgt spid="12"/>
                                        </p:tgtEl>
                                      </p:cBhvr>
                                    </p:animEffect>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50" dur="600" decel="100000" fill="hold"/>
                                        <p:tgtEl>
                                          <p:spTgt spid="13"/>
                                        </p:tgtEl>
                                        <p:attrNameLst>
                                          <p:attrName>ppt_y</p:attrName>
                                        </p:attrNameLst>
                                      </p:cBhvr>
                                      <p:tavLst>
                                        <p:tav tm="0">
                                          <p:val>
                                            <p:strVal val="#ppt_y+0.3"/>
                                          </p:val>
                                        </p:tav>
                                        <p:tav tm="100000">
                                          <p:val>
                                            <p:strVal val="#ppt_y"/>
                                          </p:val>
                                        </p:tav>
                                      </p:tavLst>
                                    </p:anim>
                                    <p:animEffect transition="in" filter="fade">
                                      <p:cBhvr>
                                        <p:cTn id="51" dur="420"/>
                                        <p:tgtEl>
                                          <p:spTgt spid="13"/>
                                        </p:tgtEl>
                                      </p:cBhvr>
                                    </p:animEffect>
                                  </p:childTnLst>
                                </p:cTn>
                              </p:par>
                              <p:par>
                                <p:cTn id="52" presetID="2" presetClass="entr" presetSubtype="4"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5" dur="600" decel="100000" fill="hold"/>
                                        <p:tgtEl>
                                          <p:spTgt spid="14"/>
                                        </p:tgtEl>
                                        <p:attrNameLst>
                                          <p:attrName>ppt_y</p:attrName>
                                        </p:attrNameLst>
                                      </p:cBhvr>
                                      <p:tavLst>
                                        <p:tav tm="0">
                                          <p:val>
                                            <p:strVal val="#ppt_y+0.3"/>
                                          </p:val>
                                        </p:tav>
                                        <p:tav tm="100000">
                                          <p:val>
                                            <p:strVal val="#ppt_y"/>
                                          </p:val>
                                        </p:tav>
                                      </p:tavLst>
                                    </p:anim>
                                    <p:animEffect transition="in" filter="fade">
                                      <p:cBhvr>
                                        <p:cTn id="56" dur="42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62" dur="600" decel="100000" fill="hold"/>
                                        <p:tgtEl>
                                          <p:spTgt spid="15"/>
                                        </p:tgtEl>
                                        <p:attrNameLst>
                                          <p:attrName>ppt_y</p:attrName>
                                        </p:attrNameLst>
                                      </p:cBhvr>
                                      <p:tavLst>
                                        <p:tav tm="0">
                                          <p:val>
                                            <p:strVal val="#ppt_y+0.3"/>
                                          </p:val>
                                        </p:tav>
                                        <p:tav tm="100000">
                                          <p:val>
                                            <p:strVal val="#ppt_y"/>
                                          </p:val>
                                        </p:tav>
                                      </p:tavLst>
                                    </p:anim>
                                    <p:animEffect transition="in" filter="fade">
                                      <p:cBhvr>
                                        <p:cTn id="63" dur="420"/>
                                        <p:tgtEl>
                                          <p:spTgt spid="15"/>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7" dur="600" decel="100000" fill="hold"/>
                                        <p:tgtEl>
                                          <p:spTgt spid="16"/>
                                        </p:tgtEl>
                                        <p:attrNameLst>
                                          <p:attrName>ppt_y</p:attrName>
                                        </p:attrNameLst>
                                      </p:cBhvr>
                                      <p:tavLst>
                                        <p:tav tm="0">
                                          <p:val>
                                            <p:strVal val="#ppt_y+0.3"/>
                                          </p:val>
                                        </p:tav>
                                        <p:tav tm="100000">
                                          <p:val>
                                            <p:strVal val="#ppt_y"/>
                                          </p:val>
                                        </p:tav>
                                      </p:tavLst>
                                    </p:anim>
                                    <p:animEffect transition="in" filter="fade">
                                      <p:cBhvr>
                                        <p:cTn id="68" dur="420"/>
                                        <p:tgtEl>
                                          <p:spTgt spid="16"/>
                                        </p:tgtEl>
                                      </p:cBhvr>
                                    </p:animEffect>
                                  </p:childTnLst>
                                </p:cTn>
                              </p:par>
                              <p:par>
                                <p:cTn id="69" presetID="2" presetClass="entr" presetSubtype="4"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2" dur="600" decel="100000" fill="hold"/>
                                        <p:tgtEl>
                                          <p:spTgt spid="17"/>
                                        </p:tgtEl>
                                        <p:attrNameLst>
                                          <p:attrName>ppt_y</p:attrName>
                                        </p:attrNameLst>
                                      </p:cBhvr>
                                      <p:tavLst>
                                        <p:tav tm="0">
                                          <p:val>
                                            <p:strVal val="#ppt_y+0.3"/>
                                          </p:val>
                                        </p:tav>
                                        <p:tav tm="100000">
                                          <p:val>
                                            <p:strVal val="#ppt_y"/>
                                          </p:val>
                                        </p:tav>
                                      </p:tavLst>
                                    </p:anim>
                                    <p:animEffect transition="in" filter="fade">
                                      <p:cBhvr>
                                        <p:cTn id="73" dur="420"/>
                                        <p:tgtEl>
                                          <p:spTgt spid="17"/>
                                        </p:tgtEl>
                                      </p:cBhvr>
                                    </p:animEffect>
                                  </p:childTnLst>
                                </p:cTn>
                              </p:par>
                              <p:par>
                                <p:cTn id="74" presetID="2" presetClass="entr" presetSubtype="4"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7" dur="600" decel="100000" fill="hold"/>
                                        <p:tgtEl>
                                          <p:spTgt spid="18"/>
                                        </p:tgtEl>
                                        <p:attrNameLst>
                                          <p:attrName>ppt_y</p:attrName>
                                        </p:attrNameLst>
                                      </p:cBhvr>
                                      <p:tavLst>
                                        <p:tav tm="0">
                                          <p:val>
                                            <p:strVal val="#ppt_y+0.3"/>
                                          </p:val>
                                        </p:tav>
                                        <p:tav tm="100000">
                                          <p:val>
                                            <p:strVal val="#ppt_y"/>
                                          </p:val>
                                        </p:tav>
                                      </p:tavLst>
                                    </p:anim>
                                    <p:animEffect transition="in" filter="fade">
                                      <p:cBhvr>
                                        <p:cTn id="78" dur="420"/>
                                        <p:tgtEl>
                                          <p:spTgt spid="18"/>
                                        </p:tgtEl>
                                      </p:cBhvr>
                                    </p:animEffect>
                                  </p:childTnLst>
                                </p:cTn>
                              </p:par>
                              <p:par>
                                <p:cTn id="79" presetID="2" presetClass="entr" presetSubtype="4"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2" dur="600" decel="100000" fill="hold"/>
                                        <p:tgtEl>
                                          <p:spTgt spid="19"/>
                                        </p:tgtEl>
                                        <p:attrNameLst>
                                          <p:attrName>ppt_y</p:attrName>
                                        </p:attrNameLst>
                                      </p:cBhvr>
                                      <p:tavLst>
                                        <p:tav tm="0">
                                          <p:val>
                                            <p:strVal val="#ppt_y+0.3"/>
                                          </p:val>
                                        </p:tav>
                                        <p:tav tm="100000">
                                          <p:val>
                                            <p:strVal val="#ppt_y"/>
                                          </p:val>
                                        </p:tav>
                                      </p:tavLst>
                                    </p:anim>
                                    <p:animEffect transition="in" filter="fade">
                                      <p:cBhvr>
                                        <p:cTn id="83" dur="420"/>
                                        <p:tgtEl>
                                          <p:spTgt spid="19"/>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50" fill="hold"/>
                                        <p:tgtEl>
                                          <p:spTgt spid="2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9" dur="550" fill="hold"/>
                                        <p:tgtEl>
                                          <p:spTgt spid="2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0" dur="275"/>
                                        <p:tgtEl>
                                          <p:spTgt spid="20"/>
                                        </p:tgtEl>
                                      </p:cBhvr>
                                    </p:animEffect>
                                  </p:childTnLst>
                                </p:cTn>
                              </p:par>
                              <p:par>
                                <p:cTn id="91" presetID="53" presetClass="entr" presetSubtype="16"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50" fill="hold"/>
                                        <p:tgtEl>
                                          <p:spTgt spid="2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94" dur="550" fill="hold"/>
                                        <p:tgtEl>
                                          <p:spTgt spid="2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5" dur="275"/>
                                        <p:tgtEl>
                                          <p:spTgt spid="21"/>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50" fill="hold"/>
                                        <p:tgtEl>
                                          <p:spTgt spid="2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99" dur="550" fill="hold"/>
                                        <p:tgtEl>
                                          <p:spTgt spid="2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0" dur="275"/>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600" decel="100000" fill="hold"/>
                                        <p:tgtEl>
                                          <p:spTgt spid="23"/>
                                        </p:tgtEl>
                                        <p:attrNameLst>
                                          <p:attrName>ppt_x</p:attrName>
                                        </p:attrNameLst>
                                      </p:cBhvr>
                                      <p:tavLst>
                                        <p:tav tm="0">
                                          <p:val>
                                            <p:strVal val="#ppt_x-0.35"/>
                                          </p:val>
                                        </p:tav>
                                        <p:tav tm="100000">
                                          <p:val>
                                            <p:strVal val="#ppt_x"/>
                                          </p:val>
                                        </p:tav>
                                      </p:tavLst>
                                    </p:anim>
                                    <p:anim calcmode="lin" valueType="num">
                                      <p:cBhvr additive="base">
                                        <p:cTn id="106" dur="600" decel="100000" fill="hold"/>
                                        <p:tgtEl>
                                          <p:spTgt spid="23"/>
                                        </p:tgtEl>
                                        <p:attrNameLst>
                                          <p:attrName>ppt_y</p:attrName>
                                        </p:attrNameLst>
                                      </p:cBhvr>
                                      <p:tavLst>
                                        <p:tav tm="0">
                                          <p:val>
                                            <p:strVal val="#ppt_y"/>
                                          </p:val>
                                        </p:tav>
                                        <p:tav tm="100000">
                                          <p:val>
                                            <p:strVal val="#ppt_y"/>
                                          </p:val>
                                        </p:tav>
                                      </p:tavLst>
                                    </p:anim>
                                    <p:animEffect transition="in" filter="fade">
                                      <p:cBhvr>
                                        <p:cTn id="107" dur="420"/>
                                        <p:tgtEl>
                                          <p:spTgt spid="23"/>
                                        </p:tgtEl>
                                      </p:cBhvr>
                                    </p:animEffect>
                                  </p:childTnLst>
                                </p:cTn>
                              </p:par>
                              <p:par>
                                <p:cTn id="108" presetID="2" presetClass="entr" presetSubtype="8" fill="hold"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600" decel="100000" fill="hold"/>
                                        <p:tgtEl>
                                          <p:spTgt spid="24"/>
                                        </p:tgtEl>
                                        <p:attrNameLst>
                                          <p:attrName>ppt_x</p:attrName>
                                        </p:attrNameLst>
                                      </p:cBhvr>
                                      <p:tavLst>
                                        <p:tav tm="0">
                                          <p:val>
                                            <p:strVal val="#ppt_x-0.35"/>
                                          </p:val>
                                        </p:tav>
                                        <p:tav tm="100000">
                                          <p:val>
                                            <p:strVal val="#ppt_x"/>
                                          </p:val>
                                        </p:tav>
                                      </p:tavLst>
                                    </p:anim>
                                    <p:anim calcmode="lin" valueType="num">
                                      <p:cBhvr additive="base">
                                        <p:cTn id="111" dur="600" decel="100000" fill="hold"/>
                                        <p:tgtEl>
                                          <p:spTgt spid="24"/>
                                        </p:tgtEl>
                                        <p:attrNameLst>
                                          <p:attrName>ppt_y</p:attrName>
                                        </p:attrNameLst>
                                      </p:cBhvr>
                                      <p:tavLst>
                                        <p:tav tm="0">
                                          <p:val>
                                            <p:strVal val="#ppt_y"/>
                                          </p:val>
                                        </p:tav>
                                        <p:tav tm="100000">
                                          <p:val>
                                            <p:strVal val="#ppt_y"/>
                                          </p:val>
                                        </p:tav>
                                      </p:tavLst>
                                    </p:anim>
                                    <p:animEffect transition="in" filter="fade">
                                      <p:cBhvr>
                                        <p:cTn id="112" dur="420"/>
                                        <p:tgtEl>
                                          <p:spTgt spid="24"/>
                                        </p:tgtEl>
                                      </p:cBhvr>
                                    </p:animEffect>
                                  </p:childTnLst>
                                </p:cTn>
                              </p:par>
                              <p:par>
                                <p:cTn id="113" presetID="2" presetClass="entr" presetSubtype="8"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600" decel="100000" fill="hold"/>
                                        <p:tgtEl>
                                          <p:spTgt spid="25"/>
                                        </p:tgtEl>
                                        <p:attrNameLst>
                                          <p:attrName>ppt_x</p:attrName>
                                        </p:attrNameLst>
                                      </p:cBhvr>
                                      <p:tavLst>
                                        <p:tav tm="0">
                                          <p:val>
                                            <p:strVal val="#ppt_x-0.35"/>
                                          </p:val>
                                        </p:tav>
                                        <p:tav tm="100000">
                                          <p:val>
                                            <p:strVal val="#ppt_x"/>
                                          </p:val>
                                        </p:tav>
                                      </p:tavLst>
                                    </p:anim>
                                    <p:anim calcmode="lin" valueType="num">
                                      <p:cBhvr additive="base">
                                        <p:cTn id="116" dur="600" decel="100000" fill="hold"/>
                                        <p:tgtEl>
                                          <p:spTgt spid="25"/>
                                        </p:tgtEl>
                                        <p:attrNameLst>
                                          <p:attrName>ppt_y</p:attrName>
                                        </p:attrNameLst>
                                      </p:cBhvr>
                                      <p:tavLst>
                                        <p:tav tm="0">
                                          <p:val>
                                            <p:strVal val="#ppt_y"/>
                                          </p:val>
                                        </p:tav>
                                        <p:tav tm="100000">
                                          <p:val>
                                            <p:strVal val="#ppt_y"/>
                                          </p:val>
                                        </p:tav>
                                      </p:tavLst>
                                    </p:anim>
                                    <p:animEffect transition="in" filter="fade">
                                      <p:cBhvr>
                                        <p:cTn id="117" dur="4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2" grpId="0" animBg="1"/>
      <p:bldP spid="23"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Het harmoniemodel</a:t>
            </a:r>
            <a:endParaRPr lang="nl-NL" sz="3400" dirty="0"/>
          </a:p>
        </p:txBody>
      </p:sp>
      <p:pic>
        <p:nvPicPr>
          <p:cNvPr id="4" name="s24_bigicon" descr="users_s2"/>
          <p:cNvPicPr>
            <a:picLocks noChangeAspect="1"/>
          </p:cNvPicPr>
          <p:nvPr/>
        </p:nvPicPr>
        <p:blipFill>
          <a:blip r:embed="rId3"/>
          <a:stretch>
            <a:fillRect/>
          </a:stretch>
        </p:blipFill>
        <p:spPr>
          <a:xfrm>
            <a:off x="822960" y="2011680"/>
            <a:ext cx="2194560" cy="2194560"/>
          </a:xfrm>
          <a:prstGeom prst="rect">
            <a:avLst/>
          </a:prstGeom>
        </p:spPr>
      </p:pic>
      <p:sp>
        <p:nvSpPr>
          <p:cNvPr id="5" name="s24_q_bg"/>
          <p:cNvSpPr/>
          <p:nvPr/>
        </p:nvSpPr>
        <p:spPr>
          <a:xfrm>
            <a:off x="3657600" y="1554480"/>
            <a:ext cx="7955280" cy="1289304"/>
          </a:xfrm>
          <a:prstGeom prst="roundRect">
            <a:avLst>
              <a:gd name="adj" fmla="val 7092"/>
            </a:avLst>
          </a:prstGeom>
          <a:solidFill>
            <a:srgbClr val="E5F3EE"/>
          </a:solidFill>
          <a:ln/>
        </p:spPr>
        <p:txBody>
          <a:bodyPr/>
          <a:lstStyle/>
          <a:p>
            <a:endParaRPr lang="nl-NL"/>
          </a:p>
        </p:txBody>
      </p:sp>
      <p:sp>
        <p:nvSpPr>
          <p:cNvPr id="6" name="s24_q_circ"/>
          <p:cNvSpPr/>
          <p:nvPr/>
        </p:nvSpPr>
        <p:spPr>
          <a:xfrm>
            <a:off x="3858768" y="1755648"/>
            <a:ext cx="457200" cy="457200"/>
          </a:xfrm>
          <a:prstGeom prst="ellipse">
            <a:avLst/>
          </a:prstGeom>
          <a:solidFill>
            <a:srgbClr val="2E8B74"/>
          </a:solidFill>
          <a:ln/>
        </p:spPr>
        <p:txBody>
          <a:bodyPr/>
          <a:lstStyle/>
          <a:p>
            <a:endParaRPr lang="nl-NL"/>
          </a:p>
        </p:txBody>
      </p:sp>
      <p:pic>
        <p:nvPicPr>
          <p:cNvPr id="7" name="s24_q_ico" descr="question_w"/>
          <p:cNvPicPr>
            <a:picLocks noChangeAspect="1"/>
          </p:cNvPicPr>
          <p:nvPr/>
        </p:nvPicPr>
        <p:blipFill>
          <a:blip r:embed="rId4"/>
          <a:stretch>
            <a:fillRect/>
          </a:stretch>
        </p:blipFill>
        <p:spPr>
          <a:xfrm>
            <a:off x="3968496" y="1865376"/>
            <a:ext cx="237744" cy="237744"/>
          </a:xfrm>
          <a:prstGeom prst="rect">
            <a:avLst/>
          </a:prstGeom>
        </p:spPr>
      </p:pic>
      <p:sp>
        <p:nvSpPr>
          <p:cNvPr id="8" name="s24_q_lbl"/>
          <p:cNvSpPr txBox="1"/>
          <p:nvPr/>
        </p:nvSpPr>
        <p:spPr>
          <a:xfrm>
            <a:off x="4462272" y="1737360"/>
            <a:ext cx="6949440" cy="237744"/>
          </a:xfrm>
          <a:prstGeom prst="rect">
            <a:avLst/>
          </a:prstGeom>
          <a:noFill/>
          <a:ln/>
        </p:spPr>
        <p:txBody>
          <a:bodyPr wrap="square" lIns="0" tIns="0" rIns="0" bIns="0" rtlCol="0" anchor="t"/>
          <a:lstStyle/>
          <a:p>
            <a:pPr marL="0" indent="0" algn="l">
              <a:buNone/>
            </a:pPr>
            <a:r>
              <a:rPr lang="nl-NL" sz="1100" b="1" kern="0" spc="150" dirty="0">
                <a:solidFill>
                  <a:srgbClr val="2E8B74"/>
                </a:solidFill>
                <a:latin typeface="Calibri" pitchFamily="34" charset="0"/>
                <a:ea typeface="Calibri" pitchFamily="34" charset="-122"/>
                <a:cs typeface="Calibri" pitchFamily="34" charset="-120"/>
              </a:rPr>
              <a:t>VRAAG AAN DE KLAS</a:t>
            </a:r>
            <a:endParaRPr lang="nl-NL" sz="1100" dirty="0"/>
          </a:p>
        </p:txBody>
      </p:sp>
      <p:sp>
        <p:nvSpPr>
          <p:cNvPr id="9" name="s24_q_txt"/>
          <p:cNvSpPr txBox="1"/>
          <p:nvPr/>
        </p:nvSpPr>
        <p:spPr>
          <a:xfrm>
            <a:off x="4462272" y="1993392"/>
            <a:ext cx="6949440" cy="786384"/>
          </a:xfrm>
          <a:prstGeom prst="rect">
            <a:avLst/>
          </a:prstGeom>
          <a:noFill/>
          <a:ln/>
        </p:spPr>
        <p:txBody>
          <a:bodyPr wrap="square" lIns="0" tIns="0" rIns="0" bIns="0" rtlCol="0" anchor="t"/>
          <a:lstStyle/>
          <a:p>
            <a:pPr marL="0" indent="0" algn="l">
              <a:buNone/>
            </a:pPr>
            <a:r>
              <a:rPr lang="nl-NL" sz="2400" b="1" dirty="0">
                <a:solidFill>
                  <a:srgbClr val="1E2A3A"/>
                </a:solidFill>
                <a:latin typeface="Calibri" pitchFamily="34" charset="0"/>
                <a:ea typeface="Calibri" pitchFamily="34" charset="-122"/>
                <a:cs typeface="Calibri" pitchFamily="34" charset="-120"/>
              </a:rPr>
              <a:t>Waarom gingen arbeiders akkoord met een laag loon?</a:t>
            </a:r>
            <a:endParaRPr lang="nl-NL" sz="2400" dirty="0"/>
          </a:p>
        </p:txBody>
      </p:sp>
      <p:sp>
        <p:nvSpPr>
          <p:cNvPr id="10" name="s24_a_bg"/>
          <p:cNvSpPr/>
          <p:nvPr/>
        </p:nvSpPr>
        <p:spPr>
          <a:xfrm>
            <a:off x="3657600" y="3008376"/>
            <a:ext cx="7955280" cy="1243584"/>
          </a:xfrm>
          <a:prstGeom prst="roundRect">
            <a:avLst>
              <a:gd name="adj" fmla="val 7353"/>
            </a:avLst>
          </a:prstGeom>
          <a:solidFill>
            <a:srgbClr val="FFFFFF"/>
          </a:solidFill>
          <a:ln w="25400">
            <a:solidFill>
              <a:srgbClr val="F28C38"/>
            </a:solidFill>
            <a:prstDash val="solid"/>
          </a:ln>
          <a:effectLst>
            <a:outerShdw blurRad="127000" dist="38100" dir="5400000" algn="bl" rotWithShape="0">
              <a:srgbClr val="000000">
                <a:alpha val="12000"/>
              </a:srgbClr>
            </a:outerShdw>
          </a:effectLst>
        </p:spPr>
        <p:txBody>
          <a:bodyPr/>
          <a:lstStyle/>
          <a:p>
            <a:endParaRPr lang="nl-NL"/>
          </a:p>
        </p:txBody>
      </p:sp>
      <p:pic>
        <p:nvPicPr>
          <p:cNvPr id="11" name="s24_a_ico" descr="bulb_acc"/>
          <p:cNvPicPr>
            <a:picLocks noChangeAspect="1"/>
          </p:cNvPicPr>
          <p:nvPr/>
        </p:nvPicPr>
        <p:blipFill>
          <a:blip r:embed="rId5"/>
          <a:stretch>
            <a:fillRect/>
          </a:stretch>
        </p:blipFill>
        <p:spPr>
          <a:xfrm>
            <a:off x="3886200" y="3447288"/>
            <a:ext cx="365760" cy="365760"/>
          </a:xfrm>
          <a:prstGeom prst="rect">
            <a:avLst/>
          </a:prstGeom>
        </p:spPr>
      </p:pic>
      <p:sp>
        <p:nvSpPr>
          <p:cNvPr id="12" name="s24_a_txt"/>
          <p:cNvSpPr txBox="1"/>
          <p:nvPr/>
        </p:nvSpPr>
        <p:spPr>
          <a:xfrm>
            <a:off x="4462272" y="3145536"/>
            <a:ext cx="6949440" cy="969264"/>
          </a:xfrm>
          <a:prstGeom prst="rect">
            <a:avLst/>
          </a:prstGeom>
          <a:noFill/>
          <a:ln/>
        </p:spPr>
        <p:txBody>
          <a:bodyPr wrap="square" lIns="0" tIns="0" rIns="0" bIns="0" rtlCol="0" anchor="ctr"/>
          <a:lstStyle/>
          <a:p>
            <a:pPr marL="0" indent="0" algn="l">
              <a:buNone/>
            </a:pPr>
            <a:r>
              <a:rPr lang="nl-NL" sz="2000" dirty="0">
                <a:solidFill>
                  <a:srgbClr val="1E2A3A"/>
                </a:solidFill>
                <a:latin typeface="Calibri" pitchFamily="34" charset="0"/>
                <a:ea typeface="Calibri" pitchFamily="34" charset="-122"/>
                <a:cs typeface="Calibri" pitchFamily="34" charset="-120"/>
              </a:rPr>
              <a:t>Iedereen wilde het land weer opbouwen. In ruil kregen ze werk, en een uitkering als het tegenzat (ziek, werkloos of oud).</a:t>
            </a:r>
            <a:endParaRPr lang="nl-NL" sz="2000" dirty="0"/>
          </a:p>
        </p:txBody>
      </p:sp>
      <p:sp>
        <p:nvSpPr>
          <p:cNvPr id="1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5" name="!!rd_d1"/>
          <p:cNvSpPr/>
          <p:nvPr/>
        </p:nvSpPr>
        <p:spPr>
          <a:xfrm>
            <a:off x="2944368" y="6437376"/>
            <a:ext cx="128016" cy="128016"/>
          </a:xfrm>
          <a:prstGeom prst="ellipse">
            <a:avLst/>
          </a:prstGeom>
          <a:solidFill>
            <a:srgbClr val="1E2A3A"/>
          </a:solidFill>
          <a:ln/>
        </p:spPr>
        <p:txBody>
          <a:bodyPr/>
          <a:lstStyle/>
          <a:p>
            <a:endParaRPr lang="nl-NL"/>
          </a:p>
        </p:txBody>
      </p:sp>
      <p:sp>
        <p:nvSpPr>
          <p:cNvPr id="1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7" name="!!rd_d2"/>
          <p:cNvSpPr/>
          <p:nvPr/>
        </p:nvSpPr>
        <p:spPr>
          <a:xfrm>
            <a:off x="4078224" y="6437376"/>
            <a:ext cx="128016" cy="128016"/>
          </a:xfrm>
          <a:prstGeom prst="ellipse">
            <a:avLst/>
          </a:prstGeom>
          <a:solidFill>
            <a:srgbClr val="C9D1DA"/>
          </a:solidFill>
          <a:ln/>
        </p:spPr>
        <p:txBody>
          <a:bodyPr/>
          <a:lstStyle/>
          <a:p>
            <a:endParaRPr lang="nl-NL"/>
          </a:p>
        </p:txBody>
      </p:sp>
      <p:sp>
        <p:nvSpPr>
          <p:cNvPr id="1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19" name="!!rd_d3"/>
          <p:cNvSpPr/>
          <p:nvPr/>
        </p:nvSpPr>
        <p:spPr>
          <a:xfrm>
            <a:off x="5212080" y="6437376"/>
            <a:ext cx="128016" cy="128016"/>
          </a:xfrm>
          <a:prstGeom prst="ellipse">
            <a:avLst/>
          </a:prstGeom>
          <a:solidFill>
            <a:srgbClr val="C9D1DA"/>
          </a:solidFill>
          <a:ln/>
        </p:spPr>
        <p:txBody>
          <a:bodyPr/>
          <a:lstStyle/>
          <a:p>
            <a:endParaRPr lang="nl-NL"/>
          </a:p>
        </p:txBody>
      </p:sp>
      <p:sp>
        <p:nvSpPr>
          <p:cNvPr id="2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1" name="!!rd_d4"/>
          <p:cNvSpPr/>
          <p:nvPr/>
        </p:nvSpPr>
        <p:spPr>
          <a:xfrm>
            <a:off x="6345936" y="6437376"/>
            <a:ext cx="128016" cy="128016"/>
          </a:xfrm>
          <a:prstGeom prst="ellipse">
            <a:avLst/>
          </a:prstGeom>
          <a:solidFill>
            <a:srgbClr val="C9D1DA"/>
          </a:solidFill>
          <a:ln/>
        </p:spPr>
        <p:txBody>
          <a:bodyPr/>
          <a:lstStyle/>
          <a:p>
            <a:endParaRPr lang="nl-NL"/>
          </a:p>
        </p:txBody>
      </p:sp>
      <p:sp>
        <p:nvSpPr>
          <p:cNvPr id="2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3" name="!!rd_d5"/>
          <p:cNvSpPr/>
          <p:nvPr/>
        </p:nvSpPr>
        <p:spPr>
          <a:xfrm>
            <a:off x="7479792" y="6437376"/>
            <a:ext cx="128016" cy="128016"/>
          </a:xfrm>
          <a:prstGeom prst="ellipse">
            <a:avLst/>
          </a:prstGeom>
          <a:solidFill>
            <a:srgbClr val="C9D1DA"/>
          </a:solidFill>
          <a:ln/>
        </p:spPr>
        <p:txBody>
          <a:bodyPr/>
          <a:lstStyle/>
          <a:p>
            <a:endParaRPr lang="nl-NL"/>
          </a:p>
        </p:txBody>
      </p:sp>
      <p:sp>
        <p:nvSpPr>
          <p:cNvPr id="2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decel="100000" fill="hold"/>
                                        <p:tgtEl>
                                          <p:spTgt spid="5"/>
                                        </p:tgtEl>
                                        <p:attrNameLst>
                                          <p:attrName>ppt_x</p:attrName>
                                        </p:attrNameLst>
                                      </p:cBhvr>
                                      <p:tavLst>
                                        <p:tav tm="0">
                                          <p:val>
                                            <p:strVal val="#ppt_x+0.35"/>
                                          </p:val>
                                        </p:tav>
                                        <p:tav tm="100000">
                                          <p:val>
                                            <p:strVal val="#ppt_x"/>
                                          </p:val>
                                        </p:tav>
                                      </p:tavLst>
                                    </p:anim>
                                    <p:anim calcmode="lin" valueType="num">
                                      <p:cBhvr additive="base">
                                        <p:cTn id="8" dur="600" decel="100000" fill="hold"/>
                                        <p:tgtEl>
                                          <p:spTgt spid="5"/>
                                        </p:tgtEl>
                                        <p:attrNameLst>
                                          <p:attrName>ppt_y</p:attrName>
                                        </p:attrNameLst>
                                      </p:cBhvr>
                                      <p:tavLst>
                                        <p:tav tm="0">
                                          <p:val>
                                            <p:strVal val="#ppt_y"/>
                                          </p:val>
                                        </p:tav>
                                        <p:tav tm="100000">
                                          <p:val>
                                            <p:strVal val="#ppt_y"/>
                                          </p:val>
                                        </p:tav>
                                      </p:tavLst>
                                    </p:anim>
                                    <p:animEffect transition="in" filter="fade">
                                      <p:cBhvr>
                                        <p:cTn id="9" dur="420"/>
                                        <p:tgtEl>
                                          <p:spTgt spid="5"/>
                                        </p:tgtEl>
                                      </p:cBhvr>
                                    </p:animEffect>
                                  </p:childTnLst>
                                </p:cTn>
                              </p:par>
                              <p:par>
                                <p:cTn id="10" presetID="2" presetClass="entr" presetSubtype="2"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600" decel="100000" fill="hold"/>
                                        <p:tgtEl>
                                          <p:spTgt spid="6"/>
                                        </p:tgtEl>
                                        <p:attrNameLst>
                                          <p:attrName>ppt_x</p:attrName>
                                        </p:attrNameLst>
                                      </p:cBhvr>
                                      <p:tavLst>
                                        <p:tav tm="0">
                                          <p:val>
                                            <p:strVal val="#ppt_x+0.35"/>
                                          </p:val>
                                        </p:tav>
                                        <p:tav tm="100000">
                                          <p:val>
                                            <p:strVal val="#ppt_x"/>
                                          </p:val>
                                        </p:tav>
                                      </p:tavLst>
                                    </p:anim>
                                    <p:anim calcmode="lin" valueType="num">
                                      <p:cBhvr additive="base">
                                        <p:cTn id="13" dur="600" decel="100000" fill="hold"/>
                                        <p:tgtEl>
                                          <p:spTgt spid="6"/>
                                        </p:tgtEl>
                                        <p:attrNameLst>
                                          <p:attrName>ppt_y</p:attrName>
                                        </p:attrNameLst>
                                      </p:cBhvr>
                                      <p:tavLst>
                                        <p:tav tm="0">
                                          <p:val>
                                            <p:strVal val="#ppt_y"/>
                                          </p:val>
                                        </p:tav>
                                        <p:tav tm="100000">
                                          <p:val>
                                            <p:strVal val="#ppt_y"/>
                                          </p:val>
                                        </p:tav>
                                      </p:tavLst>
                                    </p:anim>
                                    <p:animEffect transition="in" filter="fade">
                                      <p:cBhvr>
                                        <p:cTn id="14" dur="420"/>
                                        <p:tgtEl>
                                          <p:spTgt spid="6"/>
                                        </p:tgtEl>
                                      </p:cBhvr>
                                    </p:animEffect>
                                  </p:childTnLst>
                                </p:cTn>
                              </p:par>
                              <p:par>
                                <p:cTn id="15" presetID="2" presetClass="entr" presetSubtype="2"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600" decel="100000" fill="hold"/>
                                        <p:tgtEl>
                                          <p:spTgt spid="7"/>
                                        </p:tgtEl>
                                        <p:attrNameLst>
                                          <p:attrName>ppt_x</p:attrName>
                                        </p:attrNameLst>
                                      </p:cBhvr>
                                      <p:tavLst>
                                        <p:tav tm="0">
                                          <p:val>
                                            <p:strVal val="#ppt_x+0.35"/>
                                          </p:val>
                                        </p:tav>
                                        <p:tav tm="100000">
                                          <p:val>
                                            <p:strVal val="#ppt_x"/>
                                          </p:val>
                                        </p:tav>
                                      </p:tavLst>
                                    </p:anim>
                                    <p:anim calcmode="lin" valueType="num">
                                      <p:cBhvr additive="base">
                                        <p:cTn id="18" dur="600" decel="100000" fill="hold"/>
                                        <p:tgtEl>
                                          <p:spTgt spid="7"/>
                                        </p:tgtEl>
                                        <p:attrNameLst>
                                          <p:attrName>ppt_y</p:attrName>
                                        </p:attrNameLst>
                                      </p:cBhvr>
                                      <p:tavLst>
                                        <p:tav tm="0">
                                          <p:val>
                                            <p:strVal val="#ppt_y"/>
                                          </p:val>
                                        </p:tav>
                                        <p:tav tm="100000">
                                          <p:val>
                                            <p:strVal val="#ppt_y"/>
                                          </p:val>
                                        </p:tav>
                                      </p:tavLst>
                                    </p:anim>
                                    <p:animEffect transition="in" filter="fade">
                                      <p:cBhvr>
                                        <p:cTn id="19" dur="420"/>
                                        <p:tgtEl>
                                          <p:spTgt spid="7"/>
                                        </p:tgtEl>
                                      </p:cBhvr>
                                    </p:animEffect>
                                  </p:childTnLst>
                                </p:cTn>
                              </p:par>
                              <p:par>
                                <p:cTn id="20" presetID="2" presetClass="entr" presetSubtype="2"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23" dur="600" decel="100000" fill="hold"/>
                                        <p:tgtEl>
                                          <p:spTgt spid="8"/>
                                        </p:tgtEl>
                                        <p:attrNameLst>
                                          <p:attrName>ppt_y</p:attrName>
                                        </p:attrNameLst>
                                      </p:cBhvr>
                                      <p:tavLst>
                                        <p:tav tm="0">
                                          <p:val>
                                            <p:strVal val="#ppt_y"/>
                                          </p:val>
                                        </p:tav>
                                        <p:tav tm="100000">
                                          <p:val>
                                            <p:strVal val="#ppt_y"/>
                                          </p:val>
                                        </p:tav>
                                      </p:tavLst>
                                    </p:anim>
                                    <p:animEffect transition="in" filter="fade">
                                      <p:cBhvr>
                                        <p:cTn id="24" dur="420"/>
                                        <p:tgtEl>
                                          <p:spTgt spid="8"/>
                                        </p:tgtEl>
                                      </p:cBhvr>
                                    </p:animEffect>
                                  </p:childTnLst>
                                </p:cTn>
                              </p:par>
                              <p:par>
                                <p:cTn id="25" presetID="2" presetClass="entr" presetSubtype="2"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28" dur="600" decel="100000" fill="hold"/>
                                        <p:tgtEl>
                                          <p:spTgt spid="9"/>
                                        </p:tgtEl>
                                        <p:attrNameLst>
                                          <p:attrName>ppt_y</p:attrName>
                                        </p:attrNameLst>
                                      </p:cBhvr>
                                      <p:tavLst>
                                        <p:tav tm="0">
                                          <p:val>
                                            <p:strVal val="#ppt_y"/>
                                          </p:val>
                                        </p:tav>
                                        <p:tav tm="100000">
                                          <p:val>
                                            <p:strVal val="#ppt_y"/>
                                          </p:val>
                                        </p:tav>
                                      </p:tavLst>
                                    </p:anim>
                                    <p:animEffect transition="in" filter="fade">
                                      <p:cBhvr>
                                        <p:cTn id="29" dur="42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5"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6" dur="275"/>
                                        <p:tgtEl>
                                          <p:spTgt spid="10"/>
                                        </p:tgtEl>
                                      </p:cBhvr>
                                    </p:animEffect>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0"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1" dur="275"/>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5"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6" dur="275"/>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0" y="26666"/>
            <a:ext cx="12191695" cy="6804667"/>
          </a:xfrm>
          <a:prstGeom prst="rect">
            <a:avLst/>
          </a:prstGeom>
        </p:spPr>
      </p:pic>
      <p:sp>
        <p:nvSpPr>
          <p:cNvPr id="3" name="!!title"/>
          <p:cNvSpPr txBox="1"/>
          <p:nvPr/>
        </p:nvSpPr>
        <p:spPr>
          <a:xfrm>
            <a:off x="182880" y="164592"/>
            <a:ext cx="1737360" cy="402336"/>
          </a:xfrm>
          <a:prstGeom prst="roundRect">
            <a:avLst>
              <a:gd name="adj" fmla="val 45455"/>
            </a:avLst>
          </a:prstGeom>
          <a:solidFill>
            <a:srgbClr val="2E8B74"/>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Wederopbouw</a:t>
            </a:r>
            <a:endParaRPr lang="nl-NL" sz="1500" dirty="0"/>
          </a:p>
        </p:txBody>
      </p:sp>
      <p:sp>
        <p:nvSpPr>
          <p:cNvPr id="4" name="!!wline"/>
          <p:cNvSpPr/>
          <p:nvPr/>
        </p:nvSpPr>
        <p:spPr>
          <a:xfrm>
            <a:off x="411480" y="1389888"/>
            <a:ext cx="11368735" cy="0"/>
          </a:xfrm>
          <a:prstGeom prst="line">
            <a:avLst/>
          </a:prstGeom>
          <a:noFill/>
          <a:ln w="50800">
            <a:solidFill>
              <a:srgbClr val="F28C38"/>
            </a:solidFill>
            <a:prstDash val="solid"/>
          </a:ln>
        </p:spPr>
        <p:txBody>
          <a:bodyPr/>
          <a:lstStyle/>
          <a:p>
            <a:endParaRPr lang="nl-NL"/>
          </a:p>
        </p:txBody>
      </p:sp>
      <p:sp>
        <p:nvSpPr>
          <p:cNvPr id="5" name="!!wb0"/>
          <p:cNvSpPr/>
          <p:nvPr/>
        </p:nvSpPr>
        <p:spPr>
          <a:xfrm>
            <a:off x="1195008" y="1188720"/>
            <a:ext cx="402336" cy="402336"/>
          </a:xfrm>
          <a:prstGeom prst="ellipse">
            <a:avLst/>
          </a:prstGeom>
          <a:solidFill>
            <a:srgbClr val="2E8B74"/>
          </a:solidFill>
          <a:ln w="31750">
            <a:solidFill>
              <a:srgbClr val="FFFFFF"/>
            </a:solidFill>
            <a:prstDash val="solid"/>
          </a:ln>
        </p:spPr>
        <p:txBody>
          <a:bodyPr/>
          <a:lstStyle/>
          <a:p>
            <a:endParaRPr lang="nl-NL"/>
          </a:p>
        </p:txBody>
      </p:sp>
      <p:sp>
        <p:nvSpPr>
          <p:cNvPr id="6" name="!!wbt0"/>
          <p:cNvSpPr txBox="1"/>
          <p:nvPr/>
        </p:nvSpPr>
        <p:spPr>
          <a:xfrm>
            <a:off x="1195008"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1</a:t>
            </a:r>
            <a:endParaRPr lang="nl-NL" sz="1500" dirty="0"/>
          </a:p>
        </p:txBody>
      </p:sp>
      <p:sp>
        <p:nvSpPr>
          <p:cNvPr id="7" name="!!wb1"/>
          <p:cNvSpPr/>
          <p:nvPr/>
        </p:nvSpPr>
        <p:spPr>
          <a:xfrm>
            <a:off x="4247665" y="1188720"/>
            <a:ext cx="402336" cy="402336"/>
          </a:xfrm>
          <a:prstGeom prst="ellipse">
            <a:avLst/>
          </a:prstGeom>
          <a:solidFill>
            <a:srgbClr val="2E8B74"/>
          </a:solidFill>
          <a:ln w="31750">
            <a:solidFill>
              <a:srgbClr val="FFFFFF"/>
            </a:solidFill>
            <a:prstDash val="solid"/>
          </a:ln>
        </p:spPr>
        <p:txBody>
          <a:bodyPr/>
          <a:lstStyle/>
          <a:p>
            <a:endParaRPr lang="nl-NL"/>
          </a:p>
        </p:txBody>
      </p:sp>
      <p:sp>
        <p:nvSpPr>
          <p:cNvPr id="8" name="!!wbt1"/>
          <p:cNvSpPr txBox="1"/>
          <p:nvPr/>
        </p:nvSpPr>
        <p:spPr>
          <a:xfrm>
            <a:off x="4247665"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2</a:t>
            </a:r>
            <a:endParaRPr lang="nl-NL" sz="1500" dirty="0"/>
          </a:p>
        </p:txBody>
      </p:sp>
      <p:sp>
        <p:nvSpPr>
          <p:cNvPr id="9" name="!!wb2"/>
          <p:cNvSpPr/>
          <p:nvPr/>
        </p:nvSpPr>
        <p:spPr>
          <a:xfrm>
            <a:off x="7465970"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10" name="!!wbt2"/>
          <p:cNvSpPr txBox="1"/>
          <p:nvPr/>
        </p:nvSpPr>
        <p:spPr>
          <a:xfrm>
            <a:off x="7465970"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3</a:t>
            </a:r>
            <a:endParaRPr lang="nl-NL" sz="1500" dirty="0"/>
          </a:p>
        </p:txBody>
      </p:sp>
      <p:sp>
        <p:nvSpPr>
          <p:cNvPr id="11" name="!!wb3"/>
          <p:cNvSpPr/>
          <p:nvPr/>
        </p:nvSpPr>
        <p:spPr>
          <a:xfrm>
            <a:off x="10494962" y="1188720"/>
            <a:ext cx="402336" cy="402336"/>
          </a:xfrm>
          <a:prstGeom prst="ellipse">
            <a:avLst/>
          </a:prstGeom>
          <a:solidFill>
            <a:srgbClr val="F28C38"/>
          </a:solidFill>
          <a:ln w="31750">
            <a:solidFill>
              <a:srgbClr val="FFFFFF"/>
            </a:solidFill>
            <a:prstDash val="solid"/>
          </a:ln>
        </p:spPr>
        <p:txBody>
          <a:bodyPr/>
          <a:lstStyle/>
          <a:p>
            <a:endParaRPr lang="nl-NL"/>
          </a:p>
        </p:txBody>
      </p:sp>
      <p:sp>
        <p:nvSpPr>
          <p:cNvPr id="12" name="!!wbt3"/>
          <p:cNvSpPr txBox="1"/>
          <p:nvPr/>
        </p:nvSpPr>
        <p:spPr>
          <a:xfrm>
            <a:off x="10494962" y="1188720"/>
            <a:ext cx="402336" cy="402336"/>
          </a:xfrm>
          <a:prstGeom prst="rect">
            <a:avLst/>
          </a:prstGeom>
          <a:no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4</a:t>
            </a:r>
            <a:endParaRPr lang="nl-NL" sz="1500" dirty="0"/>
          </a:p>
        </p:txBody>
      </p:sp>
      <p:sp>
        <p:nvSpPr>
          <p:cNvPr id="13" name="s25_ring"/>
          <p:cNvSpPr/>
          <p:nvPr/>
        </p:nvSpPr>
        <p:spPr>
          <a:xfrm>
            <a:off x="7319666" y="1042416"/>
            <a:ext cx="694944" cy="694944"/>
          </a:xfrm>
          <a:prstGeom prst="ellipse">
            <a:avLst/>
          </a:prstGeom>
          <a:ln w="50800">
            <a:solidFill>
              <a:srgbClr val="F28C38"/>
            </a:solidFill>
            <a:prstDash val="solid"/>
          </a:ln>
        </p:spPr>
        <p:txBody>
          <a:bodyPr/>
          <a:lstStyle/>
          <a:p>
            <a:endParaRPr lang="nl-NL"/>
          </a:p>
        </p:txBody>
      </p:sp>
      <p:sp>
        <p:nvSpPr>
          <p:cNvPr id="14" name="s25_hier"/>
          <p:cNvSpPr txBox="1"/>
          <p:nvPr/>
        </p:nvSpPr>
        <p:spPr>
          <a:xfrm>
            <a:off x="9829800" y="228600"/>
            <a:ext cx="2295144" cy="329184"/>
          </a:xfrm>
          <a:prstGeom prst="roundRect">
            <a:avLst>
              <a:gd name="adj" fmla="val 41667"/>
            </a:avLst>
          </a:prstGeom>
          <a:solidFill>
            <a:srgbClr val="F28C38"/>
          </a:solidFill>
          <a:ln/>
        </p:spPr>
        <p:txBody>
          <a:bodyPr wrap="square" lIns="0" tIns="0" rIns="0" bIns="0" rtlCol="0" anchor="ctr"/>
          <a:lstStyle/>
          <a:p>
            <a:pPr marL="0" indent="0" algn="ctr">
              <a:buNone/>
            </a:pPr>
            <a:r>
              <a:rPr lang="nl-NL" sz="1200" b="1" kern="0" spc="100" dirty="0">
                <a:solidFill>
                  <a:srgbClr val="FFFFFF"/>
                </a:solidFill>
                <a:latin typeface="Calibri" pitchFamily="34" charset="0"/>
                <a:ea typeface="Calibri" pitchFamily="34" charset="-122"/>
                <a:cs typeface="Calibri" pitchFamily="34" charset="-120"/>
              </a:rPr>
              <a:t>WE ZIJN HIER · FASE 3</a:t>
            </a:r>
            <a:endParaRPr lang="nl-NL"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10474682" y="-2319251"/>
            <a:ext cx="22666377" cy="12651001"/>
          </a:xfrm>
          <a:prstGeom prst="rect">
            <a:avLst/>
          </a:prstGeom>
        </p:spPr>
      </p:pic>
      <p:sp>
        <p:nvSpPr>
          <p:cNvPr id="3"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5"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s26_phase"/>
          <p:cNvSpPr txBox="1"/>
          <p:nvPr/>
        </p:nvSpPr>
        <p:spPr>
          <a:xfrm>
            <a:off x="7927848" y="1527048"/>
            <a:ext cx="3639312" cy="685800"/>
          </a:xfrm>
          <a:prstGeom prst="roundRect">
            <a:avLst>
              <a:gd name="adj" fmla="val 10667"/>
            </a:avLst>
          </a:prstGeom>
          <a:solidFill>
            <a:srgbClr val="F28C38"/>
          </a:solidFill>
          <a:ln/>
        </p:spPr>
        <p:txBody>
          <a:bodyPr wrap="square" lIns="50800" tIns="127000" rIns="127000" bIns="50800" rtlCol="0" anchor="ctr"/>
          <a:lstStyle/>
          <a:p>
            <a:pPr marL="0" indent="0" algn="l">
              <a:buNone/>
            </a:pPr>
            <a:r>
              <a:rPr lang="nl-NL" sz="1700" b="1" dirty="0">
                <a:solidFill>
                  <a:srgbClr val="FFFFFF"/>
                </a:solidFill>
                <a:latin typeface="Calibri" pitchFamily="34" charset="0"/>
                <a:ea typeface="Calibri" pitchFamily="34" charset="-122"/>
                <a:cs typeface="Calibri" pitchFamily="34" charset="-120"/>
              </a:rPr>
              <a:t>Fase 3 · 1955 – 1960: industrie, landbouw en export</a:t>
            </a:r>
            <a:endParaRPr lang="nl-NL" sz="1700" dirty="0"/>
          </a:p>
        </p:txBody>
      </p:sp>
      <p:sp>
        <p:nvSpPr>
          <p:cNvPr id="7" name="s26_bd0"/>
          <p:cNvSpPr/>
          <p:nvPr/>
        </p:nvSpPr>
        <p:spPr>
          <a:xfrm>
            <a:off x="7927848" y="2537460"/>
            <a:ext cx="118872" cy="118872"/>
          </a:xfrm>
          <a:prstGeom prst="ellipse">
            <a:avLst/>
          </a:prstGeom>
          <a:solidFill>
            <a:srgbClr val="F28C38"/>
          </a:solidFill>
          <a:ln/>
        </p:spPr>
        <p:txBody>
          <a:bodyPr/>
          <a:lstStyle/>
          <a:p>
            <a:endParaRPr lang="nl-NL"/>
          </a:p>
        </p:txBody>
      </p:sp>
      <p:sp>
        <p:nvSpPr>
          <p:cNvPr id="8" name="s26_b0"/>
          <p:cNvSpPr txBox="1"/>
          <p:nvPr/>
        </p:nvSpPr>
        <p:spPr>
          <a:xfrm>
            <a:off x="8202168" y="244144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Boeren werken met machines op grotere akkers</a:t>
            </a:r>
            <a:endParaRPr lang="nl-NL" sz="1800" dirty="0"/>
          </a:p>
        </p:txBody>
      </p:sp>
      <p:sp>
        <p:nvSpPr>
          <p:cNvPr id="9" name="s26_bd1"/>
          <p:cNvSpPr/>
          <p:nvPr/>
        </p:nvSpPr>
        <p:spPr>
          <a:xfrm>
            <a:off x="7927848" y="3323844"/>
            <a:ext cx="118872" cy="118872"/>
          </a:xfrm>
          <a:prstGeom prst="ellipse">
            <a:avLst/>
          </a:prstGeom>
          <a:solidFill>
            <a:srgbClr val="F28C38"/>
          </a:solidFill>
          <a:ln/>
        </p:spPr>
        <p:txBody>
          <a:bodyPr/>
          <a:lstStyle/>
          <a:p>
            <a:endParaRPr lang="nl-NL"/>
          </a:p>
        </p:txBody>
      </p:sp>
      <p:sp>
        <p:nvSpPr>
          <p:cNvPr id="10" name="s26_b1"/>
          <p:cNvSpPr txBox="1"/>
          <p:nvPr/>
        </p:nvSpPr>
        <p:spPr>
          <a:xfrm>
            <a:off x="8202168" y="322783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Fabrieken maken goedkope producten</a:t>
            </a:r>
            <a:endParaRPr lang="nl-NL" sz="1800" dirty="0"/>
          </a:p>
        </p:txBody>
      </p:sp>
      <p:sp>
        <p:nvSpPr>
          <p:cNvPr id="11" name="s26_bd2"/>
          <p:cNvSpPr/>
          <p:nvPr/>
        </p:nvSpPr>
        <p:spPr>
          <a:xfrm>
            <a:off x="7927848" y="4110228"/>
            <a:ext cx="118872" cy="118872"/>
          </a:xfrm>
          <a:prstGeom prst="ellipse">
            <a:avLst/>
          </a:prstGeom>
          <a:solidFill>
            <a:srgbClr val="F28C38"/>
          </a:solidFill>
          <a:ln/>
        </p:spPr>
        <p:txBody>
          <a:bodyPr/>
          <a:lstStyle/>
          <a:p>
            <a:endParaRPr lang="nl-NL"/>
          </a:p>
        </p:txBody>
      </p:sp>
      <p:sp>
        <p:nvSpPr>
          <p:cNvPr id="12" name="s26_b2"/>
          <p:cNvSpPr txBox="1"/>
          <p:nvPr/>
        </p:nvSpPr>
        <p:spPr>
          <a:xfrm>
            <a:off x="8202168" y="4014216"/>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Die producten worden verkocht aan het buitenland: export</a:t>
            </a:r>
            <a:endParaRPr lang="nl-NL" sz="1800" dirty="0"/>
          </a:p>
        </p:txBody>
      </p:sp>
      <p:sp>
        <p:nvSpPr>
          <p:cNvPr id="13" name="!!ph_line"/>
          <p:cNvSpPr/>
          <p:nvPr/>
        </p:nvSpPr>
        <p:spPr>
          <a:xfrm>
            <a:off x="8065008" y="5477256"/>
            <a:ext cx="2729484" cy="0"/>
          </a:xfrm>
          <a:prstGeom prst="line">
            <a:avLst/>
          </a:prstGeom>
          <a:noFill/>
          <a:ln w="25400">
            <a:solidFill>
              <a:srgbClr val="D3DAE2"/>
            </a:solidFill>
            <a:prstDash val="solid"/>
          </a:ln>
        </p:spPr>
        <p:txBody>
          <a:bodyPr/>
          <a:lstStyle/>
          <a:p>
            <a:endParaRPr lang="nl-NL"/>
          </a:p>
        </p:txBody>
      </p:sp>
      <p:sp>
        <p:nvSpPr>
          <p:cNvPr id="14" name="!!ph_d0"/>
          <p:cNvSpPr/>
          <p:nvPr/>
        </p:nvSpPr>
        <p:spPr>
          <a:xfrm>
            <a:off x="7973568" y="5385816"/>
            <a:ext cx="182880" cy="182880"/>
          </a:xfrm>
          <a:prstGeom prst="ellipse">
            <a:avLst/>
          </a:prstGeom>
          <a:solidFill>
            <a:srgbClr val="2E8B74"/>
          </a:solidFill>
          <a:ln/>
        </p:spPr>
        <p:txBody>
          <a:bodyPr/>
          <a:lstStyle/>
          <a:p>
            <a:endParaRPr lang="nl-NL"/>
          </a:p>
        </p:txBody>
      </p:sp>
      <p:sp>
        <p:nvSpPr>
          <p:cNvPr id="15" name="!!ph_t0"/>
          <p:cNvSpPr txBox="1"/>
          <p:nvPr/>
        </p:nvSpPr>
        <p:spPr>
          <a:xfrm>
            <a:off x="7607808"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1945</a:t>
            </a:r>
            <a:endParaRPr lang="nl-NL" sz="1000" dirty="0"/>
          </a:p>
        </p:txBody>
      </p:sp>
      <p:sp>
        <p:nvSpPr>
          <p:cNvPr id="16" name="!!ph_d1"/>
          <p:cNvSpPr/>
          <p:nvPr/>
        </p:nvSpPr>
        <p:spPr>
          <a:xfrm>
            <a:off x="8883396" y="5385816"/>
            <a:ext cx="182880" cy="182880"/>
          </a:xfrm>
          <a:prstGeom prst="ellipse">
            <a:avLst/>
          </a:prstGeom>
          <a:solidFill>
            <a:srgbClr val="2E8B74"/>
          </a:solidFill>
          <a:ln/>
        </p:spPr>
        <p:txBody>
          <a:bodyPr/>
          <a:lstStyle/>
          <a:p>
            <a:endParaRPr lang="nl-NL"/>
          </a:p>
        </p:txBody>
      </p:sp>
      <p:sp>
        <p:nvSpPr>
          <p:cNvPr id="17" name="!!ph_t1"/>
          <p:cNvSpPr txBox="1"/>
          <p:nvPr/>
        </p:nvSpPr>
        <p:spPr>
          <a:xfrm>
            <a:off x="8517636"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'48–'54</a:t>
            </a:r>
            <a:endParaRPr lang="nl-NL" sz="1000" dirty="0"/>
          </a:p>
        </p:txBody>
      </p:sp>
      <p:sp>
        <p:nvSpPr>
          <p:cNvPr id="18" name="!!ph_d2"/>
          <p:cNvSpPr/>
          <p:nvPr/>
        </p:nvSpPr>
        <p:spPr>
          <a:xfrm>
            <a:off x="9793224" y="5385816"/>
            <a:ext cx="182880" cy="182880"/>
          </a:xfrm>
          <a:prstGeom prst="ellipse">
            <a:avLst/>
          </a:prstGeom>
          <a:solidFill>
            <a:srgbClr val="C9D1DA"/>
          </a:solidFill>
          <a:ln/>
        </p:spPr>
        <p:txBody>
          <a:bodyPr/>
          <a:lstStyle/>
          <a:p>
            <a:endParaRPr lang="nl-NL"/>
          </a:p>
        </p:txBody>
      </p:sp>
      <p:sp>
        <p:nvSpPr>
          <p:cNvPr id="19" name="!!ph_t2"/>
          <p:cNvSpPr txBox="1"/>
          <p:nvPr/>
        </p:nvSpPr>
        <p:spPr>
          <a:xfrm>
            <a:off x="9427464" y="5605272"/>
            <a:ext cx="914400" cy="228600"/>
          </a:xfrm>
          <a:prstGeom prst="rect">
            <a:avLst/>
          </a:prstGeom>
          <a:noFill/>
          <a:ln/>
        </p:spPr>
        <p:txBody>
          <a:bodyPr wrap="square" lIns="0" tIns="0" rIns="0" bIns="0" rtlCol="0" anchor="t"/>
          <a:lstStyle/>
          <a:p>
            <a:pPr marL="0" indent="0" algn="ctr">
              <a:buNone/>
            </a:pPr>
            <a:r>
              <a:rPr lang="nl-NL" sz="1000" b="1" dirty="0">
                <a:solidFill>
                  <a:srgbClr val="F28C38"/>
                </a:solidFill>
                <a:latin typeface="Calibri" pitchFamily="34" charset="0"/>
                <a:ea typeface="Calibri" pitchFamily="34" charset="-122"/>
                <a:cs typeface="Calibri" pitchFamily="34" charset="-120"/>
              </a:rPr>
              <a:t>'55–'60</a:t>
            </a:r>
            <a:endParaRPr lang="nl-NL" sz="1000" dirty="0"/>
          </a:p>
        </p:txBody>
      </p:sp>
      <p:sp>
        <p:nvSpPr>
          <p:cNvPr id="20" name="!!ph_d3"/>
          <p:cNvSpPr/>
          <p:nvPr/>
        </p:nvSpPr>
        <p:spPr>
          <a:xfrm>
            <a:off x="10703052" y="5385816"/>
            <a:ext cx="182880" cy="182880"/>
          </a:xfrm>
          <a:prstGeom prst="ellipse">
            <a:avLst/>
          </a:prstGeom>
          <a:solidFill>
            <a:srgbClr val="C9D1DA"/>
          </a:solidFill>
          <a:ln/>
        </p:spPr>
        <p:txBody>
          <a:bodyPr/>
          <a:lstStyle/>
          <a:p>
            <a:endParaRPr lang="nl-NL"/>
          </a:p>
        </p:txBody>
      </p:sp>
      <p:sp>
        <p:nvSpPr>
          <p:cNvPr id="21" name="!!ph_t3"/>
          <p:cNvSpPr txBox="1"/>
          <p:nvPr/>
        </p:nvSpPr>
        <p:spPr>
          <a:xfrm>
            <a:off x="10337292"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 1960</a:t>
            </a:r>
            <a:endParaRPr lang="nl-NL" sz="1000" dirty="0"/>
          </a:p>
        </p:txBody>
      </p:sp>
      <p:sp>
        <p:nvSpPr>
          <p:cNvPr id="22" name="!!ph_act"/>
          <p:cNvSpPr/>
          <p:nvPr/>
        </p:nvSpPr>
        <p:spPr>
          <a:xfrm>
            <a:off x="9738360" y="5330952"/>
            <a:ext cx="292608" cy="292608"/>
          </a:xfrm>
          <a:prstGeom prst="ellipse">
            <a:avLst/>
          </a:prstGeom>
          <a:solidFill>
            <a:srgbClr val="F28C38"/>
          </a:solidFill>
          <a:ln w="25400">
            <a:solidFill>
              <a:srgbClr val="FFFFFF"/>
            </a:solidFill>
            <a:prstDash val="solid"/>
          </a:ln>
        </p:spPr>
        <p:txBody>
          <a:bodyPr/>
          <a:lstStyle/>
          <a:p>
            <a:endParaRPr lang="nl-NL"/>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50"/>
                                        <p:tgtEl>
                                          <p:spTgt spid="7"/>
                                        </p:tgtEl>
                                      </p:cBhvr>
                                    </p:animEffect>
                                    <p:anim calcmode="lin" valueType="num">
                                      <p:cBhvr additive="base">
                                        <p:cTn id="15"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6" dur="650" decel="100000" fill="hold"/>
                                        <p:tgtEl>
                                          <p:spTgt spid="7"/>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50"/>
                                        <p:tgtEl>
                                          <p:spTgt spid="9"/>
                                        </p:tgtEl>
                                      </p:cBhvr>
                                    </p:animEffect>
                                    <p:anim calcmode="lin" valueType="num">
                                      <p:cBhvr additive="base">
                                        <p:cTn id="27"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8" dur="650" decel="100000" fill="hold"/>
                                        <p:tgtEl>
                                          <p:spTgt spid="9"/>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anim calcmode="lin" valueType="num">
                                      <p:cBhvr additive="base">
                                        <p:cTn id="32"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50" decel="100000" fill="hold"/>
                                        <p:tgtEl>
                                          <p:spTgt spid="11"/>
                                        </p:tgtEl>
                                        <p:attrNameLst>
                                          <p:attrName>ppt_y</p:attrName>
                                        </p:attrNameLst>
                                      </p:cBhvr>
                                      <p:tavLst>
                                        <p:tav tm="0">
                                          <p:val>
                                            <p:strVal val="#ppt_y+0.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50"/>
                                        <p:tgtEl>
                                          <p:spTgt spid="12"/>
                                        </p:tgtEl>
                                      </p:cBhvr>
                                    </p:animEffect>
                                    <p:anim calcmode="lin" valueType="num">
                                      <p:cBhvr additive="base">
                                        <p:cTn id="44"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Veranderingen in de landbouw</a:t>
            </a:r>
            <a:endParaRPr lang="nl-NL" sz="3400" dirty="0"/>
          </a:p>
        </p:txBody>
      </p:sp>
      <p:sp>
        <p:nvSpPr>
          <p:cNvPr id="4" name="s27_lc0"/>
          <p:cNvSpPr/>
          <p:nvPr/>
        </p:nvSpPr>
        <p:spPr>
          <a:xfrm>
            <a:off x="548640" y="1371600"/>
            <a:ext cx="868680" cy="868680"/>
          </a:xfrm>
          <a:prstGeom prst="ellipse">
            <a:avLst/>
          </a:prstGeom>
          <a:solidFill>
            <a:srgbClr val="2E8B74"/>
          </a:solidFill>
          <a:ln/>
        </p:spPr>
        <p:txBody>
          <a:bodyPr/>
          <a:lstStyle/>
          <a:p>
            <a:endParaRPr lang="nl-NL"/>
          </a:p>
        </p:txBody>
      </p:sp>
      <p:pic>
        <p:nvPicPr>
          <p:cNvPr id="5" name="s27_li0" descr="users_w"/>
          <p:cNvPicPr>
            <a:picLocks noChangeAspect="1"/>
          </p:cNvPicPr>
          <p:nvPr/>
        </p:nvPicPr>
        <p:blipFill>
          <a:blip r:embed="rId3"/>
          <a:stretch>
            <a:fillRect/>
          </a:stretch>
        </p:blipFill>
        <p:spPr>
          <a:xfrm>
            <a:off x="768096" y="1591056"/>
            <a:ext cx="429768" cy="429768"/>
          </a:xfrm>
          <a:prstGeom prst="rect">
            <a:avLst/>
          </a:prstGeom>
        </p:spPr>
      </p:pic>
      <p:sp>
        <p:nvSpPr>
          <p:cNvPr id="6" name="s27_lt0"/>
          <p:cNvSpPr txBox="1"/>
          <p:nvPr/>
        </p:nvSpPr>
        <p:spPr>
          <a:xfrm>
            <a:off x="1645920" y="1389888"/>
            <a:ext cx="4846320" cy="320040"/>
          </a:xfrm>
          <a:prstGeom prst="rect">
            <a:avLst/>
          </a:prstGeom>
          <a:noFill/>
          <a:ln/>
        </p:spPr>
        <p:txBody>
          <a:bodyPr wrap="square" lIns="0" tIns="0" rIns="0" bIns="0" rtlCol="0" anchor="t"/>
          <a:lstStyle/>
          <a:p>
            <a:pPr marL="0" indent="0" algn="l">
              <a:buNone/>
            </a:pPr>
            <a:r>
              <a:rPr lang="nl-NL" sz="1400" b="1" kern="0" spc="100" dirty="0">
                <a:solidFill>
                  <a:srgbClr val="2E8B74"/>
                </a:solidFill>
                <a:latin typeface="Calibri" pitchFamily="34" charset="0"/>
                <a:ea typeface="Calibri" pitchFamily="34" charset="-122"/>
                <a:cs typeface="Calibri" pitchFamily="34" charset="-120"/>
              </a:rPr>
              <a:t>Probleem</a:t>
            </a:r>
            <a:endParaRPr lang="nl-NL" sz="1400" dirty="0"/>
          </a:p>
        </p:txBody>
      </p:sp>
      <p:sp>
        <p:nvSpPr>
          <p:cNvPr id="7" name="s27_ld0"/>
          <p:cNvSpPr txBox="1"/>
          <p:nvPr/>
        </p:nvSpPr>
        <p:spPr>
          <a:xfrm>
            <a:off x="1645920" y="1673352"/>
            <a:ext cx="4937760" cy="731520"/>
          </a:xfrm>
          <a:prstGeom prst="rect">
            <a:avLst/>
          </a:prstGeom>
          <a:noFill/>
          <a:ln/>
        </p:spPr>
        <p:txBody>
          <a:bodyPr wrap="square" lIns="0" tIns="0" rIns="0" bIns="0" rtlCol="0" anchor="t"/>
          <a:lstStyle/>
          <a:p>
            <a:pPr marL="0" indent="0" algn="l">
              <a:buNone/>
            </a:pPr>
            <a:r>
              <a:rPr lang="nl-NL" sz="1900" dirty="0">
                <a:solidFill>
                  <a:srgbClr val="1E2A3A"/>
                </a:solidFill>
                <a:latin typeface="Calibri" pitchFamily="34" charset="0"/>
                <a:ea typeface="Calibri" pitchFamily="34" charset="-122"/>
                <a:cs typeface="Calibri" pitchFamily="34" charset="-120"/>
              </a:rPr>
              <a:t>De bevolking groeit snel. Elk jaar zoeken 35.000 mensen extra een baan.</a:t>
            </a:r>
            <a:endParaRPr lang="nl-NL" sz="1900" dirty="0"/>
          </a:p>
        </p:txBody>
      </p:sp>
      <p:sp>
        <p:nvSpPr>
          <p:cNvPr id="8" name="s27_lc1"/>
          <p:cNvSpPr/>
          <p:nvPr/>
        </p:nvSpPr>
        <p:spPr>
          <a:xfrm>
            <a:off x="548640" y="2542032"/>
            <a:ext cx="868680" cy="868680"/>
          </a:xfrm>
          <a:prstGeom prst="ellipse">
            <a:avLst/>
          </a:prstGeom>
          <a:solidFill>
            <a:srgbClr val="2E8B74"/>
          </a:solidFill>
          <a:ln/>
        </p:spPr>
        <p:txBody>
          <a:bodyPr/>
          <a:lstStyle/>
          <a:p>
            <a:endParaRPr lang="nl-NL"/>
          </a:p>
        </p:txBody>
      </p:sp>
      <p:pic>
        <p:nvPicPr>
          <p:cNvPr id="9" name="s27_li1" descr="warn_w"/>
          <p:cNvPicPr>
            <a:picLocks noChangeAspect="1"/>
          </p:cNvPicPr>
          <p:nvPr/>
        </p:nvPicPr>
        <p:blipFill>
          <a:blip r:embed="rId4"/>
          <a:stretch>
            <a:fillRect/>
          </a:stretch>
        </p:blipFill>
        <p:spPr>
          <a:xfrm>
            <a:off x="768096" y="2761488"/>
            <a:ext cx="429768" cy="429768"/>
          </a:xfrm>
          <a:prstGeom prst="rect">
            <a:avLst/>
          </a:prstGeom>
        </p:spPr>
      </p:pic>
      <p:sp>
        <p:nvSpPr>
          <p:cNvPr id="10" name="s27_lt1"/>
          <p:cNvSpPr txBox="1"/>
          <p:nvPr/>
        </p:nvSpPr>
        <p:spPr>
          <a:xfrm>
            <a:off x="1645920" y="2560320"/>
            <a:ext cx="4846320" cy="320040"/>
          </a:xfrm>
          <a:prstGeom prst="rect">
            <a:avLst/>
          </a:prstGeom>
          <a:noFill/>
          <a:ln/>
        </p:spPr>
        <p:txBody>
          <a:bodyPr wrap="square" lIns="0" tIns="0" rIns="0" bIns="0" rtlCol="0" anchor="t"/>
          <a:lstStyle/>
          <a:p>
            <a:pPr marL="0" indent="0" algn="l">
              <a:buNone/>
            </a:pPr>
            <a:r>
              <a:rPr lang="nl-NL" sz="1400" b="1" kern="0" spc="100" dirty="0">
                <a:solidFill>
                  <a:srgbClr val="2E8B74"/>
                </a:solidFill>
                <a:latin typeface="Calibri" pitchFamily="34" charset="0"/>
                <a:ea typeface="Calibri" pitchFamily="34" charset="-122"/>
                <a:cs typeface="Calibri" pitchFamily="34" charset="-120"/>
              </a:rPr>
              <a:t>Doel</a:t>
            </a:r>
            <a:endParaRPr lang="nl-NL" sz="1400" dirty="0"/>
          </a:p>
        </p:txBody>
      </p:sp>
      <p:sp>
        <p:nvSpPr>
          <p:cNvPr id="11" name="s27_ld1"/>
          <p:cNvSpPr txBox="1"/>
          <p:nvPr/>
        </p:nvSpPr>
        <p:spPr>
          <a:xfrm>
            <a:off x="1645920" y="2843784"/>
            <a:ext cx="4937760" cy="731520"/>
          </a:xfrm>
          <a:prstGeom prst="rect">
            <a:avLst/>
          </a:prstGeom>
          <a:noFill/>
          <a:ln/>
        </p:spPr>
        <p:txBody>
          <a:bodyPr wrap="square" lIns="0" tIns="0" rIns="0" bIns="0" rtlCol="0" anchor="t"/>
          <a:lstStyle/>
          <a:p>
            <a:pPr marL="0" indent="0" algn="l">
              <a:buNone/>
            </a:pPr>
            <a:r>
              <a:rPr lang="nl-NL" sz="1900" dirty="0">
                <a:solidFill>
                  <a:srgbClr val="1E2A3A"/>
                </a:solidFill>
                <a:latin typeface="Calibri" pitchFamily="34" charset="0"/>
                <a:ea typeface="Calibri" pitchFamily="34" charset="-122"/>
                <a:cs typeface="Calibri" pitchFamily="34" charset="-120"/>
              </a:rPr>
              <a:t>Nooit meer honger, zoals in de Hongerwinter.</a:t>
            </a:r>
            <a:endParaRPr lang="nl-NL" sz="1900" dirty="0"/>
          </a:p>
        </p:txBody>
      </p:sp>
      <p:sp>
        <p:nvSpPr>
          <p:cNvPr id="12" name="s27_lc2"/>
          <p:cNvSpPr/>
          <p:nvPr/>
        </p:nvSpPr>
        <p:spPr>
          <a:xfrm>
            <a:off x="548640" y="3712464"/>
            <a:ext cx="868680" cy="868680"/>
          </a:xfrm>
          <a:prstGeom prst="ellipse">
            <a:avLst/>
          </a:prstGeom>
          <a:solidFill>
            <a:srgbClr val="F28C38"/>
          </a:solidFill>
          <a:ln/>
        </p:spPr>
        <p:txBody>
          <a:bodyPr/>
          <a:lstStyle/>
          <a:p>
            <a:endParaRPr lang="nl-NL"/>
          </a:p>
        </p:txBody>
      </p:sp>
      <p:pic>
        <p:nvPicPr>
          <p:cNvPr id="13" name="s27_li2" descr="tractor_w"/>
          <p:cNvPicPr>
            <a:picLocks noChangeAspect="1"/>
          </p:cNvPicPr>
          <p:nvPr/>
        </p:nvPicPr>
        <p:blipFill>
          <a:blip r:embed="rId5"/>
          <a:stretch>
            <a:fillRect/>
          </a:stretch>
        </p:blipFill>
        <p:spPr>
          <a:xfrm>
            <a:off x="768096" y="3931920"/>
            <a:ext cx="429768" cy="429768"/>
          </a:xfrm>
          <a:prstGeom prst="rect">
            <a:avLst/>
          </a:prstGeom>
        </p:spPr>
      </p:pic>
      <p:sp>
        <p:nvSpPr>
          <p:cNvPr id="14" name="s27_lt2"/>
          <p:cNvSpPr txBox="1"/>
          <p:nvPr/>
        </p:nvSpPr>
        <p:spPr>
          <a:xfrm>
            <a:off x="1645920" y="3730752"/>
            <a:ext cx="4846320" cy="320040"/>
          </a:xfrm>
          <a:prstGeom prst="rect">
            <a:avLst/>
          </a:prstGeom>
          <a:noFill/>
          <a:ln/>
        </p:spPr>
        <p:txBody>
          <a:bodyPr wrap="square" lIns="0" tIns="0" rIns="0" bIns="0" rtlCol="0" anchor="t"/>
          <a:lstStyle/>
          <a:p>
            <a:pPr marL="0" indent="0" algn="l">
              <a:buNone/>
            </a:pPr>
            <a:r>
              <a:rPr lang="nl-NL" sz="1400" b="1" kern="0" spc="100" dirty="0">
                <a:solidFill>
                  <a:srgbClr val="F28C38"/>
                </a:solidFill>
                <a:latin typeface="Calibri" pitchFamily="34" charset="0"/>
                <a:ea typeface="Calibri" pitchFamily="34" charset="-122"/>
                <a:cs typeface="Calibri" pitchFamily="34" charset="-120"/>
              </a:rPr>
              <a:t>Oplossing</a:t>
            </a:r>
            <a:endParaRPr lang="nl-NL" sz="1400" dirty="0"/>
          </a:p>
        </p:txBody>
      </p:sp>
      <p:sp>
        <p:nvSpPr>
          <p:cNvPr id="15" name="s27_ld2"/>
          <p:cNvSpPr txBox="1"/>
          <p:nvPr/>
        </p:nvSpPr>
        <p:spPr>
          <a:xfrm>
            <a:off x="1645920" y="4014216"/>
            <a:ext cx="4937760" cy="731520"/>
          </a:xfrm>
          <a:prstGeom prst="rect">
            <a:avLst/>
          </a:prstGeom>
          <a:noFill/>
          <a:ln/>
        </p:spPr>
        <p:txBody>
          <a:bodyPr wrap="square" lIns="0" tIns="0" rIns="0" bIns="0" rtlCol="0" anchor="t"/>
          <a:lstStyle/>
          <a:p>
            <a:pPr marL="0" indent="0" algn="l">
              <a:buNone/>
            </a:pPr>
            <a:r>
              <a:rPr lang="nl-NL" sz="1900" dirty="0">
                <a:solidFill>
                  <a:srgbClr val="1E2A3A"/>
                </a:solidFill>
                <a:latin typeface="Calibri" pitchFamily="34" charset="0"/>
                <a:ea typeface="Calibri" pitchFamily="34" charset="-122"/>
                <a:cs typeface="Calibri" pitchFamily="34" charset="-120"/>
              </a:rPr>
              <a:t>Mechanisatie en schaalvergroting.</a:t>
            </a:r>
            <a:endParaRPr lang="nl-NL" sz="1900" dirty="0"/>
          </a:p>
        </p:txBody>
      </p:sp>
      <p:sp>
        <p:nvSpPr>
          <p:cNvPr id="16" name="s27_gb0"/>
          <p:cNvSpPr/>
          <p:nvPr/>
        </p:nvSpPr>
        <p:spPr>
          <a:xfrm>
            <a:off x="7086600" y="1417320"/>
            <a:ext cx="4572000" cy="1554480"/>
          </a:xfrm>
          <a:prstGeom prst="roundRect">
            <a:avLst>
              <a:gd name="adj" fmla="val 7059"/>
            </a:avLst>
          </a:prstGeom>
          <a:solidFill>
            <a:srgbClr val="FDEEE2"/>
          </a:solidFill>
          <a:ln/>
        </p:spPr>
        <p:txBody>
          <a:bodyPr/>
          <a:lstStyle/>
          <a:p>
            <a:endParaRPr lang="nl-NL"/>
          </a:p>
        </p:txBody>
      </p:sp>
      <p:sp>
        <p:nvSpPr>
          <p:cNvPr id="17" name="s27_gl0"/>
          <p:cNvSpPr txBox="1"/>
          <p:nvPr/>
        </p:nvSpPr>
        <p:spPr>
          <a:xfrm>
            <a:off x="7360920" y="1600200"/>
            <a:ext cx="1828800" cy="256032"/>
          </a:xfrm>
          <a:prstGeom prst="rect">
            <a:avLst/>
          </a:prstGeom>
          <a:noFill/>
          <a:ln/>
        </p:spPr>
        <p:txBody>
          <a:bodyPr wrap="square" lIns="0" tIns="0" rIns="0" bIns="0" rtlCol="0" anchor="t"/>
          <a:lstStyle/>
          <a:p>
            <a:pPr marL="0" indent="0" algn="l">
              <a:buNone/>
            </a:pPr>
            <a:r>
              <a:rPr lang="nl-NL" sz="1100" b="1" kern="0" spc="150" dirty="0">
                <a:solidFill>
                  <a:srgbClr val="F28C38"/>
                </a:solidFill>
                <a:latin typeface="Calibri" pitchFamily="34" charset="0"/>
                <a:ea typeface="Calibri" pitchFamily="34" charset="-122"/>
                <a:cs typeface="Calibri" pitchFamily="34" charset="-120"/>
              </a:rPr>
              <a:t>BEGRIP</a:t>
            </a:r>
            <a:endParaRPr lang="nl-NL" sz="1100" dirty="0"/>
          </a:p>
        </p:txBody>
      </p:sp>
      <p:sp>
        <p:nvSpPr>
          <p:cNvPr id="18" name="s27_gt0"/>
          <p:cNvSpPr txBox="1"/>
          <p:nvPr/>
        </p:nvSpPr>
        <p:spPr>
          <a:xfrm>
            <a:off x="7360920" y="1828800"/>
            <a:ext cx="4023360" cy="411480"/>
          </a:xfrm>
          <a:prstGeom prst="rect">
            <a:avLst/>
          </a:prstGeom>
          <a:noFill/>
          <a:ln/>
        </p:spPr>
        <p:txBody>
          <a:bodyPr wrap="square" lIns="0" tIns="0" rIns="0" bIns="0" rtlCol="0" anchor="t"/>
          <a:lstStyle/>
          <a:p>
            <a:pPr marL="0" indent="0" algn="l">
              <a:buNone/>
            </a:pPr>
            <a:r>
              <a:rPr lang="nl-NL" sz="2200" b="1" dirty="0">
                <a:solidFill>
                  <a:srgbClr val="1E2A3A"/>
                </a:solidFill>
                <a:latin typeface="Calibri" pitchFamily="34" charset="0"/>
                <a:ea typeface="Calibri" pitchFamily="34" charset="-122"/>
                <a:cs typeface="Calibri" pitchFamily="34" charset="-120"/>
              </a:rPr>
              <a:t>Mechanisatie</a:t>
            </a:r>
            <a:endParaRPr lang="nl-NL" sz="2200" dirty="0"/>
          </a:p>
        </p:txBody>
      </p:sp>
      <p:sp>
        <p:nvSpPr>
          <p:cNvPr id="19" name="s27_gd0"/>
          <p:cNvSpPr txBox="1"/>
          <p:nvPr/>
        </p:nvSpPr>
        <p:spPr>
          <a:xfrm>
            <a:off x="7360920" y="2258568"/>
            <a:ext cx="4023360" cy="658368"/>
          </a:xfrm>
          <a:prstGeom prst="rect">
            <a:avLst/>
          </a:prstGeom>
          <a:noFill/>
          <a:ln/>
        </p:spPr>
        <p:txBody>
          <a:bodyPr wrap="square" lIns="0" tIns="0" rIns="0" bIns="0" rtlCol="0" anchor="t"/>
          <a:lstStyle/>
          <a:p>
            <a:pPr marL="0" indent="0" algn="l">
              <a:buNone/>
            </a:pPr>
            <a:r>
              <a:rPr lang="nl-NL" sz="1600" dirty="0">
                <a:solidFill>
                  <a:srgbClr val="1E2A3A"/>
                </a:solidFill>
                <a:latin typeface="Calibri" pitchFamily="34" charset="0"/>
                <a:ea typeface="Calibri" pitchFamily="34" charset="-122"/>
                <a:cs typeface="Calibri" pitchFamily="34" charset="-120"/>
              </a:rPr>
              <a:t>Werk laten doen door machines, zoals tractoren.</a:t>
            </a:r>
            <a:endParaRPr lang="nl-NL" sz="1600" dirty="0"/>
          </a:p>
        </p:txBody>
      </p:sp>
      <p:sp>
        <p:nvSpPr>
          <p:cNvPr id="20" name="s27_gb1"/>
          <p:cNvSpPr/>
          <p:nvPr/>
        </p:nvSpPr>
        <p:spPr>
          <a:xfrm>
            <a:off x="7086600" y="3200400"/>
            <a:ext cx="4572000" cy="1554480"/>
          </a:xfrm>
          <a:prstGeom prst="roundRect">
            <a:avLst>
              <a:gd name="adj" fmla="val 7059"/>
            </a:avLst>
          </a:prstGeom>
          <a:solidFill>
            <a:srgbClr val="FDEEE2"/>
          </a:solidFill>
          <a:ln/>
        </p:spPr>
        <p:txBody>
          <a:bodyPr/>
          <a:lstStyle/>
          <a:p>
            <a:endParaRPr lang="nl-NL"/>
          </a:p>
        </p:txBody>
      </p:sp>
      <p:sp>
        <p:nvSpPr>
          <p:cNvPr id="21" name="s27_gl1"/>
          <p:cNvSpPr txBox="1"/>
          <p:nvPr/>
        </p:nvSpPr>
        <p:spPr>
          <a:xfrm>
            <a:off x="7360920" y="3383280"/>
            <a:ext cx="1828800" cy="256032"/>
          </a:xfrm>
          <a:prstGeom prst="rect">
            <a:avLst/>
          </a:prstGeom>
          <a:noFill/>
          <a:ln/>
        </p:spPr>
        <p:txBody>
          <a:bodyPr wrap="square" lIns="0" tIns="0" rIns="0" bIns="0" rtlCol="0" anchor="t"/>
          <a:lstStyle/>
          <a:p>
            <a:pPr marL="0" indent="0" algn="l">
              <a:buNone/>
            </a:pPr>
            <a:r>
              <a:rPr lang="nl-NL" sz="1100" b="1" kern="0" spc="150" dirty="0">
                <a:solidFill>
                  <a:srgbClr val="F28C38"/>
                </a:solidFill>
                <a:latin typeface="Calibri" pitchFamily="34" charset="0"/>
                <a:ea typeface="Calibri" pitchFamily="34" charset="-122"/>
                <a:cs typeface="Calibri" pitchFamily="34" charset="-120"/>
              </a:rPr>
              <a:t>BEGRIP</a:t>
            </a:r>
            <a:endParaRPr lang="nl-NL" sz="1100" dirty="0"/>
          </a:p>
        </p:txBody>
      </p:sp>
      <p:sp>
        <p:nvSpPr>
          <p:cNvPr id="22" name="s27_gt1"/>
          <p:cNvSpPr txBox="1"/>
          <p:nvPr/>
        </p:nvSpPr>
        <p:spPr>
          <a:xfrm>
            <a:off x="7360920" y="3611880"/>
            <a:ext cx="4023360" cy="411480"/>
          </a:xfrm>
          <a:prstGeom prst="rect">
            <a:avLst/>
          </a:prstGeom>
          <a:noFill/>
          <a:ln/>
        </p:spPr>
        <p:txBody>
          <a:bodyPr wrap="square" lIns="0" tIns="0" rIns="0" bIns="0" rtlCol="0" anchor="t"/>
          <a:lstStyle/>
          <a:p>
            <a:pPr marL="0" indent="0" algn="l">
              <a:buNone/>
            </a:pPr>
            <a:r>
              <a:rPr lang="nl-NL" sz="2200" b="1" dirty="0">
                <a:solidFill>
                  <a:srgbClr val="1E2A3A"/>
                </a:solidFill>
                <a:latin typeface="Calibri" pitchFamily="34" charset="0"/>
                <a:ea typeface="Calibri" pitchFamily="34" charset="-122"/>
                <a:cs typeface="Calibri" pitchFamily="34" charset="-120"/>
              </a:rPr>
              <a:t>Schaalvergroting</a:t>
            </a:r>
            <a:endParaRPr lang="nl-NL" sz="2200" dirty="0"/>
          </a:p>
        </p:txBody>
      </p:sp>
      <p:sp>
        <p:nvSpPr>
          <p:cNvPr id="23" name="s27_gd1"/>
          <p:cNvSpPr txBox="1"/>
          <p:nvPr/>
        </p:nvSpPr>
        <p:spPr>
          <a:xfrm>
            <a:off x="7360920" y="4041648"/>
            <a:ext cx="4023360" cy="658368"/>
          </a:xfrm>
          <a:prstGeom prst="rect">
            <a:avLst/>
          </a:prstGeom>
          <a:noFill/>
          <a:ln/>
        </p:spPr>
        <p:txBody>
          <a:bodyPr wrap="square" lIns="0" tIns="0" rIns="0" bIns="0" rtlCol="0" anchor="t"/>
          <a:lstStyle/>
          <a:p>
            <a:pPr marL="0" indent="0" algn="l">
              <a:buNone/>
            </a:pPr>
            <a:r>
              <a:rPr lang="nl-NL" sz="1600" dirty="0">
                <a:solidFill>
                  <a:srgbClr val="1E2A3A"/>
                </a:solidFill>
                <a:latin typeface="Calibri" pitchFamily="34" charset="0"/>
                <a:ea typeface="Calibri" pitchFamily="34" charset="-122"/>
                <a:cs typeface="Calibri" pitchFamily="34" charset="-120"/>
              </a:rPr>
              <a:t>Bedrijven en akkers worden groter. Kleine boerderijen verdwijnen.</a:t>
            </a:r>
            <a:endParaRPr lang="nl-NL" sz="1600" dirty="0"/>
          </a:p>
        </p:txBody>
      </p:sp>
      <p:sp>
        <p:nvSpPr>
          <p:cNvPr id="24" name="s27_extra"/>
          <p:cNvSpPr txBox="1"/>
          <p:nvPr/>
        </p:nvSpPr>
        <p:spPr>
          <a:xfrm>
            <a:off x="548640" y="5074920"/>
            <a:ext cx="6035040" cy="640080"/>
          </a:xfrm>
          <a:prstGeom prst="rect">
            <a:avLst/>
          </a:prstGeom>
          <a:noFill/>
          <a:ln/>
        </p:spPr>
        <p:txBody>
          <a:bodyPr wrap="square" lIns="0" tIns="0" rIns="0" bIns="0" rtlCol="0" anchor="t"/>
          <a:lstStyle/>
          <a:p>
            <a:pPr marL="0" indent="0" algn="l">
              <a:buNone/>
            </a:pPr>
            <a:r>
              <a:rPr lang="nl-NL" sz="1600" i="1" dirty="0">
                <a:solidFill>
                  <a:srgbClr val="5B6B7B"/>
                </a:solidFill>
                <a:latin typeface="Calibri" pitchFamily="34" charset="0"/>
                <a:ea typeface="Calibri" pitchFamily="34" charset="-122"/>
                <a:cs typeface="Calibri" pitchFamily="34" charset="-120"/>
              </a:rPr>
              <a:t>Het land wordt op veel plaatsen opnieuw verdeeld: dat heet ruilverkaveling.</a:t>
            </a:r>
            <a:endParaRPr lang="nl-NL" sz="1600" dirty="0"/>
          </a:p>
        </p:txBody>
      </p:sp>
      <p:sp>
        <p:nvSpPr>
          <p:cNvPr id="2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7" name="!!rd_d1"/>
          <p:cNvSpPr/>
          <p:nvPr/>
        </p:nvSpPr>
        <p:spPr>
          <a:xfrm>
            <a:off x="2944368" y="6437376"/>
            <a:ext cx="128016" cy="128016"/>
          </a:xfrm>
          <a:prstGeom prst="ellipse">
            <a:avLst/>
          </a:prstGeom>
          <a:solidFill>
            <a:srgbClr val="1E2A3A"/>
          </a:solidFill>
          <a:ln/>
        </p:spPr>
        <p:txBody>
          <a:bodyPr/>
          <a:lstStyle/>
          <a:p>
            <a:endParaRPr lang="nl-NL"/>
          </a:p>
        </p:txBody>
      </p:sp>
      <p:sp>
        <p:nvSpPr>
          <p:cNvPr id="2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9" name="!!rd_d2"/>
          <p:cNvSpPr/>
          <p:nvPr/>
        </p:nvSpPr>
        <p:spPr>
          <a:xfrm>
            <a:off x="4078224" y="6437376"/>
            <a:ext cx="128016" cy="128016"/>
          </a:xfrm>
          <a:prstGeom prst="ellipse">
            <a:avLst/>
          </a:prstGeom>
          <a:solidFill>
            <a:srgbClr val="C9D1DA"/>
          </a:solidFill>
          <a:ln/>
        </p:spPr>
        <p:txBody>
          <a:bodyPr/>
          <a:lstStyle/>
          <a:p>
            <a:endParaRPr lang="nl-NL"/>
          </a:p>
        </p:txBody>
      </p:sp>
      <p:sp>
        <p:nvSpPr>
          <p:cNvPr id="3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31" name="!!rd_d3"/>
          <p:cNvSpPr/>
          <p:nvPr/>
        </p:nvSpPr>
        <p:spPr>
          <a:xfrm>
            <a:off x="5212080" y="6437376"/>
            <a:ext cx="128016" cy="128016"/>
          </a:xfrm>
          <a:prstGeom prst="ellipse">
            <a:avLst/>
          </a:prstGeom>
          <a:solidFill>
            <a:srgbClr val="C9D1DA"/>
          </a:solidFill>
          <a:ln/>
        </p:spPr>
        <p:txBody>
          <a:bodyPr/>
          <a:lstStyle/>
          <a:p>
            <a:endParaRPr lang="nl-NL"/>
          </a:p>
        </p:txBody>
      </p:sp>
      <p:sp>
        <p:nvSpPr>
          <p:cNvPr id="3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3" name="!!rd_d4"/>
          <p:cNvSpPr/>
          <p:nvPr/>
        </p:nvSpPr>
        <p:spPr>
          <a:xfrm>
            <a:off x="6345936" y="6437376"/>
            <a:ext cx="128016" cy="128016"/>
          </a:xfrm>
          <a:prstGeom prst="ellipse">
            <a:avLst/>
          </a:prstGeom>
          <a:solidFill>
            <a:srgbClr val="C9D1DA"/>
          </a:solidFill>
          <a:ln/>
        </p:spPr>
        <p:txBody>
          <a:bodyPr/>
          <a:lstStyle/>
          <a:p>
            <a:endParaRPr lang="nl-NL"/>
          </a:p>
        </p:txBody>
      </p:sp>
      <p:sp>
        <p:nvSpPr>
          <p:cNvPr id="3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5" name="!!rd_d5"/>
          <p:cNvSpPr/>
          <p:nvPr/>
        </p:nvSpPr>
        <p:spPr>
          <a:xfrm>
            <a:off x="7479792" y="6437376"/>
            <a:ext cx="128016" cy="128016"/>
          </a:xfrm>
          <a:prstGeom prst="ellipse">
            <a:avLst/>
          </a:prstGeom>
          <a:solidFill>
            <a:srgbClr val="C9D1DA"/>
          </a:solidFill>
          <a:ln/>
        </p:spPr>
        <p:txBody>
          <a:bodyPr/>
          <a:lstStyle/>
          <a:p>
            <a:endParaRPr lang="nl-NL"/>
          </a:p>
        </p:txBody>
      </p:sp>
      <p:sp>
        <p:nvSpPr>
          <p:cNvPr id="3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7"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
        <p:nvSpPr>
          <p:cNvPr id="38" name="s27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9" name="s27_tv_dot"/>
          <p:cNvSpPr/>
          <p:nvPr/>
        </p:nvSpPr>
        <p:spPr>
          <a:xfrm>
            <a:off x="8979408" y="6373368"/>
            <a:ext cx="256032" cy="256032"/>
          </a:xfrm>
          <a:prstGeom prst="ellipse">
            <a:avLst/>
          </a:prstGeom>
          <a:solidFill>
            <a:srgbClr val="2F7BB5"/>
          </a:solidFill>
          <a:ln/>
        </p:spPr>
        <p:txBody>
          <a:bodyPr/>
          <a:lstStyle/>
          <a:p>
            <a:endParaRPr lang="nl-NL"/>
          </a:p>
        </p:txBody>
      </p:sp>
      <p:pic>
        <p:nvPicPr>
          <p:cNvPr id="40" name="s27_tv_play" descr="play_w">
            <a:hlinkClick r:id="rId6" tooltip="Open op Schooltv"/>
          </p:cNvPr>
          <p:cNvPicPr>
            <a:picLocks noChangeAspect="1"/>
          </p:cNvPicPr>
          <p:nvPr/>
        </p:nvPicPr>
        <p:blipFill>
          <a:blip r:embed="rId7"/>
          <a:stretch>
            <a:fillRect/>
          </a:stretch>
        </p:blipFill>
        <p:spPr>
          <a:xfrm>
            <a:off x="9052560" y="6437376"/>
            <a:ext cx="128016" cy="128016"/>
          </a:xfrm>
          <a:prstGeom prst="rect">
            <a:avLst/>
          </a:prstGeom>
        </p:spPr>
      </p:pic>
      <p:sp>
        <p:nvSpPr>
          <p:cNvPr id="41" name="s27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6" tooltip="Open op Schooltv">
                  <a:extLst>
                    <a:ext uri="{A12FA001-AC4F-418D-AE19-62706E023703}">
                      <ahyp:hlinkClr xmlns:ahyp="http://schemas.microsoft.com/office/drawing/2018/hyperlinkcolor" val="tx"/>
                    </a:ext>
                  </a:extLst>
                </a:hlinkClick>
              </a:rPr>
              <a:t>Schooltv: Nooit meer honger</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600" decel="100000" fill="hold"/>
                                        <p:tgtEl>
                                          <p:spTgt spid="4"/>
                                        </p:tgtEl>
                                        <p:attrNameLst>
                                          <p:attrName>ppt_x</p:attrName>
                                        </p:attrNameLst>
                                      </p:cBhvr>
                                      <p:tavLst>
                                        <p:tav tm="0">
                                          <p:val>
                                            <p:strVal val="#ppt_x-0.35"/>
                                          </p:val>
                                        </p:tav>
                                        <p:tav tm="100000">
                                          <p:val>
                                            <p:strVal val="#ppt_x"/>
                                          </p:val>
                                        </p:tav>
                                      </p:tavLst>
                                    </p:anim>
                                    <p:anim calcmode="lin" valueType="num">
                                      <p:cBhvr additive="base">
                                        <p:cTn id="8" dur="600" decel="100000" fill="hold"/>
                                        <p:tgtEl>
                                          <p:spTgt spid="4"/>
                                        </p:tgtEl>
                                        <p:attrNameLst>
                                          <p:attrName>ppt_y</p:attrName>
                                        </p:attrNameLst>
                                      </p:cBhvr>
                                      <p:tavLst>
                                        <p:tav tm="0">
                                          <p:val>
                                            <p:strVal val="#ppt_y"/>
                                          </p:val>
                                        </p:tav>
                                        <p:tav tm="100000">
                                          <p:val>
                                            <p:strVal val="#ppt_y"/>
                                          </p:val>
                                        </p:tav>
                                      </p:tavLst>
                                    </p:anim>
                                    <p:animEffect transition="in" filter="fade">
                                      <p:cBhvr>
                                        <p:cTn id="9" dur="420"/>
                                        <p:tgtEl>
                                          <p:spTgt spid="4"/>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600" decel="100000" fill="hold"/>
                                        <p:tgtEl>
                                          <p:spTgt spid="5"/>
                                        </p:tgtEl>
                                        <p:attrNameLst>
                                          <p:attrName>ppt_x</p:attrName>
                                        </p:attrNameLst>
                                      </p:cBhvr>
                                      <p:tavLst>
                                        <p:tav tm="0">
                                          <p:val>
                                            <p:strVal val="#ppt_x-0.35"/>
                                          </p:val>
                                        </p:tav>
                                        <p:tav tm="100000">
                                          <p:val>
                                            <p:strVal val="#ppt_x"/>
                                          </p:val>
                                        </p:tav>
                                      </p:tavLst>
                                    </p:anim>
                                    <p:anim calcmode="lin" valueType="num">
                                      <p:cBhvr additive="base">
                                        <p:cTn id="13" dur="600" decel="100000" fill="hold"/>
                                        <p:tgtEl>
                                          <p:spTgt spid="5"/>
                                        </p:tgtEl>
                                        <p:attrNameLst>
                                          <p:attrName>ppt_y</p:attrName>
                                        </p:attrNameLst>
                                      </p:cBhvr>
                                      <p:tavLst>
                                        <p:tav tm="0">
                                          <p:val>
                                            <p:strVal val="#ppt_y"/>
                                          </p:val>
                                        </p:tav>
                                        <p:tav tm="100000">
                                          <p:val>
                                            <p:strVal val="#ppt_y"/>
                                          </p:val>
                                        </p:tav>
                                      </p:tavLst>
                                    </p:anim>
                                    <p:animEffect transition="in" filter="fade">
                                      <p:cBhvr>
                                        <p:cTn id="14" dur="420"/>
                                        <p:tgtEl>
                                          <p:spTgt spid="5"/>
                                        </p:tgtEl>
                                      </p:cBhvr>
                                    </p:animEffect>
                                  </p:childTnLst>
                                </p:cTn>
                              </p:par>
                              <p:par>
                                <p:cTn id="15" presetID="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600" decel="100000" fill="hold"/>
                                        <p:tgtEl>
                                          <p:spTgt spid="6"/>
                                        </p:tgtEl>
                                        <p:attrNameLst>
                                          <p:attrName>ppt_x</p:attrName>
                                        </p:attrNameLst>
                                      </p:cBhvr>
                                      <p:tavLst>
                                        <p:tav tm="0">
                                          <p:val>
                                            <p:strVal val="#ppt_x-0.35"/>
                                          </p:val>
                                        </p:tav>
                                        <p:tav tm="100000">
                                          <p:val>
                                            <p:strVal val="#ppt_x"/>
                                          </p:val>
                                        </p:tav>
                                      </p:tavLst>
                                    </p:anim>
                                    <p:anim calcmode="lin" valueType="num">
                                      <p:cBhvr additive="base">
                                        <p:cTn id="18" dur="600" decel="100000" fill="hold"/>
                                        <p:tgtEl>
                                          <p:spTgt spid="6"/>
                                        </p:tgtEl>
                                        <p:attrNameLst>
                                          <p:attrName>ppt_y</p:attrName>
                                        </p:attrNameLst>
                                      </p:cBhvr>
                                      <p:tavLst>
                                        <p:tav tm="0">
                                          <p:val>
                                            <p:strVal val="#ppt_y"/>
                                          </p:val>
                                        </p:tav>
                                        <p:tav tm="100000">
                                          <p:val>
                                            <p:strVal val="#ppt_y"/>
                                          </p:val>
                                        </p:tav>
                                      </p:tavLst>
                                    </p:anim>
                                    <p:animEffect transition="in" filter="fade">
                                      <p:cBhvr>
                                        <p:cTn id="19" dur="420"/>
                                        <p:tgtEl>
                                          <p:spTgt spid="6"/>
                                        </p:tgtEl>
                                      </p:cBhvr>
                                    </p:animEffect>
                                  </p:childTnLst>
                                </p:cTn>
                              </p:par>
                              <p:par>
                                <p:cTn id="20" presetID="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600" decel="100000" fill="hold"/>
                                        <p:tgtEl>
                                          <p:spTgt spid="7"/>
                                        </p:tgtEl>
                                        <p:attrNameLst>
                                          <p:attrName>ppt_x</p:attrName>
                                        </p:attrNameLst>
                                      </p:cBhvr>
                                      <p:tavLst>
                                        <p:tav tm="0">
                                          <p:val>
                                            <p:strVal val="#ppt_x-0.35"/>
                                          </p:val>
                                        </p:tav>
                                        <p:tav tm="100000">
                                          <p:val>
                                            <p:strVal val="#ppt_x"/>
                                          </p:val>
                                        </p:tav>
                                      </p:tavLst>
                                    </p:anim>
                                    <p:anim calcmode="lin" valueType="num">
                                      <p:cBhvr additive="base">
                                        <p:cTn id="23" dur="600" decel="100000" fill="hold"/>
                                        <p:tgtEl>
                                          <p:spTgt spid="7"/>
                                        </p:tgtEl>
                                        <p:attrNameLst>
                                          <p:attrName>ppt_y</p:attrName>
                                        </p:attrNameLst>
                                      </p:cBhvr>
                                      <p:tavLst>
                                        <p:tav tm="0">
                                          <p:val>
                                            <p:strVal val="#ppt_y"/>
                                          </p:val>
                                        </p:tav>
                                        <p:tav tm="100000">
                                          <p:val>
                                            <p:strVal val="#ppt_y"/>
                                          </p:val>
                                        </p:tav>
                                      </p:tavLst>
                                    </p:anim>
                                    <p:animEffect transition="in" filter="fade">
                                      <p:cBhvr>
                                        <p:cTn id="24" dur="42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600" decel="100000" fill="hold"/>
                                        <p:tgtEl>
                                          <p:spTgt spid="8"/>
                                        </p:tgtEl>
                                        <p:attrNameLst>
                                          <p:attrName>ppt_x</p:attrName>
                                        </p:attrNameLst>
                                      </p:cBhvr>
                                      <p:tavLst>
                                        <p:tav tm="0">
                                          <p:val>
                                            <p:strVal val="#ppt_x-0.35"/>
                                          </p:val>
                                        </p:tav>
                                        <p:tav tm="100000">
                                          <p:val>
                                            <p:strVal val="#ppt_x"/>
                                          </p:val>
                                        </p:tav>
                                      </p:tavLst>
                                    </p:anim>
                                    <p:anim calcmode="lin" valueType="num">
                                      <p:cBhvr additive="base">
                                        <p:cTn id="30" dur="600" decel="100000" fill="hold"/>
                                        <p:tgtEl>
                                          <p:spTgt spid="8"/>
                                        </p:tgtEl>
                                        <p:attrNameLst>
                                          <p:attrName>ppt_y</p:attrName>
                                        </p:attrNameLst>
                                      </p:cBhvr>
                                      <p:tavLst>
                                        <p:tav tm="0">
                                          <p:val>
                                            <p:strVal val="#ppt_y"/>
                                          </p:val>
                                        </p:tav>
                                        <p:tav tm="100000">
                                          <p:val>
                                            <p:strVal val="#ppt_y"/>
                                          </p:val>
                                        </p:tav>
                                      </p:tavLst>
                                    </p:anim>
                                    <p:animEffect transition="in" filter="fade">
                                      <p:cBhvr>
                                        <p:cTn id="31" dur="420"/>
                                        <p:tgtEl>
                                          <p:spTgt spid="8"/>
                                        </p:tgtEl>
                                      </p:cBhvr>
                                    </p:animEffect>
                                  </p:childTnLst>
                                </p:cTn>
                              </p:par>
                              <p:par>
                                <p:cTn id="32" presetID="2" presetClass="entr" presetSubtype="8"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600" decel="100000" fill="hold"/>
                                        <p:tgtEl>
                                          <p:spTgt spid="9"/>
                                        </p:tgtEl>
                                        <p:attrNameLst>
                                          <p:attrName>ppt_x</p:attrName>
                                        </p:attrNameLst>
                                      </p:cBhvr>
                                      <p:tavLst>
                                        <p:tav tm="0">
                                          <p:val>
                                            <p:strVal val="#ppt_x-0.35"/>
                                          </p:val>
                                        </p:tav>
                                        <p:tav tm="100000">
                                          <p:val>
                                            <p:strVal val="#ppt_x"/>
                                          </p:val>
                                        </p:tav>
                                      </p:tavLst>
                                    </p:anim>
                                    <p:anim calcmode="lin" valueType="num">
                                      <p:cBhvr additive="base">
                                        <p:cTn id="35" dur="600" decel="100000" fill="hold"/>
                                        <p:tgtEl>
                                          <p:spTgt spid="9"/>
                                        </p:tgtEl>
                                        <p:attrNameLst>
                                          <p:attrName>ppt_y</p:attrName>
                                        </p:attrNameLst>
                                      </p:cBhvr>
                                      <p:tavLst>
                                        <p:tav tm="0">
                                          <p:val>
                                            <p:strVal val="#ppt_y"/>
                                          </p:val>
                                        </p:tav>
                                        <p:tav tm="100000">
                                          <p:val>
                                            <p:strVal val="#ppt_y"/>
                                          </p:val>
                                        </p:tav>
                                      </p:tavLst>
                                    </p:anim>
                                    <p:animEffect transition="in" filter="fade">
                                      <p:cBhvr>
                                        <p:cTn id="36" dur="420"/>
                                        <p:tgtEl>
                                          <p:spTgt spid="9"/>
                                        </p:tgtEl>
                                      </p:cBhvr>
                                    </p:animEffect>
                                  </p:childTnLst>
                                </p:cTn>
                              </p:par>
                              <p:par>
                                <p:cTn id="37" presetID="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600" decel="100000" fill="hold"/>
                                        <p:tgtEl>
                                          <p:spTgt spid="10"/>
                                        </p:tgtEl>
                                        <p:attrNameLst>
                                          <p:attrName>ppt_x</p:attrName>
                                        </p:attrNameLst>
                                      </p:cBhvr>
                                      <p:tavLst>
                                        <p:tav tm="0">
                                          <p:val>
                                            <p:strVal val="#ppt_x-0.35"/>
                                          </p:val>
                                        </p:tav>
                                        <p:tav tm="100000">
                                          <p:val>
                                            <p:strVal val="#ppt_x"/>
                                          </p:val>
                                        </p:tav>
                                      </p:tavLst>
                                    </p:anim>
                                    <p:anim calcmode="lin" valueType="num">
                                      <p:cBhvr additive="base">
                                        <p:cTn id="40" dur="600" decel="100000" fill="hold"/>
                                        <p:tgtEl>
                                          <p:spTgt spid="10"/>
                                        </p:tgtEl>
                                        <p:attrNameLst>
                                          <p:attrName>ppt_y</p:attrName>
                                        </p:attrNameLst>
                                      </p:cBhvr>
                                      <p:tavLst>
                                        <p:tav tm="0">
                                          <p:val>
                                            <p:strVal val="#ppt_y"/>
                                          </p:val>
                                        </p:tav>
                                        <p:tav tm="100000">
                                          <p:val>
                                            <p:strVal val="#ppt_y"/>
                                          </p:val>
                                        </p:tav>
                                      </p:tavLst>
                                    </p:anim>
                                    <p:animEffect transition="in" filter="fade">
                                      <p:cBhvr>
                                        <p:cTn id="41" dur="420"/>
                                        <p:tgtEl>
                                          <p:spTgt spid="10"/>
                                        </p:tgtEl>
                                      </p:cBhvr>
                                    </p:animEffect>
                                  </p:childTnLst>
                                </p:cTn>
                              </p:par>
                              <p:par>
                                <p:cTn id="42" presetID="2" presetClass="entr" presetSubtype="8"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600" decel="100000" fill="hold"/>
                                        <p:tgtEl>
                                          <p:spTgt spid="11"/>
                                        </p:tgtEl>
                                        <p:attrNameLst>
                                          <p:attrName>ppt_x</p:attrName>
                                        </p:attrNameLst>
                                      </p:cBhvr>
                                      <p:tavLst>
                                        <p:tav tm="0">
                                          <p:val>
                                            <p:strVal val="#ppt_x-0.35"/>
                                          </p:val>
                                        </p:tav>
                                        <p:tav tm="100000">
                                          <p:val>
                                            <p:strVal val="#ppt_x"/>
                                          </p:val>
                                        </p:tav>
                                      </p:tavLst>
                                    </p:anim>
                                    <p:anim calcmode="lin" valueType="num">
                                      <p:cBhvr additive="base">
                                        <p:cTn id="45" dur="600" decel="100000" fill="hold"/>
                                        <p:tgtEl>
                                          <p:spTgt spid="11"/>
                                        </p:tgtEl>
                                        <p:attrNameLst>
                                          <p:attrName>ppt_y</p:attrName>
                                        </p:attrNameLst>
                                      </p:cBhvr>
                                      <p:tavLst>
                                        <p:tav tm="0">
                                          <p:val>
                                            <p:strVal val="#ppt_y"/>
                                          </p:val>
                                        </p:tav>
                                        <p:tav tm="100000">
                                          <p:val>
                                            <p:strVal val="#ppt_y"/>
                                          </p:val>
                                        </p:tav>
                                      </p:tavLst>
                                    </p:anim>
                                    <p:animEffect transition="in" filter="fade">
                                      <p:cBhvr>
                                        <p:cTn id="46" dur="42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600" decel="100000" fill="hold"/>
                                        <p:tgtEl>
                                          <p:spTgt spid="12"/>
                                        </p:tgtEl>
                                        <p:attrNameLst>
                                          <p:attrName>ppt_x</p:attrName>
                                        </p:attrNameLst>
                                      </p:cBhvr>
                                      <p:tavLst>
                                        <p:tav tm="0">
                                          <p:val>
                                            <p:strVal val="#ppt_x-0.35"/>
                                          </p:val>
                                        </p:tav>
                                        <p:tav tm="100000">
                                          <p:val>
                                            <p:strVal val="#ppt_x"/>
                                          </p:val>
                                        </p:tav>
                                      </p:tavLst>
                                    </p:anim>
                                    <p:anim calcmode="lin" valueType="num">
                                      <p:cBhvr additive="base">
                                        <p:cTn id="52" dur="600" decel="100000" fill="hold"/>
                                        <p:tgtEl>
                                          <p:spTgt spid="12"/>
                                        </p:tgtEl>
                                        <p:attrNameLst>
                                          <p:attrName>ppt_y</p:attrName>
                                        </p:attrNameLst>
                                      </p:cBhvr>
                                      <p:tavLst>
                                        <p:tav tm="0">
                                          <p:val>
                                            <p:strVal val="#ppt_y"/>
                                          </p:val>
                                        </p:tav>
                                        <p:tav tm="100000">
                                          <p:val>
                                            <p:strVal val="#ppt_y"/>
                                          </p:val>
                                        </p:tav>
                                      </p:tavLst>
                                    </p:anim>
                                    <p:animEffect transition="in" filter="fade">
                                      <p:cBhvr>
                                        <p:cTn id="53" dur="420"/>
                                        <p:tgtEl>
                                          <p:spTgt spid="12"/>
                                        </p:tgtEl>
                                      </p:cBhvr>
                                    </p:animEffect>
                                  </p:childTnLst>
                                </p:cTn>
                              </p:par>
                              <p:par>
                                <p:cTn id="54" presetID="2" presetClass="entr" presetSubtype="8" fill="hold"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600" decel="100000" fill="hold"/>
                                        <p:tgtEl>
                                          <p:spTgt spid="13"/>
                                        </p:tgtEl>
                                        <p:attrNameLst>
                                          <p:attrName>ppt_x</p:attrName>
                                        </p:attrNameLst>
                                      </p:cBhvr>
                                      <p:tavLst>
                                        <p:tav tm="0">
                                          <p:val>
                                            <p:strVal val="#ppt_x-0.35"/>
                                          </p:val>
                                        </p:tav>
                                        <p:tav tm="100000">
                                          <p:val>
                                            <p:strVal val="#ppt_x"/>
                                          </p:val>
                                        </p:tav>
                                      </p:tavLst>
                                    </p:anim>
                                    <p:anim calcmode="lin" valueType="num">
                                      <p:cBhvr additive="base">
                                        <p:cTn id="57" dur="600" decel="100000" fill="hold"/>
                                        <p:tgtEl>
                                          <p:spTgt spid="13"/>
                                        </p:tgtEl>
                                        <p:attrNameLst>
                                          <p:attrName>ppt_y</p:attrName>
                                        </p:attrNameLst>
                                      </p:cBhvr>
                                      <p:tavLst>
                                        <p:tav tm="0">
                                          <p:val>
                                            <p:strVal val="#ppt_y"/>
                                          </p:val>
                                        </p:tav>
                                        <p:tav tm="100000">
                                          <p:val>
                                            <p:strVal val="#ppt_y"/>
                                          </p:val>
                                        </p:tav>
                                      </p:tavLst>
                                    </p:anim>
                                    <p:animEffect transition="in" filter="fade">
                                      <p:cBhvr>
                                        <p:cTn id="58" dur="420"/>
                                        <p:tgtEl>
                                          <p:spTgt spid="13"/>
                                        </p:tgtEl>
                                      </p:cBhvr>
                                    </p:animEffect>
                                  </p:childTnLst>
                                </p:cTn>
                              </p:par>
                              <p:par>
                                <p:cTn id="59" presetID="2" presetClass="entr" presetSubtype="8"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600" decel="100000" fill="hold"/>
                                        <p:tgtEl>
                                          <p:spTgt spid="14"/>
                                        </p:tgtEl>
                                        <p:attrNameLst>
                                          <p:attrName>ppt_x</p:attrName>
                                        </p:attrNameLst>
                                      </p:cBhvr>
                                      <p:tavLst>
                                        <p:tav tm="0">
                                          <p:val>
                                            <p:strVal val="#ppt_x-0.35"/>
                                          </p:val>
                                        </p:tav>
                                        <p:tav tm="100000">
                                          <p:val>
                                            <p:strVal val="#ppt_x"/>
                                          </p:val>
                                        </p:tav>
                                      </p:tavLst>
                                    </p:anim>
                                    <p:anim calcmode="lin" valueType="num">
                                      <p:cBhvr additive="base">
                                        <p:cTn id="62" dur="600" decel="100000" fill="hold"/>
                                        <p:tgtEl>
                                          <p:spTgt spid="14"/>
                                        </p:tgtEl>
                                        <p:attrNameLst>
                                          <p:attrName>ppt_y</p:attrName>
                                        </p:attrNameLst>
                                      </p:cBhvr>
                                      <p:tavLst>
                                        <p:tav tm="0">
                                          <p:val>
                                            <p:strVal val="#ppt_y"/>
                                          </p:val>
                                        </p:tav>
                                        <p:tav tm="100000">
                                          <p:val>
                                            <p:strVal val="#ppt_y"/>
                                          </p:val>
                                        </p:tav>
                                      </p:tavLst>
                                    </p:anim>
                                    <p:animEffect transition="in" filter="fade">
                                      <p:cBhvr>
                                        <p:cTn id="63" dur="420"/>
                                        <p:tgtEl>
                                          <p:spTgt spid="14"/>
                                        </p:tgtEl>
                                      </p:cBhvr>
                                    </p:animEffect>
                                  </p:childTnLst>
                                </p:cTn>
                              </p:par>
                              <p:par>
                                <p:cTn id="64" presetID="2" presetClass="entr" presetSubtype="8"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600" decel="100000" fill="hold"/>
                                        <p:tgtEl>
                                          <p:spTgt spid="15"/>
                                        </p:tgtEl>
                                        <p:attrNameLst>
                                          <p:attrName>ppt_x</p:attrName>
                                        </p:attrNameLst>
                                      </p:cBhvr>
                                      <p:tavLst>
                                        <p:tav tm="0">
                                          <p:val>
                                            <p:strVal val="#ppt_x-0.35"/>
                                          </p:val>
                                        </p:tav>
                                        <p:tav tm="100000">
                                          <p:val>
                                            <p:strVal val="#ppt_x"/>
                                          </p:val>
                                        </p:tav>
                                      </p:tavLst>
                                    </p:anim>
                                    <p:anim calcmode="lin" valueType="num">
                                      <p:cBhvr additive="base">
                                        <p:cTn id="67" dur="600" decel="100000" fill="hold"/>
                                        <p:tgtEl>
                                          <p:spTgt spid="15"/>
                                        </p:tgtEl>
                                        <p:attrNameLst>
                                          <p:attrName>ppt_y</p:attrName>
                                        </p:attrNameLst>
                                      </p:cBhvr>
                                      <p:tavLst>
                                        <p:tav tm="0">
                                          <p:val>
                                            <p:strVal val="#ppt_y"/>
                                          </p:val>
                                        </p:tav>
                                        <p:tav tm="100000">
                                          <p:val>
                                            <p:strVal val="#ppt_y"/>
                                          </p:val>
                                        </p:tav>
                                      </p:tavLst>
                                    </p:anim>
                                    <p:animEffect transition="in" filter="fade">
                                      <p:cBhvr>
                                        <p:cTn id="68" dur="42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74"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5" dur="275"/>
                                        <p:tgtEl>
                                          <p:spTgt spid="1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79"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0" dur="275"/>
                                        <p:tgtEl>
                                          <p:spTgt spid="17"/>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4"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5" dur="275"/>
                                        <p:tgtEl>
                                          <p:spTgt spid="1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50" fill="hold"/>
                                        <p:tgtEl>
                                          <p:spTgt spid="1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9" dur="550" fill="hold"/>
                                        <p:tgtEl>
                                          <p:spTgt spid="1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0" dur="275"/>
                                        <p:tgtEl>
                                          <p:spTgt spid="19"/>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additive="base">
                                        <p:cTn id="95" dur="550" fill="hold"/>
                                        <p:tgtEl>
                                          <p:spTgt spid="2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96" dur="550" fill="hold"/>
                                        <p:tgtEl>
                                          <p:spTgt spid="2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7" dur="275"/>
                                        <p:tgtEl>
                                          <p:spTgt spid="20"/>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 calcmode="lin" valueType="num">
                                      <p:cBhvr additive="base">
                                        <p:cTn id="100" dur="550" fill="hold"/>
                                        <p:tgtEl>
                                          <p:spTgt spid="2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1" dur="550" fill="hold"/>
                                        <p:tgtEl>
                                          <p:spTgt spid="2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2" dur="275"/>
                                        <p:tgtEl>
                                          <p:spTgt spid="21"/>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2"/>
                                        </p:tgtEl>
                                        <p:attrNameLst>
                                          <p:attrName>style.visibility</p:attrName>
                                        </p:attrNameLst>
                                      </p:cBhvr>
                                      <p:to>
                                        <p:strVal val="visible"/>
                                      </p:to>
                                    </p:set>
                                    <p:anim calcmode="lin" valueType="num">
                                      <p:cBhvr additive="base">
                                        <p:cTn id="105" dur="550" fill="hold"/>
                                        <p:tgtEl>
                                          <p:spTgt spid="2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6" dur="550" fill="hold"/>
                                        <p:tgtEl>
                                          <p:spTgt spid="2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7" dur="275"/>
                                        <p:tgtEl>
                                          <p:spTgt spid="22"/>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3"/>
                                        </p:tgtEl>
                                        <p:attrNameLst>
                                          <p:attrName>style.visibility</p:attrName>
                                        </p:attrNameLst>
                                      </p:cBhvr>
                                      <p:to>
                                        <p:strVal val="visible"/>
                                      </p:to>
                                    </p:set>
                                    <p:anim calcmode="lin" valueType="num">
                                      <p:cBhvr additive="base">
                                        <p:cTn id="110" dur="550" fill="hold"/>
                                        <p:tgtEl>
                                          <p:spTgt spid="2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11" dur="550" fill="hold"/>
                                        <p:tgtEl>
                                          <p:spTgt spid="2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12" dur="275"/>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50"/>
                                        <p:tgtEl>
                                          <p:spTgt spid="24"/>
                                        </p:tgtEl>
                                      </p:cBhvr>
                                    </p:animEffect>
                                    <p:anim calcmode="lin" valueType="num">
                                      <p:cBhvr additive="base">
                                        <p:cTn id="118" dur="650" decel="100000" fill="hold"/>
                                        <p:tgtEl>
                                          <p:spTgt spid="24"/>
                                        </p:tgtEl>
                                        <p:attrNameLst>
                                          <p:attrName>ppt_x</p:attrName>
                                        </p:attrNameLst>
                                      </p:cBhvr>
                                      <p:tavLst>
                                        <p:tav tm="0">
                                          <p:val>
                                            <p:strVal val="#ppt_x"/>
                                          </p:val>
                                        </p:tav>
                                        <p:tav tm="100000">
                                          <p:val>
                                            <p:strVal val="#ppt_x"/>
                                          </p:val>
                                        </p:tav>
                                      </p:tavLst>
                                    </p:anim>
                                    <p:anim calcmode="lin" valueType="num">
                                      <p:cBhvr additive="base">
                                        <p:cTn id="119" dur="650" decel="100000" fill="hold"/>
                                        <p:tgtEl>
                                          <p:spTgt spid="2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Veranderingen in de landbouw</a:t>
            </a:r>
            <a:endParaRPr lang="nl-NL" sz="3400" dirty="0"/>
          </a:p>
        </p:txBody>
      </p:sp>
      <p:sp>
        <p:nvSpPr>
          <p:cNvPr id="4" name="s28_c1"/>
          <p:cNvSpPr/>
          <p:nvPr/>
        </p:nvSpPr>
        <p:spPr>
          <a:xfrm>
            <a:off x="548640" y="1417320"/>
            <a:ext cx="4846320" cy="3291840"/>
          </a:xfrm>
          <a:prstGeom prst="roundRect">
            <a:avLst>
              <a:gd name="adj" fmla="val 3889"/>
            </a:avLst>
          </a:prstGeom>
          <a:solidFill>
            <a:srgbClr val="F3F5F8"/>
          </a:solidFill>
          <a:ln/>
        </p:spPr>
        <p:txBody>
          <a:bodyPr/>
          <a:lstStyle/>
          <a:p>
            <a:endParaRPr lang="nl-NL"/>
          </a:p>
        </p:txBody>
      </p:sp>
      <p:pic>
        <p:nvPicPr>
          <p:cNvPr id="5" name="s28_horse" descr="horse_s1"/>
          <p:cNvPicPr>
            <a:picLocks noChangeAspect="1"/>
          </p:cNvPicPr>
          <p:nvPr/>
        </p:nvPicPr>
        <p:blipFill>
          <a:blip r:embed="rId3"/>
          <a:stretch>
            <a:fillRect/>
          </a:stretch>
        </p:blipFill>
        <p:spPr>
          <a:xfrm>
            <a:off x="2148840" y="1691640"/>
            <a:ext cx="1645920" cy="1645920"/>
          </a:xfrm>
          <a:prstGeom prst="rect">
            <a:avLst/>
          </a:prstGeom>
        </p:spPr>
      </p:pic>
      <p:sp>
        <p:nvSpPr>
          <p:cNvPr id="6" name="s28_n1"/>
          <p:cNvSpPr txBox="1"/>
          <p:nvPr/>
        </p:nvSpPr>
        <p:spPr>
          <a:xfrm>
            <a:off x="548640" y="3383280"/>
            <a:ext cx="4846320" cy="731520"/>
          </a:xfrm>
          <a:prstGeom prst="rect">
            <a:avLst/>
          </a:prstGeom>
          <a:noFill/>
          <a:ln/>
        </p:spPr>
        <p:txBody>
          <a:bodyPr wrap="square" lIns="0" tIns="0" rIns="0" bIns="0" rtlCol="0" anchor="t"/>
          <a:lstStyle/>
          <a:p>
            <a:pPr marL="0" indent="0" algn="ctr">
              <a:buNone/>
            </a:pPr>
            <a:r>
              <a:rPr lang="nl-NL" sz="4800" b="1" dirty="0">
                <a:solidFill>
                  <a:srgbClr val="5B6B82"/>
                </a:solidFill>
                <a:latin typeface="Calibri" pitchFamily="34" charset="0"/>
                <a:ea typeface="Calibri" pitchFamily="34" charset="-122"/>
                <a:cs typeface="Calibri" pitchFamily="34" charset="-120"/>
              </a:rPr>
              <a:t>265.000</a:t>
            </a:r>
            <a:endParaRPr lang="nl-NL" sz="4800" dirty="0"/>
          </a:p>
        </p:txBody>
      </p:sp>
      <p:sp>
        <p:nvSpPr>
          <p:cNvPr id="7" name="s28_l1"/>
          <p:cNvSpPr txBox="1"/>
          <p:nvPr/>
        </p:nvSpPr>
        <p:spPr>
          <a:xfrm>
            <a:off x="548640" y="4114800"/>
            <a:ext cx="4846320" cy="411480"/>
          </a:xfrm>
          <a:prstGeom prst="rect">
            <a:avLst/>
          </a:prstGeom>
          <a:noFill/>
          <a:ln/>
        </p:spPr>
        <p:txBody>
          <a:bodyPr wrap="square" lIns="0" tIns="0" rIns="0" bIns="0" rtlCol="0" anchor="t"/>
          <a:lstStyle/>
          <a:p>
            <a:pPr marL="0" indent="0" algn="ctr">
              <a:buNone/>
            </a:pPr>
            <a:r>
              <a:rPr lang="nl-NL" sz="1800" dirty="0">
                <a:solidFill>
                  <a:srgbClr val="5B6B7B"/>
                </a:solidFill>
                <a:latin typeface="Calibri" pitchFamily="34" charset="0"/>
                <a:ea typeface="Calibri" pitchFamily="34" charset="-122"/>
                <a:cs typeface="Calibri" pitchFamily="34" charset="-120"/>
              </a:rPr>
              <a:t>trekpaarden aan het werk in 1950</a:t>
            </a:r>
            <a:endParaRPr lang="nl-NL" sz="1800" dirty="0"/>
          </a:p>
        </p:txBody>
      </p:sp>
      <p:sp>
        <p:nvSpPr>
          <p:cNvPr id="8" name="s28_ar"/>
          <p:cNvSpPr/>
          <p:nvPr/>
        </p:nvSpPr>
        <p:spPr>
          <a:xfrm>
            <a:off x="5577840" y="2697480"/>
            <a:ext cx="1005840" cy="731520"/>
          </a:xfrm>
          <a:prstGeom prst="rightArrow">
            <a:avLst/>
          </a:prstGeom>
          <a:solidFill>
            <a:srgbClr val="F28C38"/>
          </a:solidFill>
          <a:ln/>
        </p:spPr>
        <p:txBody>
          <a:bodyPr/>
          <a:lstStyle/>
          <a:p>
            <a:endParaRPr lang="nl-NL"/>
          </a:p>
        </p:txBody>
      </p:sp>
      <p:sp>
        <p:nvSpPr>
          <p:cNvPr id="9" name="s28_c2"/>
          <p:cNvSpPr/>
          <p:nvPr/>
        </p:nvSpPr>
        <p:spPr>
          <a:xfrm>
            <a:off x="6766560" y="1417320"/>
            <a:ext cx="4846320" cy="3291840"/>
          </a:xfrm>
          <a:prstGeom prst="roundRect">
            <a:avLst>
              <a:gd name="adj" fmla="val 3889"/>
            </a:avLst>
          </a:prstGeom>
          <a:solidFill>
            <a:srgbClr val="FDEEE2"/>
          </a:solidFill>
          <a:ln/>
        </p:spPr>
        <p:txBody>
          <a:bodyPr/>
          <a:lstStyle/>
          <a:p>
            <a:endParaRPr lang="nl-NL"/>
          </a:p>
        </p:txBody>
      </p:sp>
      <p:pic>
        <p:nvPicPr>
          <p:cNvPr id="10" name="s28_tractor" descr="tractor"/>
          <p:cNvPicPr>
            <a:picLocks noChangeAspect="1"/>
          </p:cNvPicPr>
          <p:nvPr/>
        </p:nvPicPr>
        <p:blipFill>
          <a:blip r:embed="rId4"/>
          <a:stretch>
            <a:fillRect/>
          </a:stretch>
        </p:blipFill>
        <p:spPr>
          <a:xfrm>
            <a:off x="8001000" y="1645920"/>
            <a:ext cx="2377440" cy="1560576"/>
          </a:xfrm>
          <a:prstGeom prst="rect">
            <a:avLst/>
          </a:prstGeom>
        </p:spPr>
      </p:pic>
      <p:sp>
        <p:nvSpPr>
          <p:cNvPr id="11" name="s28_n2"/>
          <p:cNvSpPr txBox="1"/>
          <p:nvPr/>
        </p:nvSpPr>
        <p:spPr>
          <a:xfrm>
            <a:off x="6766560" y="3383280"/>
            <a:ext cx="4846320" cy="731520"/>
          </a:xfrm>
          <a:prstGeom prst="rect">
            <a:avLst/>
          </a:prstGeom>
          <a:noFill/>
          <a:ln/>
        </p:spPr>
        <p:txBody>
          <a:bodyPr wrap="square" lIns="0" tIns="0" rIns="0" bIns="0" rtlCol="0" anchor="t"/>
          <a:lstStyle/>
          <a:p>
            <a:pPr marL="0" indent="0" algn="ctr">
              <a:buNone/>
            </a:pPr>
            <a:r>
              <a:rPr lang="nl-NL" sz="4800" b="1" dirty="0">
                <a:solidFill>
                  <a:srgbClr val="F28C38"/>
                </a:solidFill>
                <a:latin typeface="Calibri" pitchFamily="34" charset="0"/>
                <a:ea typeface="Calibri" pitchFamily="34" charset="-122"/>
                <a:cs typeface="Calibri" pitchFamily="34" charset="-120"/>
              </a:rPr>
              <a:t>0</a:t>
            </a:r>
            <a:endParaRPr lang="nl-NL" sz="4800" dirty="0"/>
          </a:p>
        </p:txBody>
      </p:sp>
      <p:sp>
        <p:nvSpPr>
          <p:cNvPr id="12" name="s28_l2"/>
          <p:cNvSpPr txBox="1"/>
          <p:nvPr/>
        </p:nvSpPr>
        <p:spPr>
          <a:xfrm>
            <a:off x="6766560" y="4114800"/>
            <a:ext cx="4846320" cy="411480"/>
          </a:xfrm>
          <a:prstGeom prst="rect">
            <a:avLst/>
          </a:prstGeom>
          <a:noFill/>
          <a:ln/>
        </p:spPr>
        <p:txBody>
          <a:bodyPr wrap="square" lIns="0" tIns="0" rIns="0" bIns="0" rtlCol="0" anchor="t"/>
          <a:lstStyle/>
          <a:p>
            <a:pPr marL="0" indent="0" algn="ctr">
              <a:buNone/>
            </a:pPr>
            <a:r>
              <a:rPr lang="nl-NL" sz="1800" dirty="0">
                <a:solidFill>
                  <a:srgbClr val="5B6B7B"/>
                </a:solidFill>
                <a:latin typeface="Calibri" pitchFamily="34" charset="0"/>
                <a:ea typeface="Calibri" pitchFamily="34" charset="-122"/>
                <a:cs typeface="Calibri" pitchFamily="34" charset="-120"/>
              </a:rPr>
              <a:t>20 jaar later: allemaal vervangen door tractoren</a:t>
            </a:r>
            <a:endParaRPr lang="nl-NL" sz="1800" dirty="0"/>
          </a:p>
        </p:txBody>
      </p:sp>
      <p:sp>
        <p:nvSpPr>
          <p:cNvPr id="13" name="s28_gv"/>
          <p:cNvSpPr txBox="1"/>
          <p:nvPr/>
        </p:nvSpPr>
        <p:spPr>
          <a:xfrm>
            <a:off x="548640" y="4983480"/>
            <a:ext cx="11064240" cy="685800"/>
          </a:xfrm>
          <a:prstGeom prst="roundRect">
            <a:avLst>
              <a:gd name="adj" fmla="val 10667"/>
            </a:avLst>
          </a:prstGeom>
          <a:solidFill>
            <a:srgbClr val="FFFFFF"/>
          </a:solidFill>
          <a:ln/>
        </p:spPr>
        <p:txBody>
          <a:bodyPr wrap="square" lIns="50800" tIns="152400" rIns="152400" bIns="50800" rtlCol="0" anchor="ctr"/>
          <a:lstStyle/>
          <a:p>
            <a:pPr marL="0" indent="0" algn="l">
              <a:buNone/>
            </a:pPr>
            <a:r>
              <a:rPr lang="nl-NL" sz="2000" b="1" dirty="0">
                <a:solidFill>
                  <a:srgbClr val="F28C38"/>
                </a:solidFill>
                <a:latin typeface="Calibri" pitchFamily="34" charset="0"/>
                <a:ea typeface="Calibri" pitchFamily="34" charset="-122"/>
                <a:cs typeface="Calibri" pitchFamily="34" charset="-120"/>
              </a:rPr>
              <a:t>Gevolg: </a:t>
            </a:r>
            <a:r>
              <a:rPr lang="nl-NL" sz="2000" dirty="0">
                <a:solidFill>
                  <a:srgbClr val="1E2A3A"/>
                </a:solidFill>
                <a:latin typeface="Calibri" pitchFamily="34" charset="0"/>
                <a:ea typeface="Calibri" pitchFamily="34" charset="-122"/>
                <a:cs typeface="Calibri" pitchFamily="34" charset="-120"/>
              </a:rPr>
              <a:t>tussen 1947 en 1960 verdwijnt bijna de helft van de banen in de landbouw.</a:t>
            </a:r>
            <a:endParaRPr lang="nl-NL" sz="2000" dirty="0"/>
          </a:p>
        </p:txBody>
      </p:sp>
      <p:sp>
        <p:nvSpPr>
          <p:cNvPr id="14" name="s28_gvb"/>
          <p:cNvSpPr/>
          <p:nvPr/>
        </p:nvSpPr>
        <p:spPr>
          <a:xfrm>
            <a:off x="548640" y="4983480"/>
            <a:ext cx="11064240" cy="685800"/>
          </a:xfrm>
          <a:prstGeom prst="roundRect">
            <a:avLst>
              <a:gd name="adj" fmla="val 13333"/>
            </a:avLst>
          </a:prstGeom>
          <a:ln w="25400">
            <a:solidFill>
              <a:srgbClr val="F28C38"/>
            </a:solidFill>
            <a:prstDash val="solid"/>
          </a:ln>
        </p:spPr>
        <p:txBody>
          <a:bodyPr/>
          <a:lstStyle/>
          <a:p>
            <a:endParaRPr lang="nl-NL"/>
          </a:p>
        </p:txBody>
      </p:sp>
      <p:sp>
        <p:nvSpPr>
          <p:cNvPr id="1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7" name="!!rd_d1"/>
          <p:cNvSpPr/>
          <p:nvPr/>
        </p:nvSpPr>
        <p:spPr>
          <a:xfrm>
            <a:off x="2944368" y="6437376"/>
            <a:ext cx="128016" cy="128016"/>
          </a:xfrm>
          <a:prstGeom prst="ellipse">
            <a:avLst/>
          </a:prstGeom>
          <a:solidFill>
            <a:srgbClr val="1E2A3A"/>
          </a:solidFill>
          <a:ln/>
        </p:spPr>
        <p:txBody>
          <a:bodyPr/>
          <a:lstStyle/>
          <a:p>
            <a:endParaRPr lang="nl-NL"/>
          </a:p>
        </p:txBody>
      </p:sp>
      <p:sp>
        <p:nvSpPr>
          <p:cNvPr id="1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9" name="!!rd_d2"/>
          <p:cNvSpPr/>
          <p:nvPr/>
        </p:nvSpPr>
        <p:spPr>
          <a:xfrm>
            <a:off x="4078224" y="6437376"/>
            <a:ext cx="128016" cy="128016"/>
          </a:xfrm>
          <a:prstGeom prst="ellipse">
            <a:avLst/>
          </a:prstGeom>
          <a:solidFill>
            <a:srgbClr val="C9D1DA"/>
          </a:solidFill>
          <a:ln/>
        </p:spPr>
        <p:txBody>
          <a:bodyPr/>
          <a:lstStyle/>
          <a:p>
            <a:endParaRPr lang="nl-NL"/>
          </a:p>
        </p:txBody>
      </p:sp>
      <p:sp>
        <p:nvSpPr>
          <p:cNvPr id="2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1" name="!!rd_d3"/>
          <p:cNvSpPr/>
          <p:nvPr/>
        </p:nvSpPr>
        <p:spPr>
          <a:xfrm>
            <a:off x="5212080" y="6437376"/>
            <a:ext cx="128016" cy="128016"/>
          </a:xfrm>
          <a:prstGeom prst="ellipse">
            <a:avLst/>
          </a:prstGeom>
          <a:solidFill>
            <a:srgbClr val="C9D1DA"/>
          </a:solidFill>
          <a:ln/>
        </p:spPr>
        <p:txBody>
          <a:bodyPr/>
          <a:lstStyle/>
          <a:p>
            <a:endParaRPr lang="nl-NL"/>
          </a:p>
        </p:txBody>
      </p:sp>
      <p:sp>
        <p:nvSpPr>
          <p:cNvPr id="2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3" name="!!rd_d4"/>
          <p:cNvSpPr/>
          <p:nvPr/>
        </p:nvSpPr>
        <p:spPr>
          <a:xfrm>
            <a:off x="6345936" y="6437376"/>
            <a:ext cx="128016" cy="128016"/>
          </a:xfrm>
          <a:prstGeom prst="ellipse">
            <a:avLst/>
          </a:prstGeom>
          <a:solidFill>
            <a:srgbClr val="C9D1DA"/>
          </a:solidFill>
          <a:ln/>
        </p:spPr>
        <p:txBody>
          <a:bodyPr/>
          <a:lstStyle/>
          <a:p>
            <a:endParaRPr lang="nl-NL"/>
          </a:p>
        </p:txBody>
      </p:sp>
      <p:sp>
        <p:nvSpPr>
          <p:cNvPr id="2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5" name="!!rd_d5"/>
          <p:cNvSpPr/>
          <p:nvPr/>
        </p:nvSpPr>
        <p:spPr>
          <a:xfrm>
            <a:off x="7479792" y="6437376"/>
            <a:ext cx="128016" cy="128016"/>
          </a:xfrm>
          <a:prstGeom prst="ellipse">
            <a:avLst/>
          </a:prstGeom>
          <a:solidFill>
            <a:srgbClr val="C9D1DA"/>
          </a:solidFill>
          <a:ln/>
        </p:spPr>
        <p:txBody>
          <a:bodyPr/>
          <a:lstStyle/>
          <a:p>
            <a:endParaRPr lang="nl-NL"/>
          </a:p>
        </p:txBody>
      </p:sp>
      <p:sp>
        <p:nvSpPr>
          <p:cNvPr id="2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7"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8"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9" dur="275"/>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3"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4" dur="275"/>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650"/>
                                        <p:tgtEl>
                                          <p:spTgt spid="8"/>
                                        </p:tgtEl>
                                      </p:cBhvr>
                                    </p:animEffect>
                                  </p:childTnLst>
                                </p:cTn>
                              </p:par>
                            </p:childTnLst>
                          </p:cTn>
                        </p:par>
                        <p:par>
                          <p:cTn id="30" fill="hold">
                            <p:stCondLst>
                              <p:cond delay="650"/>
                            </p:stCondLst>
                            <p:childTnLst>
                              <p:par>
                                <p:cTn id="31" presetID="53" presetClass="entr" presetSubtype="16"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4"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5" dur="275"/>
                                        <p:tgtEl>
                                          <p:spTgt spid="9"/>
                                        </p:tgtEl>
                                      </p:cBhvr>
                                    </p:animEffect>
                                  </p:childTnLst>
                                </p:cTn>
                              </p:par>
                              <p:par>
                                <p:cTn id="36" presetID="53" presetClass="entr" presetSubtype="16"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9"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0" dur="275"/>
                                        <p:tgtEl>
                                          <p:spTgt spid="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4"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5" dur="275"/>
                                        <p:tgtEl>
                                          <p:spTgt spid="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9"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0" dur="275"/>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50"/>
                                        <p:tgtEl>
                                          <p:spTgt spid="13"/>
                                        </p:tgtEl>
                                      </p:cBhvr>
                                    </p:animEffect>
                                    <p:anim calcmode="lin" valueType="num">
                                      <p:cBhvr additive="base">
                                        <p:cTn id="56"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57" dur="650" decel="100000" fill="hold"/>
                                        <p:tgtEl>
                                          <p:spTgt spid="13"/>
                                        </p:tgtEl>
                                        <p:attrNameLst>
                                          <p:attrName>ppt_y</p:attrName>
                                        </p:attrNameLst>
                                      </p:cBhvr>
                                      <p:tavLst>
                                        <p:tav tm="0">
                                          <p:val>
                                            <p:strVal val="#ppt_y+0.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650"/>
                                        <p:tgtEl>
                                          <p:spTgt spid="14"/>
                                        </p:tgtEl>
                                      </p:cBhvr>
                                    </p:animEffect>
                                    <p:anim calcmode="lin" valueType="num">
                                      <p:cBhvr additive="base">
                                        <p:cTn id="61"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62" dur="650" decel="10000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De industrie</a:t>
            </a:r>
            <a:endParaRPr lang="nl-NL" sz="3400" dirty="0"/>
          </a:p>
        </p:txBody>
      </p:sp>
      <p:sp>
        <p:nvSpPr>
          <p:cNvPr id="4" name="!!card"/>
          <p:cNvSpPr/>
          <p:nvPr/>
        </p:nvSpPr>
        <p:spPr>
          <a:xfrm>
            <a:off x="502920" y="1234440"/>
            <a:ext cx="4160520" cy="4696566"/>
          </a:xfrm>
          <a:prstGeom prst="roundRect">
            <a:avLst>
              <a:gd name="adj" fmla="val 1319"/>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5" name="s29_poster" descr="poster_1950"/>
          <p:cNvPicPr>
            <a:picLocks noChangeAspect="1"/>
          </p:cNvPicPr>
          <p:nvPr/>
        </p:nvPicPr>
        <p:blipFill>
          <a:blip r:embed="rId3"/>
          <a:stretch>
            <a:fillRect/>
          </a:stretch>
        </p:blipFill>
        <p:spPr>
          <a:xfrm>
            <a:off x="548640" y="1280160"/>
            <a:ext cx="4069080" cy="4605126"/>
          </a:xfrm>
          <a:prstGeom prst="rect">
            <a:avLst/>
          </a:prstGeom>
        </p:spPr>
      </p:pic>
      <p:sp>
        <p:nvSpPr>
          <p:cNvPr id="6" name="s29_o1"/>
          <p:cNvSpPr txBox="1"/>
          <p:nvPr/>
        </p:nvSpPr>
        <p:spPr>
          <a:xfrm>
            <a:off x="548640" y="5940150"/>
            <a:ext cx="4434840" cy="45720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Poster uit 1950: de regering vindt industrie heel belangrijk</a:t>
            </a:r>
            <a:endParaRPr lang="nl-NL" sz="1200" dirty="0"/>
          </a:p>
        </p:txBody>
      </p:sp>
      <p:sp>
        <p:nvSpPr>
          <p:cNvPr id="7" name="s29_center"/>
          <p:cNvSpPr/>
          <p:nvPr/>
        </p:nvSpPr>
        <p:spPr>
          <a:xfrm>
            <a:off x="7772400" y="2880360"/>
            <a:ext cx="1371600" cy="1371600"/>
          </a:xfrm>
          <a:prstGeom prst="ellipse">
            <a:avLst/>
          </a:prstGeom>
          <a:solidFill>
            <a:srgbClr val="E5F3EE"/>
          </a:solidFill>
          <a:ln/>
        </p:spPr>
        <p:txBody>
          <a:bodyPr/>
          <a:lstStyle/>
          <a:p>
            <a:endParaRPr lang="nl-NL"/>
          </a:p>
        </p:txBody>
      </p:sp>
      <p:pic>
        <p:nvPicPr>
          <p:cNvPr id="8" name="s29_centeri" descr="industry_s2"/>
          <p:cNvPicPr>
            <a:picLocks noChangeAspect="1"/>
          </p:cNvPicPr>
          <p:nvPr/>
        </p:nvPicPr>
        <p:blipFill>
          <a:blip r:embed="rId4"/>
          <a:stretch>
            <a:fillRect/>
          </a:stretch>
        </p:blipFill>
        <p:spPr>
          <a:xfrm>
            <a:off x="8074152" y="3154680"/>
            <a:ext cx="768096" cy="768096"/>
          </a:xfrm>
          <a:prstGeom prst="rect">
            <a:avLst/>
          </a:prstGeom>
        </p:spPr>
      </p:pic>
      <p:sp>
        <p:nvSpPr>
          <p:cNvPr id="9" name="s29_cy0"/>
          <p:cNvSpPr txBox="1"/>
          <p:nvPr/>
        </p:nvSpPr>
        <p:spPr>
          <a:xfrm>
            <a:off x="7383780" y="1453896"/>
            <a:ext cx="2148840" cy="658368"/>
          </a:xfrm>
          <a:prstGeom prst="roundRect">
            <a:avLst>
              <a:gd name="adj" fmla="val 19444"/>
            </a:avLst>
          </a:prstGeom>
          <a:solidFill>
            <a:srgbClr val="F28C38"/>
          </a:solidFill>
          <a:ln/>
          <a:effectLst>
            <a:outerShdw blurRad="127000" dist="38100" dir="5400000" algn="bl" rotWithShape="0">
              <a:srgbClr val="000000">
                <a:alpha val="18000"/>
              </a:srgbClr>
            </a:outerShdw>
          </a:effectLst>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Lage lonen</a:t>
            </a:r>
            <a:endParaRPr lang="nl-NL" sz="1600" dirty="0"/>
          </a:p>
        </p:txBody>
      </p:sp>
      <p:sp>
        <p:nvSpPr>
          <p:cNvPr id="10" name="s29_cya0"/>
          <p:cNvSpPr/>
          <p:nvPr/>
        </p:nvSpPr>
        <p:spPr>
          <a:xfrm rot="1743370">
            <a:off x="9292679" y="2243671"/>
            <a:ext cx="548640" cy="310896"/>
          </a:xfrm>
          <a:prstGeom prst="rightArrow">
            <a:avLst/>
          </a:prstGeom>
          <a:solidFill>
            <a:srgbClr val="F28C38"/>
          </a:solidFill>
          <a:ln/>
        </p:spPr>
        <p:txBody>
          <a:bodyPr/>
          <a:lstStyle/>
          <a:p>
            <a:endParaRPr lang="nl-NL"/>
          </a:p>
        </p:txBody>
      </p:sp>
      <p:sp>
        <p:nvSpPr>
          <p:cNvPr id="11" name="s29_cy1"/>
          <p:cNvSpPr txBox="1"/>
          <p:nvPr/>
        </p:nvSpPr>
        <p:spPr>
          <a:xfrm>
            <a:off x="9601378" y="2685974"/>
            <a:ext cx="2148840" cy="658368"/>
          </a:xfrm>
          <a:prstGeom prst="roundRect">
            <a:avLst>
              <a:gd name="adj" fmla="val 19444"/>
            </a:avLst>
          </a:prstGeom>
          <a:solidFill>
            <a:srgbClr val="FFFFFF"/>
          </a:solidFill>
          <a:ln/>
          <a:effectLst>
            <a:outerShdw blurRad="127000" dist="38100" dir="5400000" algn="bl" rotWithShape="0">
              <a:srgbClr val="000000">
                <a:alpha val="18000"/>
              </a:srgbClr>
            </a:outerShdw>
          </a:effectLst>
        </p:spPr>
        <p:txBody>
          <a:bodyPr wrap="square" lIns="0" tIns="0" rIns="0" bIns="0" rtlCol="0" anchor="ctr"/>
          <a:lstStyle/>
          <a:p>
            <a:pPr marL="0" indent="0" algn="ctr">
              <a:buNone/>
            </a:pPr>
            <a:r>
              <a:rPr lang="nl-NL" sz="1600" b="1" dirty="0">
                <a:solidFill>
                  <a:srgbClr val="1E2A3A"/>
                </a:solidFill>
                <a:latin typeface="Calibri" pitchFamily="34" charset="0"/>
                <a:ea typeface="Calibri" pitchFamily="34" charset="-122"/>
                <a:cs typeface="Calibri" pitchFamily="34" charset="-120"/>
              </a:rPr>
              <a:t>Goedkope producten</a:t>
            </a:r>
            <a:endParaRPr lang="nl-NL" sz="1600" dirty="0"/>
          </a:p>
        </p:txBody>
      </p:sp>
      <p:sp>
        <p:nvSpPr>
          <p:cNvPr id="12" name="s29_cya1"/>
          <p:cNvSpPr/>
          <p:nvPr/>
        </p:nvSpPr>
        <p:spPr>
          <a:xfrm rot="6781224">
            <a:off x="9977954" y="3856482"/>
            <a:ext cx="548640" cy="310896"/>
          </a:xfrm>
          <a:prstGeom prst="rightArrow">
            <a:avLst/>
          </a:prstGeom>
          <a:solidFill>
            <a:srgbClr val="F28C38"/>
          </a:solidFill>
          <a:ln/>
        </p:spPr>
        <p:txBody>
          <a:bodyPr/>
          <a:lstStyle/>
          <a:p>
            <a:endParaRPr lang="nl-NL"/>
          </a:p>
        </p:txBody>
      </p:sp>
      <p:sp>
        <p:nvSpPr>
          <p:cNvPr id="13" name="s29_cy2"/>
          <p:cNvSpPr txBox="1"/>
          <p:nvPr/>
        </p:nvSpPr>
        <p:spPr>
          <a:xfrm>
            <a:off x="8754331" y="4679518"/>
            <a:ext cx="2148840" cy="658368"/>
          </a:xfrm>
          <a:prstGeom prst="roundRect">
            <a:avLst>
              <a:gd name="adj" fmla="val 19444"/>
            </a:avLst>
          </a:prstGeom>
          <a:solidFill>
            <a:srgbClr val="FFFFFF"/>
          </a:solidFill>
          <a:ln/>
          <a:effectLst>
            <a:outerShdw blurRad="127000" dist="38100" dir="5400000" algn="bl" rotWithShape="0">
              <a:srgbClr val="000000">
                <a:alpha val="18000"/>
              </a:srgbClr>
            </a:outerShdw>
          </a:effectLst>
        </p:spPr>
        <p:txBody>
          <a:bodyPr wrap="square" lIns="0" tIns="0" rIns="0" bIns="0" rtlCol="0" anchor="ctr"/>
          <a:lstStyle/>
          <a:p>
            <a:pPr marL="0" indent="0" algn="ctr">
              <a:buNone/>
            </a:pPr>
            <a:r>
              <a:rPr lang="nl-NL" sz="1600" b="1" dirty="0">
                <a:solidFill>
                  <a:srgbClr val="1E2A3A"/>
                </a:solidFill>
                <a:latin typeface="Calibri" pitchFamily="34" charset="0"/>
                <a:ea typeface="Calibri" pitchFamily="34" charset="-122"/>
                <a:cs typeface="Calibri" pitchFamily="34" charset="-120"/>
              </a:rPr>
              <a:t>Veel export</a:t>
            </a:r>
            <a:endParaRPr lang="nl-NL" sz="1600" dirty="0"/>
          </a:p>
        </p:txBody>
      </p:sp>
      <p:sp>
        <p:nvSpPr>
          <p:cNvPr id="14" name="s29_cya2"/>
          <p:cNvSpPr/>
          <p:nvPr/>
        </p:nvSpPr>
        <p:spPr>
          <a:xfrm rot="10800000">
            <a:off x="8183880" y="4853254"/>
            <a:ext cx="548640" cy="310896"/>
          </a:xfrm>
          <a:prstGeom prst="rightArrow">
            <a:avLst/>
          </a:prstGeom>
          <a:solidFill>
            <a:srgbClr val="F28C38"/>
          </a:solidFill>
          <a:ln/>
        </p:spPr>
        <p:txBody>
          <a:bodyPr/>
          <a:lstStyle/>
          <a:p>
            <a:endParaRPr lang="nl-NL"/>
          </a:p>
        </p:txBody>
      </p:sp>
      <p:sp>
        <p:nvSpPr>
          <p:cNvPr id="15" name="s29_cy3"/>
          <p:cNvSpPr txBox="1"/>
          <p:nvPr/>
        </p:nvSpPr>
        <p:spPr>
          <a:xfrm>
            <a:off x="6013229" y="4679518"/>
            <a:ext cx="2148840" cy="658368"/>
          </a:xfrm>
          <a:prstGeom prst="roundRect">
            <a:avLst>
              <a:gd name="adj" fmla="val 19444"/>
            </a:avLst>
          </a:prstGeom>
          <a:solidFill>
            <a:srgbClr val="FFFFFF"/>
          </a:solidFill>
          <a:ln/>
          <a:effectLst>
            <a:outerShdw blurRad="127000" dist="38100" dir="5400000" algn="bl" rotWithShape="0">
              <a:srgbClr val="000000">
                <a:alpha val="18000"/>
              </a:srgbClr>
            </a:outerShdw>
          </a:effectLst>
        </p:spPr>
        <p:txBody>
          <a:bodyPr wrap="square" lIns="0" tIns="0" rIns="0" bIns="0" rtlCol="0" anchor="ctr"/>
          <a:lstStyle/>
          <a:p>
            <a:pPr marL="0" indent="0" algn="ctr">
              <a:buNone/>
            </a:pPr>
            <a:r>
              <a:rPr lang="nl-NL" sz="1600" b="1" dirty="0">
                <a:solidFill>
                  <a:srgbClr val="1E2A3A"/>
                </a:solidFill>
                <a:latin typeface="Calibri" pitchFamily="34" charset="0"/>
                <a:ea typeface="Calibri" pitchFamily="34" charset="-122"/>
                <a:cs typeface="Calibri" pitchFamily="34" charset="-120"/>
              </a:rPr>
              <a:t>Meer geld verdiend</a:t>
            </a:r>
            <a:endParaRPr lang="nl-NL" sz="1600" dirty="0"/>
          </a:p>
        </p:txBody>
      </p:sp>
      <p:sp>
        <p:nvSpPr>
          <p:cNvPr id="16" name="s29_cya3"/>
          <p:cNvSpPr/>
          <p:nvPr/>
        </p:nvSpPr>
        <p:spPr>
          <a:xfrm rot="-6781224">
            <a:off x="6389806" y="3856482"/>
            <a:ext cx="548640" cy="310896"/>
          </a:xfrm>
          <a:prstGeom prst="rightArrow">
            <a:avLst/>
          </a:prstGeom>
          <a:solidFill>
            <a:srgbClr val="F28C38"/>
          </a:solidFill>
          <a:ln/>
        </p:spPr>
        <p:txBody>
          <a:bodyPr/>
          <a:lstStyle/>
          <a:p>
            <a:endParaRPr lang="nl-NL"/>
          </a:p>
        </p:txBody>
      </p:sp>
      <p:sp>
        <p:nvSpPr>
          <p:cNvPr id="17" name="s29_cy4"/>
          <p:cNvSpPr txBox="1"/>
          <p:nvPr/>
        </p:nvSpPr>
        <p:spPr>
          <a:xfrm>
            <a:off x="5166182" y="2685974"/>
            <a:ext cx="2148840" cy="658368"/>
          </a:xfrm>
          <a:prstGeom prst="roundRect">
            <a:avLst>
              <a:gd name="adj" fmla="val 19444"/>
            </a:avLst>
          </a:prstGeom>
          <a:solidFill>
            <a:srgbClr val="FFFFFF"/>
          </a:solidFill>
          <a:ln/>
          <a:effectLst>
            <a:outerShdw blurRad="127000" dist="38100" dir="5400000" algn="bl" rotWithShape="0">
              <a:srgbClr val="000000">
                <a:alpha val="18000"/>
              </a:srgbClr>
            </a:outerShdw>
          </a:effectLst>
        </p:spPr>
        <p:txBody>
          <a:bodyPr wrap="square" lIns="0" tIns="0" rIns="0" bIns="0" rtlCol="0" anchor="ctr"/>
          <a:lstStyle/>
          <a:p>
            <a:pPr marL="0" indent="0" algn="ctr">
              <a:buNone/>
            </a:pPr>
            <a:r>
              <a:rPr lang="nl-NL" sz="1600" b="1" dirty="0">
                <a:solidFill>
                  <a:srgbClr val="1E2A3A"/>
                </a:solidFill>
                <a:latin typeface="Calibri" pitchFamily="34" charset="0"/>
                <a:ea typeface="Calibri" pitchFamily="34" charset="-122"/>
                <a:cs typeface="Calibri" pitchFamily="34" charset="-120"/>
              </a:rPr>
              <a:t>Nieuwe fabrieken en banen</a:t>
            </a:r>
            <a:endParaRPr lang="nl-NL" sz="1600" dirty="0"/>
          </a:p>
        </p:txBody>
      </p:sp>
      <p:sp>
        <p:nvSpPr>
          <p:cNvPr id="18" name="s29_cya4"/>
          <p:cNvSpPr/>
          <p:nvPr/>
        </p:nvSpPr>
        <p:spPr>
          <a:xfrm rot="-1743370">
            <a:off x="7075081" y="2243671"/>
            <a:ext cx="548640" cy="310896"/>
          </a:xfrm>
          <a:prstGeom prst="rightArrow">
            <a:avLst/>
          </a:prstGeom>
          <a:solidFill>
            <a:srgbClr val="F28C38"/>
          </a:solidFill>
          <a:ln/>
        </p:spPr>
        <p:txBody>
          <a:bodyPr/>
          <a:lstStyle/>
          <a:p>
            <a:endParaRPr lang="nl-NL"/>
          </a:p>
        </p:txBody>
      </p:sp>
      <p:sp>
        <p:nvSpPr>
          <p:cNvPr id="19"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0"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1" name="!!rd_d1"/>
          <p:cNvSpPr/>
          <p:nvPr/>
        </p:nvSpPr>
        <p:spPr>
          <a:xfrm>
            <a:off x="2944368" y="6437376"/>
            <a:ext cx="128016" cy="128016"/>
          </a:xfrm>
          <a:prstGeom prst="ellipse">
            <a:avLst/>
          </a:prstGeom>
          <a:solidFill>
            <a:srgbClr val="1E2A3A"/>
          </a:solidFill>
          <a:ln/>
        </p:spPr>
        <p:txBody>
          <a:bodyPr/>
          <a:lstStyle/>
          <a:p>
            <a:endParaRPr lang="nl-NL"/>
          </a:p>
        </p:txBody>
      </p:sp>
      <p:sp>
        <p:nvSpPr>
          <p:cNvPr id="22"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3" name="!!rd_d2"/>
          <p:cNvSpPr/>
          <p:nvPr/>
        </p:nvSpPr>
        <p:spPr>
          <a:xfrm>
            <a:off x="4078224" y="6437376"/>
            <a:ext cx="128016" cy="128016"/>
          </a:xfrm>
          <a:prstGeom prst="ellipse">
            <a:avLst/>
          </a:prstGeom>
          <a:solidFill>
            <a:srgbClr val="C9D1DA"/>
          </a:solidFill>
          <a:ln/>
        </p:spPr>
        <p:txBody>
          <a:bodyPr/>
          <a:lstStyle/>
          <a:p>
            <a:endParaRPr lang="nl-NL"/>
          </a:p>
        </p:txBody>
      </p:sp>
      <p:sp>
        <p:nvSpPr>
          <p:cNvPr id="24"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5" name="!!rd_d3"/>
          <p:cNvSpPr/>
          <p:nvPr/>
        </p:nvSpPr>
        <p:spPr>
          <a:xfrm>
            <a:off x="5212080" y="6437376"/>
            <a:ext cx="128016" cy="128016"/>
          </a:xfrm>
          <a:prstGeom prst="ellipse">
            <a:avLst/>
          </a:prstGeom>
          <a:solidFill>
            <a:srgbClr val="C9D1DA"/>
          </a:solidFill>
          <a:ln/>
        </p:spPr>
        <p:txBody>
          <a:bodyPr/>
          <a:lstStyle/>
          <a:p>
            <a:endParaRPr lang="nl-NL"/>
          </a:p>
        </p:txBody>
      </p:sp>
      <p:sp>
        <p:nvSpPr>
          <p:cNvPr id="26"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7" name="!!rd_d4"/>
          <p:cNvSpPr/>
          <p:nvPr/>
        </p:nvSpPr>
        <p:spPr>
          <a:xfrm>
            <a:off x="6345936" y="6437376"/>
            <a:ext cx="128016" cy="128016"/>
          </a:xfrm>
          <a:prstGeom prst="ellipse">
            <a:avLst/>
          </a:prstGeom>
          <a:solidFill>
            <a:srgbClr val="C9D1DA"/>
          </a:solidFill>
          <a:ln/>
        </p:spPr>
        <p:txBody>
          <a:bodyPr/>
          <a:lstStyle/>
          <a:p>
            <a:endParaRPr lang="nl-NL"/>
          </a:p>
        </p:txBody>
      </p:sp>
      <p:sp>
        <p:nvSpPr>
          <p:cNvPr id="28"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9" name="!!rd_d5"/>
          <p:cNvSpPr/>
          <p:nvPr/>
        </p:nvSpPr>
        <p:spPr>
          <a:xfrm>
            <a:off x="7479792" y="6437376"/>
            <a:ext cx="128016" cy="128016"/>
          </a:xfrm>
          <a:prstGeom prst="ellipse">
            <a:avLst/>
          </a:prstGeom>
          <a:solidFill>
            <a:srgbClr val="C9D1DA"/>
          </a:solidFill>
          <a:ln/>
        </p:spPr>
        <p:txBody>
          <a:bodyPr/>
          <a:lstStyle/>
          <a:p>
            <a:endParaRPr lang="nl-NL"/>
          </a:p>
        </p:txBody>
      </p:sp>
      <p:sp>
        <p:nvSpPr>
          <p:cNvPr id="30"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1"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
        <p:nvSpPr>
          <p:cNvPr id="32" name="s29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3" name="s29_tv_dot"/>
          <p:cNvSpPr/>
          <p:nvPr/>
        </p:nvSpPr>
        <p:spPr>
          <a:xfrm>
            <a:off x="8979408" y="6373368"/>
            <a:ext cx="256032" cy="256032"/>
          </a:xfrm>
          <a:prstGeom prst="ellipse">
            <a:avLst/>
          </a:prstGeom>
          <a:solidFill>
            <a:srgbClr val="2F7BB5"/>
          </a:solidFill>
          <a:ln/>
        </p:spPr>
        <p:txBody>
          <a:bodyPr/>
          <a:lstStyle/>
          <a:p>
            <a:endParaRPr lang="nl-NL"/>
          </a:p>
        </p:txBody>
      </p:sp>
      <p:pic>
        <p:nvPicPr>
          <p:cNvPr id="34" name="s29_tv_play" descr="play_w">
            <a:hlinkClick r:id="rId5" tooltip="Open op Schooltv"/>
          </p:cNvPr>
          <p:cNvPicPr>
            <a:picLocks noChangeAspect="1"/>
          </p:cNvPicPr>
          <p:nvPr/>
        </p:nvPicPr>
        <p:blipFill>
          <a:blip r:embed="rId6"/>
          <a:stretch>
            <a:fillRect/>
          </a:stretch>
        </p:blipFill>
        <p:spPr>
          <a:xfrm>
            <a:off x="9052560" y="6437376"/>
            <a:ext cx="128016" cy="128016"/>
          </a:xfrm>
          <a:prstGeom prst="rect">
            <a:avLst/>
          </a:prstGeom>
        </p:spPr>
      </p:pic>
      <p:sp>
        <p:nvSpPr>
          <p:cNvPr id="35" name="s29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5" tooltip="Open op Schooltv">
                  <a:extLst>
                    <a:ext uri="{A12FA001-AC4F-418D-AE19-62706E023703}">
                      <ahyp:hlinkClr xmlns:ahyp="http://schemas.microsoft.com/office/drawing/2018/hyperlinkcolor" val="tx"/>
                    </a:ext>
                  </a:extLst>
                </a:hlinkClick>
              </a:rPr>
              <a:t>Schooltv: Industrie in de jaren 50</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7"/>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9"/>
                                        </p:tgtEl>
                                      </p:cBhvr>
                                    </p:animEffect>
                                  </p:childTnLst>
                                </p:cTn>
                              </p:par>
                            </p:childTnLst>
                          </p:cTn>
                        </p:par>
                        <p:par>
                          <p:cTn id="22" fill="hold">
                            <p:stCondLst>
                              <p:cond delay="550"/>
                            </p:stCondLst>
                            <p:childTnLst>
                              <p:par>
                                <p:cTn id="23" presetID="22" presetClass="entr" presetSubtype="8"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35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75"/>
                                        <p:tgtEl>
                                          <p:spTgt spid="11"/>
                                        </p:tgtEl>
                                      </p:cBhvr>
                                    </p:animEffect>
                                  </p:childTnLst>
                                </p:cTn>
                              </p:par>
                            </p:childTnLst>
                          </p:cTn>
                        </p:par>
                        <p:par>
                          <p:cTn id="33" fill="hold">
                            <p:stCondLst>
                              <p:cond delay="550"/>
                            </p:stCondLst>
                            <p:childTnLst>
                              <p:par>
                                <p:cTn id="34" presetID="22" presetClass="entr" presetSubtype="8"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35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2"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3" dur="275"/>
                                        <p:tgtEl>
                                          <p:spTgt spid="13"/>
                                        </p:tgtEl>
                                      </p:cBhvr>
                                    </p:animEffect>
                                  </p:childTnLst>
                                </p:cTn>
                              </p:par>
                            </p:childTnLst>
                          </p:cTn>
                        </p:par>
                        <p:par>
                          <p:cTn id="44" fill="hold">
                            <p:stCondLst>
                              <p:cond delay="550"/>
                            </p:stCondLst>
                            <p:childTnLst>
                              <p:par>
                                <p:cTn id="45" presetID="2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35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50" fill="hold"/>
                                        <p:tgtEl>
                                          <p:spTgt spid="1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3" dur="550" fill="hold"/>
                                        <p:tgtEl>
                                          <p:spTgt spid="1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4" dur="275"/>
                                        <p:tgtEl>
                                          <p:spTgt spid="15"/>
                                        </p:tgtEl>
                                      </p:cBhvr>
                                    </p:animEffect>
                                  </p:childTnLst>
                                </p:cTn>
                              </p:par>
                            </p:childTnLst>
                          </p:cTn>
                        </p:par>
                        <p:par>
                          <p:cTn id="55" fill="hold">
                            <p:stCondLst>
                              <p:cond delay="550"/>
                            </p:stCondLst>
                            <p:childTnLst>
                              <p:par>
                                <p:cTn id="56" presetID="22" presetClass="entr" presetSubtype="8"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left)">
                                      <p:cBhvr>
                                        <p:cTn id="58" dur="35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4"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5" dur="275"/>
                                        <p:tgtEl>
                                          <p:spTgt spid="17"/>
                                        </p:tgtEl>
                                      </p:cBhvr>
                                    </p:animEffect>
                                  </p:childTnLst>
                                </p:cTn>
                              </p:par>
                            </p:childTnLst>
                          </p:cTn>
                        </p:par>
                        <p:par>
                          <p:cTn id="66" fill="hold">
                            <p:stCondLst>
                              <p:cond delay="550"/>
                            </p:stCondLst>
                            <p:childTnLst>
                              <p:par>
                                <p:cTn id="67" presetID="22" presetClass="entr" presetSubtype="8"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left)">
                                      <p:cBhvr>
                                        <p:cTn id="69"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De industrie</a:t>
            </a:r>
            <a:endParaRPr lang="nl-NL" sz="3400" dirty="0"/>
          </a:p>
        </p:txBody>
      </p:sp>
      <p:sp>
        <p:nvSpPr>
          <p:cNvPr id="4" name="!!hv"/>
          <p:cNvSpPr txBox="1"/>
          <p:nvPr/>
        </p:nvSpPr>
        <p:spPr>
          <a:xfrm>
            <a:off x="566928" y="1024128"/>
            <a:ext cx="7315200" cy="411480"/>
          </a:xfrm>
          <a:prstGeom prst="rect">
            <a:avLst/>
          </a:prstGeom>
          <a:noFill/>
          <a:ln/>
        </p:spPr>
        <p:txBody>
          <a:bodyPr wrap="square" lIns="0" tIns="0" rIns="0" bIns="0" rtlCol="0" anchor="t"/>
          <a:lstStyle/>
          <a:p>
            <a:pPr marL="0" indent="0" algn="l">
              <a:buNone/>
            </a:pPr>
            <a:r>
              <a:rPr lang="nl-NL" sz="2200" b="1" dirty="0">
                <a:solidFill>
                  <a:srgbClr val="F28C38"/>
                </a:solidFill>
                <a:latin typeface="Calibri" pitchFamily="34" charset="0"/>
                <a:ea typeface="Calibri" pitchFamily="34" charset="-122"/>
                <a:cs typeface="Calibri" pitchFamily="34" charset="-120"/>
              </a:rPr>
              <a:t>Het werkte!</a:t>
            </a:r>
            <a:endParaRPr lang="nl-NL" sz="2200" dirty="0"/>
          </a:p>
        </p:txBody>
      </p:sp>
      <p:sp>
        <p:nvSpPr>
          <p:cNvPr id="5" name="s30_tl"/>
          <p:cNvSpPr/>
          <p:nvPr/>
        </p:nvSpPr>
        <p:spPr>
          <a:xfrm>
            <a:off x="822960" y="2240280"/>
            <a:ext cx="10515600" cy="0"/>
          </a:xfrm>
          <a:prstGeom prst="line">
            <a:avLst/>
          </a:prstGeom>
          <a:noFill/>
          <a:ln w="38100">
            <a:solidFill>
              <a:srgbClr val="F28C38"/>
            </a:solidFill>
            <a:prstDash val="solid"/>
          </a:ln>
        </p:spPr>
        <p:txBody>
          <a:bodyPr/>
          <a:lstStyle/>
          <a:p>
            <a:endParaRPr lang="nl-NL"/>
          </a:p>
        </p:txBody>
      </p:sp>
      <p:sp>
        <p:nvSpPr>
          <p:cNvPr id="6" name="s30_td0"/>
          <p:cNvSpPr/>
          <p:nvPr/>
        </p:nvSpPr>
        <p:spPr>
          <a:xfrm>
            <a:off x="731520" y="2075688"/>
            <a:ext cx="329184" cy="329184"/>
          </a:xfrm>
          <a:prstGeom prst="ellipse">
            <a:avLst/>
          </a:prstGeom>
          <a:solidFill>
            <a:srgbClr val="F28C38"/>
          </a:solidFill>
          <a:ln w="31750">
            <a:solidFill>
              <a:srgbClr val="FFFFFF"/>
            </a:solidFill>
            <a:prstDash val="solid"/>
          </a:ln>
        </p:spPr>
        <p:txBody>
          <a:bodyPr/>
          <a:lstStyle/>
          <a:p>
            <a:endParaRPr lang="nl-NL"/>
          </a:p>
        </p:txBody>
      </p:sp>
      <p:sp>
        <p:nvSpPr>
          <p:cNvPr id="7" name="s30_ty0"/>
          <p:cNvSpPr txBox="1"/>
          <p:nvPr/>
        </p:nvSpPr>
        <p:spPr>
          <a:xfrm>
            <a:off x="731520" y="1536192"/>
            <a:ext cx="2286000" cy="457200"/>
          </a:xfrm>
          <a:prstGeom prst="rect">
            <a:avLst/>
          </a:prstGeom>
          <a:noFill/>
          <a:ln/>
        </p:spPr>
        <p:txBody>
          <a:bodyPr wrap="square" lIns="0" tIns="0" rIns="0" bIns="0" rtlCol="0" anchor="t"/>
          <a:lstStyle/>
          <a:p>
            <a:pPr marL="0" indent="0" algn="l">
              <a:buNone/>
            </a:pPr>
            <a:r>
              <a:rPr lang="nl-NL" sz="2400" b="1" dirty="0">
                <a:solidFill>
                  <a:srgbClr val="2E8B74"/>
                </a:solidFill>
                <a:latin typeface="Calibri" pitchFamily="34" charset="0"/>
                <a:ea typeface="Calibri" pitchFamily="34" charset="-122"/>
                <a:cs typeface="Calibri" pitchFamily="34" charset="-120"/>
              </a:rPr>
              <a:t>1950</a:t>
            </a:r>
            <a:endParaRPr lang="nl-NL" sz="2400" dirty="0"/>
          </a:p>
        </p:txBody>
      </p:sp>
      <p:sp>
        <p:nvSpPr>
          <p:cNvPr id="8" name="s30_tx0"/>
          <p:cNvSpPr txBox="1"/>
          <p:nvPr/>
        </p:nvSpPr>
        <p:spPr>
          <a:xfrm>
            <a:off x="731520" y="2651760"/>
            <a:ext cx="3337560" cy="91440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economie is weer net zo groot als vlak voor de oorlog.</a:t>
            </a:r>
            <a:endParaRPr lang="nl-NL" sz="1800" dirty="0"/>
          </a:p>
        </p:txBody>
      </p:sp>
      <p:sp>
        <p:nvSpPr>
          <p:cNvPr id="9" name="s30_td1"/>
          <p:cNvSpPr/>
          <p:nvPr/>
        </p:nvSpPr>
        <p:spPr>
          <a:xfrm>
            <a:off x="4480560" y="2075688"/>
            <a:ext cx="329184" cy="329184"/>
          </a:xfrm>
          <a:prstGeom prst="ellipse">
            <a:avLst/>
          </a:prstGeom>
          <a:solidFill>
            <a:srgbClr val="F28C38"/>
          </a:solidFill>
          <a:ln w="31750">
            <a:solidFill>
              <a:srgbClr val="FFFFFF"/>
            </a:solidFill>
            <a:prstDash val="solid"/>
          </a:ln>
        </p:spPr>
        <p:txBody>
          <a:bodyPr/>
          <a:lstStyle/>
          <a:p>
            <a:endParaRPr lang="nl-NL"/>
          </a:p>
        </p:txBody>
      </p:sp>
      <p:sp>
        <p:nvSpPr>
          <p:cNvPr id="10" name="s30_ty1"/>
          <p:cNvSpPr txBox="1"/>
          <p:nvPr/>
        </p:nvSpPr>
        <p:spPr>
          <a:xfrm>
            <a:off x="4480560" y="1536192"/>
            <a:ext cx="2286000" cy="457200"/>
          </a:xfrm>
          <a:prstGeom prst="rect">
            <a:avLst/>
          </a:prstGeom>
          <a:noFill/>
          <a:ln/>
        </p:spPr>
        <p:txBody>
          <a:bodyPr wrap="square" lIns="0" tIns="0" rIns="0" bIns="0" rtlCol="0" anchor="t"/>
          <a:lstStyle/>
          <a:p>
            <a:pPr marL="0" indent="0" algn="l">
              <a:buNone/>
            </a:pPr>
            <a:r>
              <a:rPr lang="nl-NL" sz="2400" b="1" dirty="0">
                <a:solidFill>
                  <a:srgbClr val="2E8B74"/>
                </a:solidFill>
                <a:latin typeface="Calibri" pitchFamily="34" charset="0"/>
                <a:ea typeface="Calibri" pitchFamily="34" charset="-122"/>
                <a:cs typeface="Calibri" pitchFamily="34" charset="-120"/>
              </a:rPr>
              <a:t>jaren 50</a:t>
            </a:r>
            <a:endParaRPr lang="nl-NL" sz="2400" dirty="0"/>
          </a:p>
        </p:txBody>
      </p:sp>
      <p:sp>
        <p:nvSpPr>
          <p:cNvPr id="11" name="s30_tx1"/>
          <p:cNvSpPr txBox="1"/>
          <p:nvPr/>
        </p:nvSpPr>
        <p:spPr>
          <a:xfrm>
            <a:off x="4480560" y="2651760"/>
            <a:ext cx="3337560" cy="91440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economie blijft groeien, en snel ook!</a:t>
            </a:r>
            <a:endParaRPr lang="nl-NL" sz="1800" dirty="0"/>
          </a:p>
        </p:txBody>
      </p:sp>
      <p:sp>
        <p:nvSpPr>
          <p:cNvPr id="12" name="s30_td2"/>
          <p:cNvSpPr/>
          <p:nvPr/>
        </p:nvSpPr>
        <p:spPr>
          <a:xfrm>
            <a:off x="8229600" y="2075688"/>
            <a:ext cx="329184" cy="329184"/>
          </a:xfrm>
          <a:prstGeom prst="ellipse">
            <a:avLst/>
          </a:prstGeom>
          <a:solidFill>
            <a:srgbClr val="F28C38"/>
          </a:solidFill>
          <a:ln w="31750">
            <a:solidFill>
              <a:srgbClr val="FFFFFF"/>
            </a:solidFill>
            <a:prstDash val="solid"/>
          </a:ln>
        </p:spPr>
        <p:txBody>
          <a:bodyPr/>
          <a:lstStyle/>
          <a:p>
            <a:endParaRPr lang="nl-NL"/>
          </a:p>
        </p:txBody>
      </p:sp>
      <p:sp>
        <p:nvSpPr>
          <p:cNvPr id="13" name="s30_ty2"/>
          <p:cNvSpPr txBox="1"/>
          <p:nvPr/>
        </p:nvSpPr>
        <p:spPr>
          <a:xfrm>
            <a:off x="8229600" y="1536192"/>
            <a:ext cx="2286000" cy="457200"/>
          </a:xfrm>
          <a:prstGeom prst="rect">
            <a:avLst/>
          </a:prstGeom>
          <a:noFill/>
          <a:ln/>
        </p:spPr>
        <p:txBody>
          <a:bodyPr wrap="square" lIns="0" tIns="0" rIns="0" bIns="0" rtlCol="0" anchor="t"/>
          <a:lstStyle/>
          <a:p>
            <a:pPr marL="0" indent="0" algn="l">
              <a:buNone/>
            </a:pPr>
            <a:r>
              <a:rPr lang="nl-NL" sz="2400" b="1" dirty="0">
                <a:solidFill>
                  <a:srgbClr val="2E8B74"/>
                </a:solidFill>
                <a:latin typeface="Calibri" pitchFamily="34" charset="0"/>
                <a:ea typeface="Calibri" pitchFamily="34" charset="-122"/>
                <a:cs typeface="Calibri" pitchFamily="34" charset="-120"/>
              </a:rPr>
              <a:t>jaren 60</a:t>
            </a:r>
            <a:endParaRPr lang="nl-NL" sz="2400" dirty="0"/>
          </a:p>
        </p:txBody>
      </p:sp>
      <p:sp>
        <p:nvSpPr>
          <p:cNvPr id="14" name="s30_tx2"/>
          <p:cNvSpPr txBox="1"/>
          <p:nvPr/>
        </p:nvSpPr>
        <p:spPr>
          <a:xfrm>
            <a:off x="8229600" y="2651760"/>
            <a:ext cx="3337560" cy="914400"/>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Er zijn zelfs te weinig arbeiders.</a:t>
            </a:r>
            <a:endParaRPr lang="nl-NL" sz="1800" dirty="0"/>
          </a:p>
        </p:txBody>
      </p:sp>
      <p:sp>
        <p:nvSpPr>
          <p:cNvPr id="15" name="s30_gbg"/>
          <p:cNvSpPr/>
          <p:nvPr/>
        </p:nvSpPr>
        <p:spPr>
          <a:xfrm>
            <a:off x="548640" y="3886200"/>
            <a:ext cx="11109960" cy="2148840"/>
          </a:xfrm>
          <a:prstGeom prst="roundRect">
            <a:avLst>
              <a:gd name="adj" fmla="val 5957"/>
            </a:avLst>
          </a:prstGeom>
          <a:solidFill>
            <a:srgbClr val="E5F3EE"/>
          </a:solidFill>
          <a:ln/>
        </p:spPr>
        <p:txBody>
          <a:bodyPr/>
          <a:lstStyle/>
          <a:p>
            <a:endParaRPr lang="nl-NL"/>
          </a:p>
        </p:txBody>
      </p:sp>
      <p:pic>
        <p:nvPicPr>
          <p:cNvPr id="16" name="s30_gi" descr="globe_s2"/>
          <p:cNvPicPr>
            <a:picLocks noChangeAspect="1"/>
          </p:cNvPicPr>
          <p:nvPr/>
        </p:nvPicPr>
        <p:blipFill>
          <a:blip r:embed="rId3"/>
          <a:stretch>
            <a:fillRect/>
          </a:stretch>
        </p:blipFill>
        <p:spPr>
          <a:xfrm>
            <a:off x="914400" y="4389120"/>
            <a:ext cx="1097280" cy="1097280"/>
          </a:xfrm>
          <a:prstGeom prst="rect">
            <a:avLst/>
          </a:prstGeom>
        </p:spPr>
      </p:pic>
      <p:sp>
        <p:nvSpPr>
          <p:cNvPr id="17" name="s30_gl"/>
          <p:cNvSpPr txBox="1"/>
          <p:nvPr/>
        </p:nvSpPr>
        <p:spPr>
          <a:xfrm>
            <a:off x="2377440" y="4160520"/>
            <a:ext cx="5486400" cy="274320"/>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BEGRIP: GASTARBEIDERS</a:t>
            </a:r>
            <a:endParaRPr lang="nl-NL" sz="1200" dirty="0"/>
          </a:p>
        </p:txBody>
      </p:sp>
      <p:sp>
        <p:nvSpPr>
          <p:cNvPr id="18" name="s30_gt"/>
          <p:cNvSpPr txBox="1"/>
          <p:nvPr/>
        </p:nvSpPr>
        <p:spPr>
          <a:xfrm>
            <a:off x="2377440" y="4480560"/>
            <a:ext cx="8961120" cy="1005840"/>
          </a:xfrm>
          <a:prstGeom prst="rect">
            <a:avLst/>
          </a:prstGeom>
          <a:noFill/>
          <a:ln/>
        </p:spPr>
        <p:txBody>
          <a:bodyPr wrap="square" lIns="0" tIns="0" rIns="0" bIns="0" rtlCol="0" anchor="t"/>
          <a:lstStyle/>
          <a:p>
            <a:pPr marL="0" indent="0" algn="l">
              <a:buNone/>
            </a:pPr>
            <a:r>
              <a:rPr lang="nl-NL" sz="2000" dirty="0">
                <a:solidFill>
                  <a:srgbClr val="1E2A3A"/>
                </a:solidFill>
                <a:latin typeface="Calibri" pitchFamily="34" charset="0"/>
                <a:ea typeface="Calibri" pitchFamily="34" charset="-122"/>
                <a:cs typeface="Calibri" pitchFamily="34" charset="-120"/>
              </a:rPr>
              <a:t>Werkgevers en overheid zoeken arbeiders in het buitenland. Eerst uit Spanje en Griekenland, later uit Marokko en Turkije.</a:t>
            </a:r>
            <a:endParaRPr lang="nl-NL" sz="2000" dirty="0"/>
          </a:p>
        </p:txBody>
      </p:sp>
      <p:sp>
        <p:nvSpPr>
          <p:cNvPr id="19"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0"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1" name="!!rd_d1"/>
          <p:cNvSpPr/>
          <p:nvPr/>
        </p:nvSpPr>
        <p:spPr>
          <a:xfrm>
            <a:off x="2944368" y="6437376"/>
            <a:ext cx="128016" cy="128016"/>
          </a:xfrm>
          <a:prstGeom prst="ellipse">
            <a:avLst/>
          </a:prstGeom>
          <a:solidFill>
            <a:srgbClr val="1E2A3A"/>
          </a:solidFill>
          <a:ln/>
        </p:spPr>
        <p:txBody>
          <a:bodyPr/>
          <a:lstStyle/>
          <a:p>
            <a:endParaRPr lang="nl-NL"/>
          </a:p>
        </p:txBody>
      </p:sp>
      <p:sp>
        <p:nvSpPr>
          <p:cNvPr id="22"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3" name="!!rd_d2"/>
          <p:cNvSpPr/>
          <p:nvPr/>
        </p:nvSpPr>
        <p:spPr>
          <a:xfrm>
            <a:off x="4078224" y="6437376"/>
            <a:ext cx="128016" cy="128016"/>
          </a:xfrm>
          <a:prstGeom prst="ellipse">
            <a:avLst/>
          </a:prstGeom>
          <a:solidFill>
            <a:srgbClr val="C9D1DA"/>
          </a:solidFill>
          <a:ln/>
        </p:spPr>
        <p:txBody>
          <a:bodyPr/>
          <a:lstStyle/>
          <a:p>
            <a:endParaRPr lang="nl-NL"/>
          </a:p>
        </p:txBody>
      </p:sp>
      <p:sp>
        <p:nvSpPr>
          <p:cNvPr id="24"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5" name="!!rd_d3"/>
          <p:cNvSpPr/>
          <p:nvPr/>
        </p:nvSpPr>
        <p:spPr>
          <a:xfrm>
            <a:off x="5212080" y="6437376"/>
            <a:ext cx="128016" cy="128016"/>
          </a:xfrm>
          <a:prstGeom prst="ellipse">
            <a:avLst/>
          </a:prstGeom>
          <a:solidFill>
            <a:srgbClr val="C9D1DA"/>
          </a:solidFill>
          <a:ln/>
        </p:spPr>
        <p:txBody>
          <a:bodyPr/>
          <a:lstStyle/>
          <a:p>
            <a:endParaRPr lang="nl-NL"/>
          </a:p>
        </p:txBody>
      </p:sp>
      <p:sp>
        <p:nvSpPr>
          <p:cNvPr id="26"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7" name="!!rd_d4"/>
          <p:cNvSpPr/>
          <p:nvPr/>
        </p:nvSpPr>
        <p:spPr>
          <a:xfrm>
            <a:off x="6345936" y="6437376"/>
            <a:ext cx="128016" cy="128016"/>
          </a:xfrm>
          <a:prstGeom prst="ellipse">
            <a:avLst/>
          </a:prstGeom>
          <a:solidFill>
            <a:srgbClr val="C9D1DA"/>
          </a:solidFill>
          <a:ln/>
        </p:spPr>
        <p:txBody>
          <a:bodyPr/>
          <a:lstStyle/>
          <a:p>
            <a:endParaRPr lang="nl-NL"/>
          </a:p>
        </p:txBody>
      </p:sp>
      <p:sp>
        <p:nvSpPr>
          <p:cNvPr id="28"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9" name="!!rd_d5"/>
          <p:cNvSpPr/>
          <p:nvPr/>
        </p:nvSpPr>
        <p:spPr>
          <a:xfrm>
            <a:off x="7479792" y="6437376"/>
            <a:ext cx="128016" cy="128016"/>
          </a:xfrm>
          <a:prstGeom prst="ellipse">
            <a:avLst/>
          </a:prstGeom>
          <a:solidFill>
            <a:srgbClr val="C9D1DA"/>
          </a:solidFill>
          <a:ln/>
        </p:spPr>
        <p:txBody>
          <a:bodyPr/>
          <a:lstStyle/>
          <a:p>
            <a:endParaRPr lang="nl-NL"/>
          </a:p>
        </p:txBody>
      </p:sp>
      <p:sp>
        <p:nvSpPr>
          <p:cNvPr id="30"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1"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
        <p:nvSpPr>
          <p:cNvPr id="32" name="s30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3" name="s30_tv_dot"/>
          <p:cNvSpPr/>
          <p:nvPr/>
        </p:nvSpPr>
        <p:spPr>
          <a:xfrm>
            <a:off x="8979408" y="6373368"/>
            <a:ext cx="256032" cy="256032"/>
          </a:xfrm>
          <a:prstGeom prst="ellipse">
            <a:avLst/>
          </a:prstGeom>
          <a:solidFill>
            <a:srgbClr val="2F7BB5"/>
          </a:solidFill>
          <a:ln/>
        </p:spPr>
        <p:txBody>
          <a:bodyPr/>
          <a:lstStyle/>
          <a:p>
            <a:endParaRPr lang="nl-NL"/>
          </a:p>
        </p:txBody>
      </p:sp>
      <p:pic>
        <p:nvPicPr>
          <p:cNvPr id="34" name="s30_tv_play" descr="play_w">
            <a:hlinkClick r:id="rId4" tooltip="Open op Schooltv"/>
          </p:cNvPr>
          <p:cNvPicPr>
            <a:picLocks noChangeAspect="1"/>
          </p:cNvPicPr>
          <p:nvPr/>
        </p:nvPicPr>
        <p:blipFill>
          <a:blip r:embed="rId5"/>
          <a:stretch>
            <a:fillRect/>
          </a:stretch>
        </p:blipFill>
        <p:spPr>
          <a:xfrm>
            <a:off x="9052560" y="6437376"/>
            <a:ext cx="128016" cy="128016"/>
          </a:xfrm>
          <a:prstGeom prst="rect">
            <a:avLst/>
          </a:prstGeom>
        </p:spPr>
      </p:pic>
      <p:sp>
        <p:nvSpPr>
          <p:cNvPr id="35" name="s30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4" tooltip="Open op Schooltv">
                  <a:extLst>
                    <a:ext uri="{A12FA001-AC4F-418D-AE19-62706E023703}">
                      <ahyp:hlinkClr xmlns:ahyp="http://schemas.microsoft.com/office/drawing/2018/hyperlinkcolor" val="tx"/>
                    </a:ext>
                  </a:extLst>
                </a:hlinkClick>
              </a:rPr>
              <a:t>Schooltv: Waarom gastarbeiders?</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800"/>
                                        <p:tgtEl>
                                          <p:spTgt spid="5"/>
                                        </p:tgtEl>
                                      </p:cBhvr>
                                    </p:animEffect>
                                  </p:childTnLst>
                                </p:cTn>
                              </p:par>
                            </p:childTnLst>
                          </p:cTn>
                        </p:par>
                        <p:par>
                          <p:cTn id="8" fill="hold">
                            <p:stCondLst>
                              <p:cond delay="8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3" dur="275"/>
                                        <p:tgtEl>
                                          <p:spTgt spid="6"/>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50"/>
                                        <p:tgtEl>
                                          <p:spTgt spid="7"/>
                                        </p:tgtEl>
                                      </p:cBhvr>
                                    </p:animEffect>
                                    <p:anim calcmode="lin" valueType="num">
                                      <p:cBhvr additive="base">
                                        <p:cTn id="17"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8" dur="650" decel="100000" fill="hold"/>
                                        <p:tgtEl>
                                          <p:spTgt spid="7"/>
                                        </p:tgtEl>
                                        <p:attrNameLst>
                                          <p:attrName>ppt_y</p:attrName>
                                        </p:attrNameLst>
                                      </p:cBhvr>
                                      <p:tavLst>
                                        <p:tav tm="0">
                                          <p:val>
                                            <p:strVal val="#ppt_y+0.06"/>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50"/>
                                        <p:tgtEl>
                                          <p:spTgt spid="8"/>
                                        </p:tgtEl>
                                      </p:cBhvr>
                                    </p:animEffect>
                                    <p:anim calcmode="lin" valueType="num">
                                      <p:cBhvr additive="base">
                                        <p:cTn id="22"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23"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9"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0" dur="275"/>
                                        <p:tgtEl>
                                          <p:spTgt spid="9"/>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50"/>
                                        <p:tgtEl>
                                          <p:spTgt spid="10"/>
                                        </p:tgtEl>
                                      </p:cBhvr>
                                    </p:animEffect>
                                    <p:anim calcmode="lin" valueType="num">
                                      <p:cBhvr additive="base">
                                        <p:cTn id="34"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35" dur="650" decel="100000" fill="hold"/>
                                        <p:tgtEl>
                                          <p:spTgt spid="10"/>
                                        </p:tgtEl>
                                        <p:attrNameLst>
                                          <p:attrName>ppt_y</p:attrName>
                                        </p:attrNameLst>
                                      </p:cBhvr>
                                      <p:tavLst>
                                        <p:tav tm="0">
                                          <p:val>
                                            <p:strVal val="#ppt_y+0.06"/>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50" decel="100000" fill="hold"/>
                                        <p:tgtEl>
                                          <p:spTgt spid="11"/>
                                        </p:tgtEl>
                                        <p:attrNameLst>
                                          <p:attrName>ppt_y</p:attrName>
                                        </p:attrNameLst>
                                      </p:cBhvr>
                                      <p:tavLst>
                                        <p:tav tm="0">
                                          <p:val>
                                            <p:strVal val="#ppt_y+0.06"/>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6"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7" dur="275"/>
                                        <p:tgtEl>
                                          <p:spTgt spid="12"/>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50"/>
                                        <p:tgtEl>
                                          <p:spTgt spid="13"/>
                                        </p:tgtEl>
                                      </p:cBhvr>
                                    </p:animEffect>
                                    <p:anim calcmode="lin" valueType="num">
                                      <p:cBhvr additive="base">
                                        <p:cTn id="51"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52" dur="650" decel="100000" fill="hold"/>
                                        <p:tgtEl>
                                          <p:spTgt spid="13"/>
                                        </p:tgtEl>
                                        <p:attrNameLst>
                                          <p:attrName>ppt_y</p:attrName>
                                        </p:attrNameLst>
                                      </p:cBhvr>
                                      <p:tavLst>
                                        <p:tav tm="0">
                                          <p:val>
                                            <p:strVal val="#ppt_y+0.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50"/>
                                        <p:tgtEl>
                                          <p:spTgt spid="14"/>
                                        </p:tgtEl>
                                      </p:cBhvr>
                                    </p:animEffect>
                                    <p:anim calcmode="lin" valueType="num">
                                      <p:cBhvr additive="base">
                                        <p:cTn id="56"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57" dur="650" decel="10000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63" dur="600" decel="100000" fill="hold"/>
                                        <p:tgtEl>
                                          <p:spTgt spid="15"/>
                                        </p:tgtEl>
                                        <p:attrNameLst>
                                          <p:attrName>ppt_y</p:attrName>
                                        </p:attrNameLst>
                                      </p:cBhvr>
                                      <p:tavLst>
                                        <p:tav tm="0">
                                          <p:val>
                                            <p:strVal val="#ppt_y+0.3"/>
                                          </p:val>
                                        </p:tav>
                                        <p:tav tm="100000">
                                          <p:val>
                                            <p:strVal val="#ppt_y"/>
                                          </p:val>
                                        </p:tav>
                                      </p:tavLst>
                                    </p:anim>
                                    <p:animEffect transition="in" filter="fade">
                                      <p:cBhvr>
                                        <p:cTn id="64" dur="420"/>
                                        <p:tgtEl>
                                          <p:spTgt spid="15"/>
                                        </p:tgtEl>
                                      </p:cBhvr>
                                    </p:animEffect>
                                  </p:childTnLst>
                                </p:cTn>
                              </p:par>
                              <p:par>
                                <p:cTn id="65" presetID="2" presetClass="entr" presetSubtype="4"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8" dur="600" decel="100000" fill="hold"/>
                                        <p:tgtEl>
                                          <p:spTgt spid="16"/>
                                        </p:tgtEl>
                                        <p:attrNameLst>
                                          <p:attrName>ppt_y</p:attrName>
                                        </p:attrNameLst>
                                      </p:cBhvr>
                                      <p:tavLst>
                                        <p:tav tm="0">
                                          <p:val>
                                            <p:strVal val="#ppt_y+0.3"/>
                                          </p:val>
                                        </p:tav>
                                        <p:tav tm="100000">
                                          <p:val>
                                            <p:strVal val="#ppt_y"/>
                                          </p:val>
                                        </p:tav>
                                      </p:tavLst>
                                    </p:anim>
                                    <p:animEffect transition="in" filter="fade">
                                      <p:cBhvr>
                                        <p:cTn id="69" dur="420"/>
                                        <p:tgtEl>
                                          <p:spTgt spid="16"/>
                                        </p:tgtEl>
                                      </p:cBhvr>
                                    </p:animEffect>
                                  </p:childTnLst>
                                </p:cTn>
                              </p:par>
                              <p:par>
                                <p:cTn id="70" presetID="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3" dur="600" decel="100000" fill="hold"/>
                                        <p:tgtEl>
                                          <p:spTgt spid="17"/>
                                        </p:tgtEl>
                                        <p:attrNameLst>
                                          <p:attrName>ppt_y</p:attrName>
                                        </p:attrNameLst>
                                      </p:cBhvr>
                                      <p:tavLst>
                                        <p:tav tm="0">
                                          <p:val>
                                            <p:strVal val="#ppt_y+0.3"/>
                                          </p:val>
                                        </p:tav>
                                        <p:tav tm="100000">
                                          <p:val>
                                            <p:strVal val="#ppt_y"/>
                                          </p:val>
                                        </p:tav>
                                      </p:tavLst>
                                    </p:anim>
                                    <p:animEffect transition="in" filter="fade">
                                      <p:cBhvr>
                                        <p:cTn id="74" dur="420"/>
                                        <p:tgtEl>
                                          <p:spTgt spid="17"/>
                                        </p:tgtEl>
                                      </p:cBhvr>
                                    </p:animEffect>
                                  </p:childTnLst>
                                </p:cTn>
                              </p:par>
                              <p:par>
                                <p:cTn id="75" presetID="2" presetClass="entr" presetSubtype="4"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8" dur="600" decel="100000" fill="hold"/>
                                        <p:tgtEl>
                                          <p:spTgt spid="18"/>
                                        </p:tgtEl>
                                        <p:attrNameLst>
                                          <p:attrName>ppt_y</p:attrName>
                                        </p:attrNameLst>
                                      </p:cBhvr>
                                      <p:tavLst>
                                        <p:tav tm="0">
                                          <p:val>
                                            <p:strVal val="#ppt_y+0.3"/>
                                          </p:val>
                                        </p:tav>
                                        <p:tav tm="100000">
                                          <p:val>
                                            <p:strVal val="#ppt_y"/>
                                          </p:val>
                                        </p:tav>
                                      </p:tavLst>
                                    </p:anim>
                                    <p:animEffect transition="in" filter="fade">
                                      <p:cBhvr>
                                        <p:cTn id="79"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nfo_weder" descr="info_wederopbouw"/>
          <p:cNvPicPr>
            <a:picLocks noChangeAspect="1"/>
          </p:cNvPicPr>
          <p:nvPr/>
        </p:nvPicPr>
        <p:blipFill>
          <a:blip r:embed="rId3"/>
          <a:stretch>
            <a:fillRect/>
          </a:stretch>
        </p:blipFill>
        <p:spPr>
          <a:xfrm>
            <a:off x="-13163913" y="-2632387"/>
            <a:ext cx="25355608" cy="14151967"/>
          </a:xfrm>
          <a:prstGeom prst="rect">
            <a:avLst/>
          </a:prstGeom>
        </p:spPr>
      </p:pic>
      <p:sp>
        <p:nvSpPr>
          <p:cNvPr id="3" name="!!card"/>
          <p:cNvSpPr/>
          <p:nvPr/>
        </p:nvSpPr>
        <p:spPr>
          <a:xfrm>
            <a:off x="3200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4" name="!!sectag"/>
          <p:cNvSpPr txBox="1"/>
          <p:nvPr/>
        </p:nvSpPr>
        <p:spPr>
          <a:xfrm>
            <a:off x="6126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2 · WEDEROPBOUW 1945 – 1960</a:t>
            </a:r>
            <a:endParaRPr lang="nl-NL" sz="1200" dirty="0"/>
          </a:p>
        </p:txBody>
      </p:sp>
      <p:sp>
        <p:nvSpPr>
          <p:cNvPr id="5" name="!!title"/>
          <p:cNvSpPr txBox="1"/>
          <p:nvPr/>
        </p:nvSpPr>
        <p:spPr>
          <a:xfrm>
            <a:off x="6126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Wederopbouw</a:t>
            </a:r>
            <a:endParaRPr lang="nl-NL" sz="2600" dirty="0"/>
          </a:p>
        </p:txBody>
      </p:sp>
      <p:sp>
        <p:nvSpPr>
          <p:cNvPr id="6" name="s31_phase"/>
          <p:cNvSpPr txBox="1"/>
          <p:nvPr/>
        </p:nvSpPr>
        <p:spPr>
          <a:xfrm>
            <a:off x="612648" y="1527048"/>
            <a:ext cx="3639312" cy="685800"/>
          </a:xfrm>
          <a:prstGeom prst="roundRect">
            <a:avLst>
              <a:gd name="adj" fmla="val 10667"/>
            </a:avLst>
          </a:prstGeom>
          <a:solidFill>
            <a:srgbClr val="F28C38"/>
          </a:solidFill>
          <a:ln/>
        </p:spPr>
        <p:txBody>
          <a:bodyPr wrap="square" lIns="50800" tIns="127000" rIns="127000" bIns="50800" rtlCol="0" anchor="ctr"/>
          <a:lstStyle/>
          <a:p>
            <a:pPr marL="0" indent="0" algn="l">
              <a:buNone/>
            </a:pPr>
            <a:r>
              <a:rPr lang="nl-NL" sz="1700" b="1" dirty="0">
                <a:solidFill>
                  <a:srgbClr val="FFFFFF"/>
                </a:solidFill>
                <a:latin typeface="Calibri" pitchFamily="34" charset="0"/>
                <a:ea typeface="Calibri" pitchFamily="34" charset="-122"/>
                <a:cs typeface="Calibri" pitchFamily="34" charset="-120"/>
              </a:rPr>
              <a:t>Fase 4 · rond 1960: de consumptiemaatschappij komt op</a:t>
            </a:r>
            <a:endParaRPr lang="nl-NL" sz="1700" dirty="0"/>
          </a:p>
        </p:txBody>
      </p:sp>
      <p:sp>
        <p:nvSpPr>
          <p:cNvPr id="7" name="s31_bd0"/>
          <p:cNvSpPr/>
          <p:nvPr/>
        </p:nvSpPr>
        <p:spPr>
          <a:xfrm>
            <a:off x="612648" y="2537460"/>
            <a:ext cx="118872" cy="118872"/>
          </a:xfrm>
          <a:prstGeom prst="ellipse">
            <a:avLst/>
          </a:prstGeom>
          <a:solidFill>
            <a:srgbClr val="F28C38"/>
          </a:solidFill>
          <a:ln/>
        </p:spPr>
        <p:txBody>
          <a:bodyPr/>
          <a:lstStyle/>
          <a:p>
            <a:endParaRPr lang="nl-NL"/>
          </a:p>
        </p:txBody>
      </p:sp>
      <p:sp>
        <p:nvSpPr>
          <p:cNvPr id="8" name="s31_b0"/>
          <p:cNvSpPr txBox="1"/>
          <p:nvPr/>
        </p:nvSpPr>
        <p:spPr>
          <a:xfrm>
            <a:off x="886968" y="2441448"/>
            <a:ext cx="3364992" cy="32918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welvaart stijgt heel snel</a:t>
            </a:r>
            <a:endParaRPr lang="nl-NL" sz="1800" dirty="0"/>
          </a:p>
        </p:txBody>
      </p:sp>
      <p:sp>
        <p:nvSpPr>
          <p:cNvPr id="9" name="s31_bd1"/>
          <p:cNvSpPr/>
          <p:nvPr/>
        </p:nvSpPr>
        <p:spPr>
          <a:xfrm>
            <a:off x="612648" y="3049524"/>
            <a:ext cx="118872" cy="118872"/>
          </a:xfrm>
          <a:prstGeom prst="ellipse">
            <a:avLst/>
          </a:prstGeom>
          <a:solidFill>
            <a:srgbClr val="F28C38"/>
          </a:solidFill>
          <a:ln/>
        </p:spPr>
        <p:txBody>
          <a:bodyPr/>
          <a:lstStyle/>
          <a:p>
            <a:endParaRPr lang="nl-NL"/>
          </a:p>
        </p:txBody>
      </p:sp>
      <p:sp>
        <p:nvSpPr>
          <p:cNvPr id="10" name="s31_b1"/>
          <p:cNvSpPr txBox="1"/>
          <p:nvPr/>
        </p:nvSpPr>
        <p:spPr>
          <a:xfrm>
            <a:off x="886968" y="2953512"/>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Luxe zoals een tv, koelkast of auto wordt bereikbaar</a:t>
            </a:r>
            <a:endParaRPr lang="nl-NL" sz="1800" dirty="0"/>
          </a:p>
        </p:txBody>
      </p:sp>
      <p:sp>
        <p:nvSpPr>
          <p:cNvPr id="11" name="s31_bd2"/>
          <p:cNvSpPr/>
          <p:nvPr/>
        </p:nvSpPr>
        <p:spPr>
          <a:xfrm>
            <a:off x="612648" y="3835908"/>
            <a:ext cx="118872" cy="118872"/>
          </a:xfrm>
          <a:prstGeom prst="ellipse">
            <a:avLst/>
          </a:prstGeom>
          <a:solidFill>
            <a:srgbClr val="F28C38"/>
          </a:solidFill>
          <a:ln/>
        </p:spPr>
        <p:txBody>
          <a:bodyPr/>
          <a:lstStyle/>
          <a:p>
            <a:endParaRPr lang="nl-NL"/>
          </a:p>
        </p:txBody>
      </p:sp>
      <p:sp>
        <p:nvSpPr>
          <p:cNvPr id="12" name="s31_b2"/>
          <p:cNvSpPr txBox="1"/>
          <p:nvPr/>
        </p:nvSpPr>
        <p:spPr>
          <a:xfrm>
            <a:off x="886968" y="3739896"/>
            <a:ext cx="3364992" cy="32918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wederopbouw is klaar!</a:t>
            </a:r>
            <a:endParaRPr lang="nl-NL" sz="1800" dirty="0"/>
          </a:p>
        </p:txBody>
      </p:sp>
      <p:sp>
        <p:nvSpPr>
          <p:cNvPr id="13" name="!!ph_line"/>
          <p:cNvSpPr/>
          <p:nvPr/>
        </p:nvSpPr>
        <p:spPr>
          <a:xfrm>
            <a:off x="749808" y="5477256"/>
            <a:ext cx="2729484" cy="0"/>
          </a:xfrm>
          <a:prstGeom prst="line">
            <a:avLst/>
          </a:prstGeom>
          <a:noFill/>
          <a:ln w="25400">
            <a:solidFill>
              <a:srgbClr val="D3DAE2"/>
            </a:solidFill>
            <a:prstDash val="solid"/>
          </a:ln>
        </p:spPr>
        <p:txBody>
          <a:bodyPr/>
          <a:lstStyle/>
          <a:p>
            <a:endParaRPr lang="nl-NL"/>
          </a:p>
        </p:txBody>
      </p:sp>
      <p:sp>
        <p:nvSpPr>
          <p:cNvPr id="14" name="!!ph_d0"/>
          <p:cNvSpPr/>
          <p:nvPr/>
        </p:nvSpPr>
        <p:spPr>
          <a:xfrm>
            <a:off x="658368" y="5385816"/>
            <a:ext cx="182880" cy="182880"/>
          </a:xfrm>
          <a:prstGeom prst="ellipse">
            <a:avLst/>
          </a:prstGeom>
          <a:solidFill>
            <a:srgbClr val="2E8B74"/>
          </a:solidFill>
          <a:ln/>
        </p:spPr>
        <p:txBody>
          <a:bodyPr/>
          <a:lstStyle/>
          <a:p>
            <a:endParaRPr lang="nl-NL"/>
          </a:p>
        </p:txBody>
      </p:sp>
      <p:sp>
        <p:nvSpPr>
          <p:cNvPr id="15" name="!!ph_t0"/>
          <p:cNvSpPr txBox="1"/>
          <p:nvPr/>
        </p:nvSpPr>
        <p:spPr>
          <a:xfrm>
            <a:off x="292608"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1945</a:t>
            </a:r>
            <a:endParaRPr lang="nl-NL" sz="1000" dirty="0"/>
          </a:p>
        </p:txBody>
      </p:sp>
      <p:sp>
        <p:nvSpPr>
          <p:cNvPr id="16" name="!!ph_d1"/>
          <p:cNvSpPr/>
          <p:nvPr/>
        </p:nvSpPr>
        <p:spPr>
          <a:xfrm>
            <a:off x="1568196" y="5385816"/>
            <a:ext cx="182880" cy="182880"/>
          </a:xfrm>
          <a:prstGeom prst="ellipse">
            <a:avLst/>
          </a:prstGeom>
          <a:solidFill>
            <a:srgbClr val="2E8B74"/>
          </a:solidFill>
          <a:ln/>
        </p:spPr>
        <p:txBody>
          <a:bodyPr/>
          <a:lstStyle/>
          <a:p>
            <a:endParaRPr lang="nl-NL"/>
          </a:p>
        </p:txBody>
      </p:sp>
      <p:sp>
        <p:nvSpPr>
          <p:cNvPr id="17" name="!!ph_t1"/>
          <p:cNvSpPr txBox="1"/>
          <p:nvPr/>
        </p:nvSpPr>
        <p:spPr>
          <a:xfrm>
            <a:off x="1202436"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'48–'54</a:t>
            </a:r>
            <a:endParaRPr lang="nl-NL" sz="1000" dirty="0"/>
          </a:p>
        </p:txBody>
      </p:sp>
      <p:sp>
        <p:nvSpPr>
          <p:cNvPr id="18" name="!!ph_d2"/>
          <p:cNvSpPr/>
          <p:nvPr/>
        </p:nvSpPr>
        <p:spPr>
          <a:xfrm>
            <a:off x="2478024" y="5385816"/>
            <a:ext cx="182880" cy="182880"/>
          </a:xfrm>
          <a:prstGeom prst="ellipse">
            <a:avLst/>
          </a:prstGeom>
          <a:solidFill>
            <a:srgbClr val="2E8B74"/>
          </a:solidFill>
          <a:ln/>
        </p:spPr>
        <p:txBody>
          <a:bodyPr/>
          <a:lstStyle/>
          <a:p>
            <a:endParaRPr lang="nl-NL"/>
          </a:p>
        </p:txBody>
      </p:sp>
      <p:sp>
        <p:nvSpPr>
          <p:cNvPr id="19" name="!!ph_t2"/>
          <p:cNvSpPr txBox="1"/>
          <p:nvPr/>
        </p:nvSpPr>
        <p:spPr>
          <a:xfrm>
            <a:off x="2112264" y="5605272"/>
            <a:ext cx="914400" cy="228600"/>
          </a:xfrm>
          <a:prstGeom prst="rect">
            <a:avLst/>
          </a:prstGeom>
          <a:noFill/>
          <a:ln/>
        </p:spPr>
        <p:txBody>
          <a:bodyPr wrap="square" lIns="0" tIns="0" rIns="0" bIns="0" rtlCol="0" anchor="t"/>
          <a:lstStyle/>
          <a:p>
            <a:pPr marL="0" indent="0" algn="ctr">
              <a:buNone/>
            </a:pPr>
            <a:r>
              <a:rPr lang="nl-NL" sz="1000" dirty="0">
                <a:solidFill>
                  <a:srgbClr val="5B6B7B"/>
                </a:solidFill>
                <a:latin typeface="Calibri" pitchFamily="34" charset="0"/>
                <a:ea typeface="Calibri" pitchFamily="34" charset="-122"/>
                <a:cs typeface="Calibri" pitchFamily="34" charset="-120"/>
              </a:rPr>
              <a:t>'55–'60</a:t>
            </a:r>
            <a:endParaRPr lang="nl-NL" sz="1000" dirty="0"/>
          </a:p>
        </p:txBody>
      </p:sp>
      <p:sp>
        <p:nvSpPr>
          <p:cNvPr id="20" name="!!ph_d3"/>
          <p:cNvSpPr/>
          <p:nvPr/>
        </p:nvSpPr>
        <p:spPr>
          <a:xfrm>
            <a:off x="3387852" y="5385816"/>
            <a:ext cx="182880" cy="182880"/>
          </a:xfrm>
          <a:prstGeom prst="ellipse">
            <a:avLst/>
          </a:prstGeom>
          <a:solidFill>
            <a:srgbClr val="C9D1DA"/>
          </a:solidFill>
          <a:ln/>
        </p:spPr>
        <p:txBody>
          <a:bodyPr/>
          <a:lstStyle/>
          <a:p>
            <a:endParaRPr lang="nl-NL"/>
          </a:p>
        </p:txBody>
      </p:sp>
      <p:sp>
        <p:nvSpPr>
          <p:cNvPr id="21" name="!!ph_t3"/>
          <p:cNvSpPr txBox="1"/>
          <p:nvPr/>
        </p:nvSpPr>
        <p:spPr>
          <a:xfrm>
            <a:off x="3022092" y="5605272"/>
            <a:ext cx="914400" cy="228600"/>
          </a:xfrm>
          <a:prstGeom prst="rect">
            <a:avLst/>
          </a:prstGeom>
          <a:noFill/>
          <a:ln/>
        </p:spPr>
        <p:txBody>
          <a:bodyPr wrap="square" lIns="0" tIns="0" rIns="0" bIns="0" rtlCol="0" anchor="t"/>
          <a:lstStyle/>
          <a:p>
            <a:pPr marL="0" indent="0" algn="ctr">
              <a:buNone/>
            </a:pPr>
            <a:r>
              <a:rPr lang="nl-NL" sz="1000" b="1" dirty="0">
                <a:solidFill>
                  <a:srgbClr val="F28C38"/>
                </a:solidFill>
                <a:latin typeface="Calibri" pitchFamily="34" charset="0"/>
                <a:ea typeface="Calibri" pitchFamily="34" charset="-122"/>
                <a:cs typeface="Calibri" pitchFamily="34" charset="-120"/>
              </a:rPr>
              <a:t>± 1960</a:t>
            </a:r>
            <a:endParaRPr lang="nl-NL" sz="1000" dirty="0"/>
          </a:p>
        </p:txBody>
      </p:sp>
      <p:sp>
        <p:nvSpPr>
          <p:cNvPr id="22" name="!!ph_act"/>
          <p:cNvSpPr/>
          <p:nvPr/>
        </p:nvSpPr>
        <p:spPr>
          <a:xfrm>
            <a:off x="3332988" y="5330952"/>
            <a:ext cx="292608" cy="292608"/>
          </a:xfrm>
          <a:prstGeom prst="ellipse">
            <a:avLst/>
          </a:prstGeom>
          <a:solidFill>
            <a:srgbClr val="F28C38"/>
          </a:solidFill>
          <a:ln w="25400">
            <a:solidFill>
              <a:srgbClr val="FFFFFF"/>
            </a:solidFill>
            <a:prstDash val="solid"/>
          </a:ln>
        </p:spPr>
        <p:txBody>
          <a:bodyPr/>
          <a:lstStyle/>
          <a:p>
            <a:endParaRPr lang="nl-NL"/>
          </a:p>
        </p:txBody>
      </p:sp>
      <p:sp>
        <p:nvSpPr>
          <p:cNvPr id="23"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4"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5" name="!!rd_d1"/>
          <p:cNvSpPr/>
          <p:nvPr/>
        </p:nvSpPr>
        <p:spPr>
          <a:xfrm>
            <a:off x="2944368" y="6437376"/>
            <a:ext cx="128016" cy="128016"/>
          </a:xfrm>
          <a:prstGeom prst="ellipse">
            <a:avLst/>
          </a:prstGeom>
          <a:solidFill>
            <a:srgbClr val="1E2A3A"/>
          </a:solidFill>
          <a:ln/>
        </p:spPr>
        <p:txBody>
          <a:bodyPr/>
          <a:lstStyle/>
          <a:p>
            <a:endParaRPr lang="nl-NL"/>
          </a:p>
        </p:txBody>
      </p:sp>
      <p:sp>
        <p:nvSpPr>
          <p:cNvPr id="26"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7" name="!!rd_d2"/>
          <p:cNvSpPr/>
          <p:nvPr/>
        </p:nvSpPr>
        <p:spPr>
          <a:xfrm>
            <a:off x="4078224" y="6437376"/>
            <a:ext cx="128016" cy="128016"/>
          </a:xfrm>
          <a:prstGeom prst="ellipse">
            <a:avLst/>
          </a:prstGeom>
          <a:solidFill>
            <a:srgbClr val="C9D1DA"/>
          </a:solidFill>
          <a:ln/>
        </p:spPr>
        <p:txBody>
          <a:bodyPr/>
          <a:lstStyle/>
          <a:p>
            <a:endParaRPr lang="nl-NL"/>
          </a:p>
        </p:txBody>
      </p:sp>
      <p:sp>
        <p:nvSpPr>
          <p:cNvPr id="28"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b="1" dirty="0">
                <a:solidFill>
                  <a:srgbClr val="2E8B74"/>
                </a:solidFill>
                <a:latin typeface="Calibri" pitchFamily="34" charset="0"/>
                <a:ea typeface="Calibri" pitchFamily="34" charset="-122"/>
                <a:cs typeface="Calibri" pitchFamily="34" charset="-120"/>
              </a:rPr>
              <a:t>Wederopbouw</a:t>
            </a:r>
            <a:endParaRPr lang="nl-NL" sz="1000" dirty="0"/>
          </a:p>
        </p:txBody>
      </p:sp>
      <p:sp>
        <p:nvSpPr>
          <p:cNvPr id="29" name="!!rd_d3"/>
          <p:cNvSpPr/>
          <p:nvPr/>
        </p:nvSpPr>
        <p:spPr>
          <a:xfrm>
            <a:off x="5212080" y="6437376"/>
            <a:ext cx="128016" cy="128016"/>
          </a:xfrm>
          <a:prstGeom prst="ellipse">
            <a:avLst/>
          </a:prstGeom>
          <a:solidFill>
            <a:srgbClr val="C9D1DA"/>
          </a:solidFill>
          <a:ln/>
        </p:spPr>
        <p:txBody>
          <a:bodyPr/>
          <a:lstStyle/>
          <a:p>
            <a:endParaRPr lang="nl-NL"/>
          </a:p>
        </p:txBody>
      </p:sp>
      <p:sp>
        <p:nvSpPr>
          <p:cNvPr id="30"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1" name="!!rd_d4"/>
          <p:cNvSpPr/>
          <p:nvPr/>
        </p:nvSpPr>
        <p:spPr>
          <a:xfrm>
            <a:off x="6345936" y="6437376"/>
            <a:ext cx="128016" cy="128016"/>
          </a:xfrm>
          <a:prstGeom prst="ellipse">
            <a:avLst/>
          </a:prstGeom>
          <a:solidFill>
            <a:srgbClr val="C9D1DA"/>
          </a:solidFill>
          <a:ln/>
        </p:spPr>
        <p:txBody>
          <a:bodyPr/>
          <a:lstStyle/>
          <a:p>
            <a:endParaRPr lang="nl-NL"/>
          </a:p>
        </p:txBody>
      </p:sp>
      <p:sp>
        <p:nvSpPr>
          <p:cNvPr id="32"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3" name="!!rd_d5"/>
          <p:cNvSpPr/>
          <p:nvPr/>
        </p:nvSpPr>
        <p:spPr>
          <a:xfrm>
            <a:off x="7479792" y="6437376"/>
            <a:ext cx="128016" cy="128016"/>
          </a:xfrm>
          <a:prstGeom prst="ellipse">
            <a:avLst/>
          </a:prstGeom>
          <a:solidFill>
            <a:srgbClr val="C9D1DA"/>
          </a:solidFill>
          <a:ln/>
        </p:spPr>
        <p:txBody>
          <a:bodyPr/>
          <a:lstStyle/>
          <a:p>
            <a:endParaRPr lang="nl-NL"/>
          </a:p>
        </p:txBody>
      </p:sp>
      <p:sp>
        <p:nvSpPr>
          <p:cNvPr id="34"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5" name="!!rd_act"/>
          <p:cNvSpPr/>
          <p:nvPr/>
        </p:nvSpPr>
        <p:spPr>
          <a:xfrm>
            <a:off x="4032504" y="6391656"/>
            <a:ext cx="219456" cy="219456"/>
          </a:xfrm>
          <a:prstGeom prst="ellipse">
            <a:avLst/>
          </a:prstGeom>
          <a:solidFill>
            <a:srgbClr val="2E8B74"/>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50"/>
                                        <p:tgtEl>
                                          <p:spTgt spid="7"/>
                                        </p:tgtEl>
                                      </p:cBhvr>
                                    </p:animEffect>
                                    <p:anim calcmode="lin" valueType="num">
                                      <p:cBhvr additive="base">
                                        <p:cTn id="15"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16" dur="650" decel="100000" fill="hold"/>
                                        <p:tgtEl>
                                          <p:spTgt spid="7"/>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50"/>
                                        <p:tgtEl>
                                          <p:spTgt spid="9"/>
                                        </p:tgtEl>
                                      </p:cBhvr>
                                    </p:animEffect>
                                    <p:anim calcmode="lin" valueType="num">
                                      <p:cBhvr additive="base">
                                        <p:cTn id="27"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8" dur="650" decel="100000" fill="hold"/>
                                        <p:tgtEl>
                                          <p:spTgt spid="9"/>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anim calcmode="lin" valueType="num">
                                      <p:cBhvr additive="base">
                                        <p:cTn id="32"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40" dur="650" decel="100000" fill="hold"/>
                                        <p:tgtEl>
                                          <p:spTgt spid="11"/>
                                        </p:tgtEl>
                                        <p:attrNameLst>
                                          <p:attrName>ppt_y</p:attrName>
                                        </p:attrNameLst>
                                      </p:cBhvr>
                                      <p:tavLst>
                                        <p:tav tm="0">
                                          <p:val>
                                            <p:strVal val="#ppt_y+0.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50"/>
                                        <p:tgtEl>
                                          <p:spTgt spid="12"/>
                                        </p:tgtEl>
                                      </p:cBhvr>
                                    </p:animEffect>
                                    <p:anim calcmode="lin" valueType="num">
                                      <p:cBhvr additive="base">
                                        <p:cTn id="44"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OVERZICHT · HOOFDSTUK 4</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a:t>
            </a:r>
            <a:endParaRPr lang="nl-NL" sz="3400" dirty="0"/>
          </a:p>
        </p:txBody>
      </p:sp>
      <p:sp>
        <p:nvSpPr>
          <p:cNvPr id="4" name="!!hv"/>
          <p:cNvSpPr txBox="1"/>
          <p:nvPr/>
        </p:nvSpPr>
        <p:spPr>
          <a:xfrm>
            <a:off x="566928" y="1024128"/>
            <a:ext cx="10058400" cy="365760"/>
          </a:xfrm>
          <a:prstGeom prst="rect">
            <a:avLst/>
          </a:prstGeom>
          <a:noFill/>
          <a:ln/>
        </p:spPr>
        <p:txBody>
          <a:bodyPr wrap="square" lIns="0" tIns="0" rIns="0" bIns="0" rtlCol="0" anchor="t"/>
          <a:lstStyle/>
          <a:p>
            <a:pPr marL="0" indent="0" algn="l">
              <a:buNone/>
            </a:pPr>
            <a:r>
              <a:rPr lang="nl-NL" sz="1900" b="1" dirty="0">
                <a:solidFill>
                  <a:srgbClr val="F28C38"/>
                </a:solidFill>
                <a:latin typeface="Calibri" pitchFamily="34" charset="0"/>
                <a:ea typeface="Calibri" pitchFamily="34" charset="-122"/>
                <a:cs typeface="Calibri" pitchFamily="34" charset="-120"/>
              </a:rPr>
              <a:t>Hoofdvraag: </a:t>
            </a:r>
            <a:r>
              <a:rPr lang="nl-NL" sz="1900" dirty="0">
                <a:solidFill>
                  <a:srgbClr val="5B6B7B"/>
                </a:solidFill>
                <a:latin typeface="Calibri" pitchFamily="34" charset="0"/>
                <a:ea typeface="Calibri" pitchFamily="34" charset="-122"/>
                <a:cs typeface="Calibri" pitchFamily="34" charset="-120"/>
              </a:rPr>
              <a:t>Hoe ontwikkelde de Nederlandse economie zich na de jaren dertig?</a:t>
            </a:r>
            <a:endParaRPr lang="nl-NL" sz="1900" dirty="0"/>
          </a:p>
        </p:txBody>
      </p:sp>
      <p:sp>
        <p:nvSpPr>
          <p:cNvPr id="5" name="!!seg0"/>
          <p:cNvSpPr/>
          <p:nvPr/>
        </p:nvSpPr>
        <p:spPr>
          <a:xfrm>
            <a:off x="1572768" y="2788920"/>
            <a:ext cx="2267712" cy="1737360"/>
          </a:xfrm>
          <a:prstGeom prst="line">
            <a:avLst/>
          </a:prstGeom>
          <a:noFill/>
          <a:ln w="38100">
            <a:solidFill>
              <a:srgbClr val="F28C38"/>
            </a:solidFill>
            <a:prstDash val="dash"/>
          </a:ln>
        </p:spPr>
        <p:txBody>
          <a:bodyPr/>
          <a:lstStyle/>
          <a:p>
            <a:endParaRPr lang="nl-NL"/>
          </a:p>
        </p:txBody>
      </p:sp>
      <p:sp>
        <p:nvSpPr>
          <p:cNvPr id="6" name="!!seg1"/>
          <p:cNvSpPr/>
          <p:nvPr/>
        </p:nvSpPr>
        <p:spPr>
          <a:xfrm flipV="1">
            <a:off x="3840480" y="2788920"/>
            <a:ext cx="2258568" cy="1737360"/>
          </a:xfrm>
          <a:prstGeom prst="line">
            <a:avLst/>
          </a:prstGeom>
          <a:noFill/>
          <a:ln w="38100">
            <a:solidFill>
              <a:srgbClr val="F28C38"/>
            </a:solidFill>
            <a:prstDash val="dash"/>
          </a:ln>
        </p:spPr>
        <p:txBody>
          <a:bodyPr/>
          <a:lstStyle/>
          <a:p>
            <a:endParaRPr lang="nl-NL"/>
          </a:p>
        </p:txBody>
      </p:sp>
      <p:sp>
        <p:nvSpPr>
          <p:cNvPr id="7" name="!!seg2"/>
          <p:cNvSpPr/>
          <p:nvPr/>
        </p:nvSpPr>
        <p:spPr>
          <a:xfrm>
            <a:off x="6099048" y="2788920"/>
            <a:ext cx="2258568" cy="1737360"/>
          </a:xfrm>
          <a:prstGeom prst="line">
            <a:avLst/>
          </a:prstGeom>
          <a:noFill/>
          <a:ln w="38100">
            <a:solidFill>
              <a:srgbClr val="F28C38"/>
            </a:solidFill>
            <a:prstDash val="dash"/>
          </a:ln>
        </p:spPr>
        <p:txBody>
          <a:bodyPr/>
          <a:lstStyle/>
          <a:p>
            <a:endParaRPr lang="nl-NL"/>
          </a:p>
        </p:txBody>
      </p:sp>
      <p:sp>
        <p:nvSpPr>
          <p:cNvPr id="8" name="!!seg3"/>
          <p:cNvSpPr/>
          <p:nvPr/>
        </p:nvSpPr>
        <p:spPr>
          <a:xfrm flipV="1">
            <a:off x="8357616" y="2788920"/>
            <a:ext cx="2258568" cy="1737360"/>
          </a:xfrm>
          <a:prstGeom prst="line">
            <a:avLst/>
          </a:prstGeom>
          <a:noFill/>
          <a:ln w="38100">
            <a:solidFill>
              <a:srgbClr val="F28C38"/>
            </a:solidFill>
            <a:prstDash val="dash"/>
          </a:ln>
        </p:spPr>
        <p:txBody>
          <a:bodyPr/>
          <a:lstStyle/>
          <a:p>
            <a:endParaRPr lang="nl-NL"/>
          </a:p>
        </p:txBody>
      </p:sp>
      <p:sp>
        <p:nvSpPr>
          <p:cNvPr id="9" name="!!tframe1"/>
          <p:cNvSpPr/>
          <p:nvPr/>
        </p:nvSpPr>
        <p:spPr>
          <a:xfrm>
            <a:off x="466344" y="2147139"/>
            <a:ext cx="2212848" cy="1283562"/>
          </a:xfrm>
          <a:prstGeom prst="roundRect">
            <a:avLst>
              <a:gd name="adj" fmla="val 427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0" name="!!tile1" descr="info_oorlog">
            <a:hlinkClick r:id="rId3" action="ppaction://hlinksldjump" tooltip="Ga naar Oorlog"/>
          </p:cNvPr>
          <p:cNvPicPr>
            <a:picLocks noChangeAspect="1"/>
          </p:cNvPicPr>
          <p:nvPr/>
        </p:nvPicPr>
        <p:blipFill>
          <a:blip r:embed="rId4"/>
          <a:stretch>
            <a:fillRect/>
          </a:stretch>
        </p:blipFill>
        <p:spPr>
          <a:xfrm>
            <a:off x="521208" y="2202003"/>
            <a:ext cx="2103120" cy="1173834"/>
          </a:xfrm>
          <a:prstGeom prst="rect">
            <a:avLst/>
          </a:prstGeom>
        </p:spPr>
      </p:pic>
      <p:sp>
        <p:nvSpPr>
          <p:cNvPr id="11" name="!!tnum1"/>
          <p:cNvSpPr/>
          <p:nvPr/>
        </p:nvSpPr>
        <p:spPr>
          <a:xfrm>
            <a:off x="521208" y="1497915"/>
            <a:ext cx="384048" cy="384048"/>
          </a:xfrm>
          <a:prstGeom prst="ellipse">
            <a:avLst/>
          </a:prstGeom>
          <a:solidFill>
            <a:srgbClr val="5B6B82"/>
          </a:solidFill>
          <a:ln/>
        </p:spPr>
        <p:txBody>
          <a:bodyPr/>
          <a:lstStyle/>
          <a:p>
            <a:endParaRPr lang="nl-NL"/>
          </a:p>
        </p:txBody>
      </p:sp>
      <p:sp>
        <p:nvSpPr>
          <p:cNvPr id="12" name="!!tnumt1"/>
          <p:cNvSpPr txBox="1"/>
          <p:nvPr/>
        </p:nvSpPr>
        <p:spPr>
          <a:xfrm>
            <a:off x="521208" y="1497915"/>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1</a:t>
            </a:r>
            <a:endParaRPr lang="nl-NL" sz="1600" dirty="0"/>
          </a:p>
        </p:txBody>
      </p:sp>
      <p:sp>
        <p:nvSpPr>
          <p:cNvPr id="13" name="!!tlbl1"/>
          <p:cNvSpPr txBox="1"/>
          <p:nvPr/>
        </p:nvSpPr>
        <p:spPr>
          <a:xfrm>
            <a:off x="996696" y="1452195"/>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Oorlog</a:t>
            </a:r>
            <a:endParaRPr lang="nl-NL" sz="1700" dirty="0"/>
          </a:p>
        </p:txBody>
      </p:sp>
      <p:sp>
        <p:nvSpPr>
          <p:cNvPr id="14" name="!!tyr1"/>
          <p:cNvSpPr txBox="1"/>
          <p:nvPr/>
        </p:nvSpPr>
        <p:spPr>
          <a:xfrm>
            <a:off x="996696" y="1726515"/>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15" name="!!chk1"/>
          <p:cNvSpPr/>
          <p:nvPr/>
        </p:nvSpPr>
        <p:spPr>
          <a:xfrm>
            <a:off x="2350008" y="2000835"/>
            <a:ext cx="457200" cy="457200"/>
          </a:xfrm>
          <a:prstGeom prst="ellipse">
            <a:avLst/>
          </a:prstGeom>
          <a:solidFill>
            <a:srgbClr val="2E8B74"/>
          </a:solidFill>
          <a:ln w="31750">
            <a:solidFill>
              <a:srgbClr val="FFFFFF"/>
            </a:solidFill>
            <a:prstDash val="solid"/>
          </a:ln>
        </p:spPr>
        <p:txBody>
          <a:bodyPr/>
          <a:lstStyle/>
          <a:p>
            <a:endParaRPr lang="nl-NL"/>
          </a:p>
        </p:txBody>
      </p:sp>
      <p:pic>
        <p:nvPicPr>
          <p:cNvPr id="16" name="!!chki1" descr="check_w"/>
          <p:cNvPicPr>
            <a:picLocks noChangeAspect="1"/>
          </p:cNvPicPr>
          <p:nvPr/>
        </p:nvPicPr>
        <p:blipFill>
          <a:blip r:embed="rId5"/>
          <a:stretch>
            <a:fillRect/>
          </a:stretch>
        </p:blipFill>
        <p:spPr>
          <a:xfrm>
            <a:off x="2459736" y="2110563"/>
            <a:ext cx="237744" cy="237744"/>
          </a:xfrm>
          <a:prstGeom prst="rect">
            <a:avLst/>
          </a:prstGeom>
        </p:spPr>
      </p:pic>
      <p:sp>
        <p:nvSpPr>
          <p:cNvPr id="17" name="!!tframe2"/>
          <p:cNvSpPr/>
          <p:nvPr/>
        </p:nvSpPr>
        <p:spPr>
          <a:xfrm>
            <a:off x="2734056"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8" name="!!tile2" descr="rotterdam_169">
            <a:hlinkClick r:id="rId6" action="ppaction://hlinksldjump" tooltip="Ga naar Wederopbouw"/>
          </p:cNvPr>
          <p:cNvPicPr>
            <a:picLocks noChangeAspect="1"/>
          </p:cNvPicPr>
          <p:nvPr/>
        </p:nvPicPr>
        <p:blipFill>
          <a:blip r:embed="rId7"/>
          <a:stretch>
            <a:fillRect/>
          </a:stretch>
        </p:blipFill>
        <p:spPr>
          <a:xfrm>
            <a:off x="2788920" y="3934778"/>
            <a:ext cx="2103120" cy="1183005"/>
          </a:xfrm>
          <a:prstGeom prst="rect">
            <a:avLst/>
          </a:prstGeom>
        </p:spPr>
      </p:pic>
      <p:sp>
        <p:nvSpPr>
          <p:cNvPr id="19" name="!!tnum2"/>
          <p:cNvSpPr/>
          <p:nvPr/>
        </p:nvSpPr>
        <p:spPr>
          <a:xfrm>
            <a:off x="2788920" y="5318951"/>
            <a:ext cx="384048" cy="384048"/>
          </a:xfrm>
          <a:prstGeom prst="ellipse">
            <a:avLst/>
          </a:prstGeom>
          <a:solidFill>
            <a:srgbClr val="2E8B74"/>
          </a:solidFill>
          <a:ln/>
        </p:spPr>
        <p:txBody>
          <a:bodyPr/>
          <a:lstStyle/>
          <a:p>
            <a:endParaRPr lang="nl-NL"/>
          </a:p>
        </p:txBody>
      </p:sp>
      <p:sp>
        <p:nvSpPr>
          <p:cNvPr id="20" name="!!tnumt2"/>
          <p:cNvSpPr txBox="1"/>
          <p:nvPr/>
        </p:nvSpPr>
        <p:spPr>
          <a:xfrm>
            <a:off x="2788920"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2</a:t>
            </a:r>
            <a:endParaRPr lang="nl-NL" sz="1600" dirty="0"/>
          </a:p>
        </p:txBody>
      </p:sp>
      <p:sp>
        <p:nvSpPr>
          <p:cNvPr id="21" name="!!tlbl2"/>
          <p:cNvSpPr txBox="1"/>
          <p:nvPr/>
        </p:nvSpPr>
        <p:spPr>
          <a:xfrm>
            <a:off x="3264408"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Wederopbouw</a:t>
            </a:r>
            <a:endParaRPr lang="nl-NL" sz="1700" dirty="0"/>
          </a:p>
        </p:txBody>
      </p:sp>
      <p:sp>
        <p:nvSpPr>
          <p:cNvPr id="22" name="!!tyr2"/>
          <p:cNvSpPr txBox="1"/>
          <p:nvPr/>
        </p:nvSpPr>
        <p:spPr>
          <a:xfrm>
            <a:off x="3264408"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23" name="!!chk2"/>
          <p:cNvSpPr/>
          <p:nvPr/>
        </p:nvSpPr>
        <p:spPr>
          <a:xfrm>
            <a:off x="4617720" y="3733610"/>
            <a:ext cx="457200" cy="457200"/>
          </a:xfrm>
          <a:prstGeom prst="ellipse">
            <a:avLst/>
          </a:prstGeom>
          <a:solidFill>
            <a:srgbClr val="2E8B74"/>
          </a:solidFill>
          <a:ln w="31750">
            <a:solidFill>
              <a:srgbClr val="FFFFFF"/>
            </a:solidFill>
            <a:prstDash val="solid"/>
          </a:ln>
        </p:spPr>
        <p:txBody>
          <a:bodyPr/>
          <a:lstStyle/>
          <a:p>
            <a:endParaRPr lang="nl-NL"/>
          </a:p>
        </p:txBody>
      </p:sp>
      <p:pic>
        <p:nvPicPr>
          <p:cNvPr id="24" name="!!chki2" descr="check_w"/>
          <p:cNvPicPr>
            <a:picLocks noChangeAspect="1"/>
          </p:cNvPicPr>
          <p:nvPr/>
        </p:nvPicPr>
        <p:blipFill>
          <a:blip r:embed="rId5"/>
          <a:stretch>
            <a:fillRect/>
          </a:stretch>
        </p:blipFill>
        <p:spPr>
          <a:xfrm>
            <a:off x="4727448" y="3843338"/>
            <a:ext cx="237744" cy="237744"/>
          </a:xfrm>
          <a:prstGeom prst="rect">
            <a:avLst/>
          </a:prstGeom>
        </p:spPr>
      </p:pic>
      <p:sp>
        <p:nvSpPr>
          <p:cNvPr id="25" name="!!tframe3"/>
          <p:cNvSpPr/>
          <p:nvPr/>
        </p:nvSpPr>
        <p:spPr>
          <a:xfrm>
            <a:off x="4992624"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6" name="!!tile3" descr="woonkamer_169">
            <a:hlinkClick r:id="rId8" action="ppaction://hlinksldjump" tooltip="Ga naar Welvaart"/>
          </p:cNvPr>
          <p:cNvPicPr>
            <a:picLocks noChangeAspect="1"/>
          </p:cNvPicPr>
          <p:nvPr/>
        </p:nvPicPr>
        <p:blipFill>
          <a:blip r:embed="rId9"/>
          <a:stretch>
            <a:fillRect/>
          </a:stretch>
        </p:blipFill>
        <p:spPr>
          <a:xfrm>
            <a:off x="5047488" y="2197417"/>
            <a:ext cx="2103120" cy="1183005"/>
          </a:xfrm>
          <a:prstGeom prst="rect">
            <a:avLst/>
          </a:prstGeom>
        </p:spPr>
      </p:pic>
      <p:sp>
        <p:nvSpPr>
          <p:cNvPr id="27" name="!!tnum3"/>
          <p:cNvSpPr/>
          <p:nvPr/>
        </p:nvSpPr>
        <p:spPr>
          <a:xfrm>
            <a:off x="5047488" y="1493330"/>
            <a:ext cx="384048" cy="384048"/>
          </a:xfrm>
          <a:prstGeom prst="ellipse">
            <a:avLst/>
          </a:prstGeom>
          <a:solidFill>
            <a:srgbClr val="E07A3F"/>
          </a:solidFill>
          <a:ln/>
        </p:spPr>
        <p:txBody>
          <a:bodyPr/>
          <a:lstStyle/>
          <a:p>
            <a:endParaRPr lang="nl-NL"/>
          </a:p>
        </p:txBody>
      </p:sp>
      <p:sp>
        <p:nvSpPr>
          <p:cNvPr id="28" name="!!tnumt3"/>
          <p:cNvSpPr txBox="1"/>
          <p:nvPr/>
        </p:nvSpPr>
        <p:spPr>
          <a:xfrm>
            <a:off x="5047488"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3</a:t>
            </a:r>
            <a:endParaRPr lang="nl-NL" sz="1600" dirty="0"/>
          </a:p>
        </p:txBody>
      </p:sp>
      <p:sp>
        <p:nvSpPr>
          <p:cNvPr id="29" name="!!tlbl3"/>
          <p:cNvSpPr txBox="1"/>
          <p:nvPr/>
        </p:nvSpPr>
        <p:spPr>
          <a:xfrm>
            <a:off x="5522976"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Welvaart</a:t>
            </a:r>
            <a:endParaRPr lang="nl-NL" sz="1700" dirty="0"/>
          </a:p>
        </p:txBody>
      </p:sp>
      <p:sp>
        <p:nvSpPr>
          <p:cNvPr id="30" name="!!tyr3"/>
          <p:cNvSpPr txBox="1"/>
          <p:nvPr/>
        </p:nvSpPr>
        <p:spPr>
          <a:xfrm>
            <a:off x="5522976"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31" name="!!tframe4"/>
          <p:cNvSpPr/>
          <p:nvPr/>
        </p:nvSpPr>
        <p:spPr>
          <a:xfrm>
            <a:off x="7251192"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2" name="!!tile4" descr="robots_169">
            <a:hlinkClick r:id="rId10" action="ppaction://hlinksldjump" tooltip="Ga naar Crisis"/>
          </p:cNvPr>
          <p:cNvPicPr>
            <a:picLocks noChangeAspect="1"/>
          </p:cNvPicPr>
          <p:nvPr/>
        </p:nvPicPr>
        <p:blipFill>
          <a:blip r:embed="rId11"/>
          <a:stretch>
            <a:fillRect/>
          </a:stretch>
        </p:blipFill>
        <p:spPr>
          <a:xfrm>
            <a:off x="7306056" y="3934778"/>
            <a:ext cx="2103120" cy="1183005"/>
          </a:xfrm>
          <a:prstGeom prst="rect">
            <a:avLst/>
          </a:prstGeom>
        </p:spPr>
      </p:pic>
      <p:sp>
        <p:nvSpPr>
          <p:cNvPr id="33" name="!!tnum4"/>
          <p:cNvSpPr/>
          <p:nvPr/>
        </p:nvSpPr>
        <p:spPr>
          <a:xfrm>
            <a:off x="7306056" y="5318951"/>
            <a:ext cx="384048" cy="384048"/>
          </a:xfrm>
          <a:prstGeom prst="ellipse">
            <a:avLst/>
          </a:prstGeom>
          <a:solidFill>
            <a:srgbClr val="8A5A83"/>
          </a:solidFill>
          <a:ln/>
        </p:spPr>
        <p:txBody>
          <a:bodyPr/>
          <a:lstStyle/>
          <a:p>
            <a:endParaRPr lang="nl-NL"/>
          </a:p>
        </p:txBody>
      </p:sp>
      <p:sp>
        <p:nvSpPr>
          <p:cNvPr id="34" name="!!tnumt4"/>
          <p:cNvSpPr txBox="1"/>
          <p:nvPr/>
        </p:nvSpPr>
        <p:spPr>
          <a:xfrm>
            <a:off x="7306056"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4</a:t>
            </a:r>
            <a:endParaRPr lang="nl-NL" sz="1600" dirty="0"/>
          </a:p>
        </p:txBody>
      </p:sp>
      <p:sp>
        <p:nvSpPr>
          <p:cNvPr id="35" name="!!tlbl4"/>
          <p:cNvSpPr txBox="1"/>
          <p:nvPr/>
        </p:nvSpPr>
        <p:spPr>
          <a:xfrm>
            <a:off x="7781544"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Crisis</a:t>
            </a:r>
            <a:endParaRPr lang="nl-NL" sz="1700" dirty="0"/>
          </a:p>
        </p:txBody>
      </p:sp>
      <p:sp>
        <p:nvSpPr>
          <p:cNvPr id="36" name="!!tyr4"/>
          <p:cNvSpPr txBox="1"/>
          <p:nvPr/>
        </p:nvSpPr>
        <p:spPr>
          <a:xfrm>
            <a:off x="7781544"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37" name="!!tframe5"/>
          <p:cNvSpPr/>
          <p:nvPr/>
        </p:nvSpPr>
        <p:spPr>
          <a:xfrm>
            <a:off x="9509760"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8" name="!!tile5" descr="haven_169">
            <a:hlinkClick r:id="rId12" action="ppaction://hlinksldjump" tooltip="Ga naar Nederland nu"/>
          </p:cNvPr>
          <p:cNvPicPr>
            <a:picLocks noChangeAspect="1"/>
          </p:cNvPicPr>
          <p:nvPr/>
        </p:nvPicPr>
        <p:blipFill>
          <a:blip r:embed="rId13"/>
          <a:stretch>
            <a:fillRect/>
          </a:stretch>
        </p:blipFill>
        <p:spPr>
          <a:xfrm>
            <a:off x="9564624" y="2197417"/>
            <a:ext cx="2103120" cy="1183005"/>
          </a:xfrm>
          <a:prstGeom prst="rect">
            <a:avLst/>
          </a:prstGeom>
        </p:spPr>
      </p:pic>
      <p:sp>
        <p:nvSpPr>
          <p:cNvPr id="39" name="!!tnum5"/>
          <p:cNvSpPr/>
          <p:nvPr/>
        </p:nvSpPr>
        <p:spPr>
          <a:xfrm>
            <a:off x="9564624" y="1493330"/>
            <a:ext cx="384048" cy="384048"/>
          </a:xfrm>
          <a:prstGeom prst="ellipse">
            <a:avLst/>
          </a:prstGeom>
          <a:solidFill>
            <a:srgbClr val="2F7BB5"/>
          </a:solidFill>
          <a:ln/>
        </p:spPr>
        <p:txBody>
          <a:bodyPr/>
          <a:lstStyle/>
          <a:p>
            <a:endParaRPr lang="nl-NL"/>
          </a:p>
        </p:txBody>
      </p:sp>
      <p:sp>
        <p:nvSpPr>
          <p:cNvPr id="40" name="!!tnumt5"/>
          <p:cNvSpPr txBox="1"/>
          <p:nvPr/>
        </p:nvSpPr>
        <p:spPr>
          <a:xfrm>
            <a:off x="9564624"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5</a:t>
            </a:r>
            <a:endParaRPr lang="nl-NL" sz="1600" dirty="0"/>
          </a:p>
        </p:txBody>
      </p:sp>
      <p:sp>
        <p:nvSpPr>
          <p:cNvPr id="41" name="!!tlbl5"/>
          <p:cNvSpPr txBox="1"/>
          <p:nvPr/>
        </p:nvSpPr>
        <p:spPr>
          <a:xfrm>
            <a:off x="10040112"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Nederland nu</a:t>
            </a:r>
            <a:endParaRPr lang="nl-NL" sz="1700" dirty="0"/>
          </a:p>
        </p:txBody>
      </p:sp>
      <p:sp>
        <p:nvSpPr>
          <p:cNvPr id="42" name="!!tyr5"/>
          <p:cNvSpPr txBox="1"/>
          <p:nvPr/>
        </p:nvSpPr>
        <p:spPr>
          <a:xfrm>
            <a:off x="10040112"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
        <p:nvSpPr>
          <p:cNvPr id="43" name="s32_next"/>
          <p:cNvSpPr/>
          <p:nvPr/>
        </p:nvSpPr>
        <p:spPr>
          <a:xfrm>
            <a:off x="4901184" y="2051113"/>
            <a:ext cx="2395728" cy="1475613"/>
          </a:xfrm>
          <a:prstGeom prst="roundRect">
            <a:avLst>
              <a:gd name="adj" fmla="val 4957"/>
            </a:avLst>
          </a:prstGeom>
          <a:ln w="50800">
            <a:solidFill>
              <a:srgbClr val="F28C38"/>
            </a:solidFill>
            <a:prstDash val="solid"/>
          </a:ln>
        </p:spPr>
        <p:txBody>
          <a:bodyPr/>
          <a:lstStyle/>
          <a:p>
            <a:endParaRPr lang="nl-NL"/>
          </a:p>
        </p:txBody>
      </p:sp>
      <p:sp>
        <p:nvSpPr>
          <p:cNvPr id="44" name="s32_nextchip"/>
          <p:cNvSpPr txBox="1"/>
          <p:nvPr/>
        </p:nvSpPr>
        <p:spPr>
          <a:xfrm>
            <a:off x="5532120" y="3618167"/>
            <a:ext cx="1003808"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VOLGENDE</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50" fill="hold"/>
                                        <p:tgtEl>
                                          <p:spTgt spid="2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2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23"/>
                                        </p:tgtEl>
                                      </p:cBhvr>
                                    </p:animEffect>
                                  </p:childTnLst>
                                </p:cTn>
                              </p:par>
                              <p:par>
                                <p:cTn id="10" presetID="53" presetClass="entr" presetSubtype="16"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50" fill="hold"/>
                                        <p:tgtEl>
                                          <p:spTgt spid="2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2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50" fill="hold"/>
                                        <p:tgtEl>
                                          <p:spTgt spid="4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4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4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 calcmode="lin" valueType="num">
                                      <p:cBhvr additive="base">
                                        <p:cTn id="24" dur="550" fill="hold"/>
                                        <p:tgtEl>
                                          <p:spTgt spid="4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4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43" grpId="0" animBg="1"/>
      <p:bldP spid="4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tile3" descr="woonkamer_169"/>
          <p:cNvPicPr>
            <a:picLocks noChangeAspect="1"/>
          </p:cNvPicPr>
          <p:nvPr/>
        </p:nvPicPr>
        <p:blipFill>
          <a:blip r:embed="rId3"/>
          <a:stretch>
            <a:fillRect/>
          </a:stretch>
        </p:blipFill>
        <p:spPr>
          <a:xfrm>
            <a:off x="0" y="0"/>
            <a:ext cx="12191695" cy="6858000"/>
          </a:xfrm>
          <a:prstGeom prst="rect">
            <a:avLst/>
          </a:prstGeom>
        </p:spPr>
      </p:pic>
      <p:sp>
        <p:nvSpPr>
          <p:cNvPr id="3" name="s33_ai"/>
          <p:cNvSpPr txBox="1"/>
          <p:nvPr/>
        </p:nvSpPr>
        <p:spPr>
          <a:xfrm>
            <a:off x="274320" y="6473952"/>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
        <p:nvSpPr>
          <p:cNvPr id="4"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E07A3F"/>
                </a:solidFill>
                <a:latin typeface="Calibri" pitchFamily="34" charset="0"/>
                <a:ea typeface="Calibri" pitchFamily="34" charset="-122"/>
                <a:cs typeface="Calibri" pitchFamily="34" charset="-120"/>
              </a:rPr>
              <a:t>3 · WELVAART · JAREN 60</a:t>
            </a:r>
            <a:endParaRPr lang="nl-NL" sz="1200" dirty="0"/>
          </a:p>
        </p:txBody>
      </p:sp>
      <p:sp>
        <p:nvSpPr>
          <p:cNvPr id="6"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400" b="1" dirty="0">
                <a:solidFill>
                  <a:srgbClr val="1E2A3A"/>
                </a:solidFill>
                <a:latin typeface="Calibri" pitchFamily="34" charset="0"/>
                <a:ea typeface="Calibri" pitchFamily="34" charset="-122"/>
                <a:cs typeface="Calibri" pitchFamily="34" charset="-120"/>
              </a:rPr>
              <a:t>De consumptiemaatschappij</a:t>
            </a:r>
            <a:endParaRPr lang="nl-NL" sz="2400" dirty="0"/>
          </a:p>
        </p:txBody>
      </p:sp>
      <p:sp>
        <p:nvSpPr>
          <p:cNvPr id="7" name="s33_bd0"/>
          <p:cNvSpPr/>
          <p:nvPr/>
        </p:nvSpPr>
        <p:spPr>
          <a:xfrm>
            <a:off x="7927848" y="1668780"/>
            <a:ext cx="118872" cy="118872"/>
          </a:xfrm>
          <a:prstGeom prst="ellipse">
            <a:avLst/>
          </a:prstGeom>
          <a:solidFill>
            <a:srgbClr val="F28C38"/>
          </a:solidFill>
          <a:ln/>
        </p:spPr>
        <p:txBody>
          <a:bodyPr/>
          <a:lstStyle/>
          <a:p>
            <a:endParaRPr lang="nl-NL"/>
          </a:p>
        </p:txBody>
      </p:sp>
      <p:sp>
        <p:nvSpPr>
          <p:cNvPr id="8" name="s33_b0"/>
          <p:cNvSpPr txBox="1"/>
          <p:nvPr/>
        </p:nvSpPr>
        <p:spPr>
          <a:xfrm>
            <a:off x="8202168" y="157276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Jaren 60: het gaat geweldig met de economie</a:t>
            </a:r>
            <a:endParaRPr lang="nl-NL" sz="1800" dirty="0"/>
          </a:p>
        </p:txBody>
      </p:sp>
      <p:sp>
        <p:nvSpPr>
          <p:cNvPr id="9" name="s33_bd1"/>
          <p:cNvSpPr/>
          <p:nvPr/>
        </p:nvSpPr>
        <p:spPr>
          <a:xfrm>
            <a:off x="7927848" y="2400300"/>
            <a:ext cx="118872" cy="118872"/>
          </a:xfrm>
          <a:prstGeom prst="ellipse">
            <a:avLst/>
          </a:prstGeom>
          <a:solidFill>
            <a:srgbClr val="F28C38"/>
          </a:solidFill>
          <a:ln/>
        </p:spPr>
        <p:txBody>
          <a:bodyPr/>
          <a:lstStyle/>
          <a:p>
            <a:endParaRPr lang="nl-NL"/>
          </a:p>
        </p:txBody>
      </p:sp>
      <p:sp>
        <p:nvSpPr>
          <p:cNvPr id="10" name="s33_b1"/>
          <p:cNvSpPr txBox="1"/>
          <p:nvPr/>
        </p:nvSpPr>
        <p:spPr>
          <a:xfrm>
            <a:off x="8202168" y="230428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Vanaf 1963 stijgen de lonen snel</a:t>
            </a:r>
            <a:endParaRPr lang="nl-NL" sz="1800" dirty="0"/>
          </a:p>
        </p:txBody>
      </p:sp>
      <p:sp>
        <p:nvSpPr>
          <p:cNvPr id="11" name="s33_bd2"/>
          <p:cNvSpPr/>
          <p:nvPr/>
        </p:nvSpPr>
        <p:spPr>
          <a:xfrm>
            <a:off x="7927848" y="3131820"/>
            <a:ext cx="118872" cy="118872"/>
          </a:xfrm>
          <a:prstGeom prst="ellipse">
            <a:avLst/>
          </a:prstGeom>
          <a:solidFill>
            <a:srgbClr val="F28C38"/>
          </a:solidFill>
          <a:ln/>
        </p:spPr>
        <p:txBody>
          <a:bodyPr/>
          <a:lstStyle/>
          <a:p>
            <a:endParaRPr lang="nl-NL"/>
          </a:p>
        </p:txBody>
      </p:sp>
      <p:sp>
        <p:nvSpPr>
          <p:cNvPr id="12" name="s33_b2"/>
          <p:cNvSpPr txBox="1"/>
          <p:nvPr/>
        </p:nvSpPr>
        <p:spPr>
          <a:xfrm>
            <a:off x="8202168" y="3035808"/>
            <a:ext cx="3364992" cy="32918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De geleide loonpolitiek stopt</a:t>
            </a:r>
            <a:endParaRPr lang="nl-NL" sz="1800" dirty="0"/>
          </a:p>
        </p:txBody>
      </p:sp>
      <p:sp>
        <p:nvSpPr>
          <p:cNvPr id="13" name="s33_bd3"/>
          <p:cNvSpPr/>
          <p:nvPr/>
        </p:nvSpPr>
        <p:spPr>
          <a:xfrm>
            <a:off x="7927848" y="3589020"/>
            <a:ext cx="118872" cy="118872"/>
          </a:xfrm>
          <a:prstGeom prst="ellipse">
            <a:avLst/>
          </a:prstGeom>
          <a:solidFill>
            <a:srgbClr val="F28C38"/>
          </a:solidFill>
          <a:ln/>
        </p:spPr>
        <p:txBody>
          <a:bodyPr/>
          <a:lstStyle/>
          <a:p>
            <a:endParaRPr lang="nl-NL"/>
          </a:p>
        </p:txBody>
      </p:sp>
      <p:sp>
        <p:nvSpPr>
          <p:cNvPr id="14" name="s33_b3"/>
          <p:cNvSpPr txBox="1"/>
          <p:nvPr/>
        </p:nvSpPr>
        <p:spPr>
          <a:xfrm>
            <a:off x="8202168" y="3493008"/>
            <a:ext cx="3364992" cy="603504"/>
          </a:xfrm>
          <a:prstGeom prst="rect">
            <a:avLst/>
          </a:prstGeom>
          <a:noFill/>
          <a:ln/>
        </p:spPr>
        <p:txBody>
          <a:bodyPr wrap="square" lIns="0" tIns="0" rIns="0" bIns="0" rtlCol="0" anchor="t"/>
          <a:lstStyle/>
          <a:p>
            <a:pPr marL="0" indent="0" algn="l">
              <a:buNone/>
            </a:pPr>
            <a:r>
              <a:rPr lang="nl-NL" sz="1800" dirty="0">
                <a:solidFill>
                  <a:srgbClr val="1E2A3A"/>
                </a:solidFill>
                <a:latin typeface="Calibri" pitchFamily="34" charset="0"/>
                <a:ea typeface="Calibri" pitchFamily="34" charset="-122"/>
                <a:cs typeface="Calibri" pitchFamily="34" charset="-120"/>
              </a:rPr>
              <a:t>Bijna iedereen kan meer luxe kopen</a:t>
            </a:r>
            <a:endParaRPr lang="nl-NL" sz="1800" dirty="0"/>
          </a:p>
        </p:txBody>
      </p:sp>
      <p:sp>
        <p:nvSpPr>
          <p:cNvPr id="15" name="s33_def"/>
          <p:cNvSpPr txBox="1"/>
          <p:nvPr/>
        </p:nvSpPr>
        <p:spPr>
          <a:xfrm>
            <a:off x="7927848" y="4315968"/>
            <a:ext cx="3639312" cy="960120"/>
          </a:xfrm>
          <a:prstGeom prst="roundRect">
            <a:avLst>
              <a:gd name="adj" fmla="val 7619"/>
            </a:avLst>
          </a:prstGeom>
          <a:solidFill>
            <a:srgbClr val="FCEDE3"/>
          </a:solidFill>
          <a:ln/>
        </p:spPr>
        <p:txBody>
          <a:bodyPr wrap="square" lIns="50800" tIns="127000" rIns="127000" bIns="50800" rtlCol="0" anchor="ctr"/>
          <a:lstStyle/>
          <a:p>
            <a:pPr marL="0" indent="0" algn="l">
              <a:buNone/>
            </a:pPr>
            <a:r>
              <a:rPr lang="nl-NL" sz="1600" b="1" dirty="0">
                <a:solidFill>
                  <a:srgbClr val="E07A3F"/>
                </a:solidFill>
                <a:latin typeface="Calibri" pitchFamily="34" charset="0"/>
                <a:ea typeface="Calibri" pitchFamily="34" charset="-122"/>
                <a:cs typeface="Calibri" pitchFamily="34" charset="-120"/>
              </a:rPr>
              <a:t>Consumptiemaatschappij: </a:t>
            </a:r>
            <a:r>
              <a:rPr lang="nl-NL" sz="1600" dirty="0">
                <a:solidFill>
                  <a:srgbClr val="1E2A3A"/>
                </a:solidFill>
                <a:latin typeface="Calibri" pitchFamily="34" charset="0"/>
                <a:ea typeface="Calibri" pitchFamily="34" charset="-122"/>
                <a:cs typeface="Calibri" pitchFamily="34" charset="-120"/>
              </a:rPr>
              <a:t>een samenleving waarin mensen veel (luxe) spullen kopen.</a:t>
            </a:r>
            <a:endParaRPr lang="nl-NL" sz="1600" dirty="0"/>
          </a:p>
        </p:txBody>
      </p:sp>
      <p:sp>
        <p:nvSpPr>
          <p:cNvPr id="16"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7"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8" name="!!rd_d1"/>
          <p:cNvSpPr/>
          <p:nvPr/>
        </p:nvSpPr>
        <p:spPr>
          <a:xfrm>
            <a:off x="2944368" y="6437376"/>
            <a:ext cx="128016" cy="128016"/>
          </a:xfrm>
          <a:prstGeom prst="ellipse">
            <a:avLst/>
          </a:prstGeom>
          <a:solidFill>
            <a:srgbClr val="1E2A3A"/>
          </a:solidFill>
          <a:ln/>
        </p:spPr>
        <p:txBody>
          <a:bodyPr/>
          <a:lstStyle/>
          <a:p>
            <a:endParaRPr lang="nl-NL"/>
          </a:p>
        </p:txBody>
      </p:sp>
      <p:sp>
        <p:nvSpPr>
          <p:cNvPr id="19"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0" name="!!rd_d2"/>
          <p:cNvSpPr/>
          <p:nvPr/>
        </p:nvSpPr>
        <p:spPr>
          <a:xfrm>
            <a:off x="4078224" y="6437376"/>
            <a:ext cx="128016" cy="128016"/>
          </a:xfrm>
          <a:prstGeom prst="ellipse">
            <a:avLst/>
          </a:prstGeom>
          <a:solidFill>
            <a:srgbClr val="1E2A3A"/>
          </a:solidFill>
          <a:ln/>
        </p:spPr>
        <p:txBody>
          <a:bodyPr/>
          <a:lstStyle/>
          <a:p>
            <a:endParaRPr lang="nl-NL"/>
          </a:p>
        </p:txBody>
      </p:sp>
      <p:sp>
        <p:nvSpPr>
          <p:cNvPr id="21"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2" name="!!rd_d3"/>
          <p:cNvSpPr/>
          <p:nvPr/>
        </p:nvSpPr>
        <p:spPr>
          <a:xfrm>
            <a:off x="5212080" y="6437376"/>
            <a:ext cx="128016" cy="128016"/>
          </a:xfrm>
          <a:prstGeom prst="ellipse">
            <a:avLst/>
          </a:prstGeom>
          <a:solidFill>
            <a:srgbClr val="C9D1DA"/>
          </a:solidFill>
          <a:ln/>
        </p:spPr>
        <p:txBody>
          <a:bodyPr/>
          <a:lstStyle/>
          <a:p>
            <a:endParaRPr lang="nl-NL"/>
          </a:p>
        </p:txBody>
      </p:sp>
      <p:sp>
        <p:nvSpPr>
          <p:cNvPr id="23"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b="1" dirty="0">
                <a:solidFill>
                  <a:srgbClr val="E07A3F"/>
                </a:solidFill>
                <a:latin typeface="Calibri" pitchFamily="34" charset="0"/>
                <a:ea typeface="Calibri" pitchFamily="34" charset="-122"/>
                <a:cs typeface="Calibri" pitchFamily="34" charset="-120"/>
              </a:rPr>
              <a:t>Welvaart</a:t>
            </a:r>
            <a:endParaRPr lang="nl-NL" sz="1000" dirty="0"/>
          </a:p>
        </p:txBody>
      </p:sp>
      <p:sp>
        <p:nvSpPr>
          <p:cNvPr id="24" name="!!rd_d4"/>
          <p:cNvSpPr/>
          <p:nvPr/>
        </p:nvSpPr>
        <p:spPr>
          <a:xfrm>
            <a:off x="6345936" y="6437376"/>
            <a:ext cx="128016" cy="128016"/>
          </a:xfrm>
          <a:prstGeom prst="ellipse">
            <a:avLst/>
          </a:prstGeom>
          <a:solidFill>
            <a:srgbClr val="C9D1DA"/>
          </a:solidFill>
          <a:ln/>
        </p:spPr>
        <p:txBody>
          <a:bodyPr/>
          <a:lstStyle/>
          <a:p>
            <a:endParaRPr lang="nl-NL"/>
          </a:p>
        </p:txBody>
      </p:sp>
      <p:sp>
        <p:nvSpPr>
          <p:cNvPr id="25"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6" name="!!rd_d5"/>
          <p:cNvSpPr/>
          <p:nvPr/>
        </p:nvSpPr>
        <p:spPr>
          <a:xfrm>
            <a:off x="7479792" y="6437376"/>
            <a:ext cx="128016" cy="128016"/>
          </a:xfrm>
          <a:prstGeom prst="ellipse">
            <a:avLst/>
          </a:prstGeom>
          <a:solidFill>
            <a:srgbClr val="C9D1DA"/>
          </a:solidFill>
          <a:ln/>
        </p:spPr>
        <p:txBody>
          <a:bodyPr/>
          <a:lstStyle/>
          <a:p>
            <a:endParaRPr lang="nl-NL"/>
          </a:p>
        </p:txBody>
      </p:sp>
      <p:sp>
        <p:nvSpPr>
          <p:cNvPr id="27"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8" name="!!rd_act"/>
          <p:cNvSpPr/>
          <p:nvPr/>
        </p:nvSpPr>
        <p:spPr>
          <a:xfrm>
            <a:off x="5166360" y="6391656"/>
            <a:ext cx="219456" cy="219456"/>
          </a:xfrm>
          <a:prstGeom prst="ellipse">
            <a:avLst/>
          </a:prstGeom>
          <a:solidFill>
            <a:srgbClr val="E07A3F"/>
          </a:solidFill>
          <a:ln w="25400">
            <a:solidFill>
              <a:srgbClr val="FFFFFF"/>
            </a:solidFill>
            <a:prstDash val="solid"/>
          </a:ln>
        </p:spPr>
        <p:txBody>
          <a:bodyPr/>
          <a:lstStyle/>
          <a:p>
            <a:endParaRPr lang="nl-NL"/>
          </a:p>
        </p:txBody>
      </p:sp>
      <p:sp>
        <p:nvSpPr>
          <p:cNvPr id="29" name="s33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0" name="s33_tv_dot"/>
          <p:cNvSpPr/>
          <p:nvPr/>
        </p:nvSpPr>
        <p:spPr>
          <a:xfrm>
            <a:off x="8979408" y="6373368"/>
            <a:ext cx="256032" cy="256032"/>
          </a:xfrm>
          <a:prstGeom prst="ellipse">
            <a:avLst/>
          </a:prstGeom>
          <a:solidFill>
            <a:srgbClr val="2F7BB5"/>
          </a:solidFill>
          <a:ln/>
        </p:spPr>
        <p:txBody>
          <a:bodyPr/>
          <a:lstStyle/>
          <a:p>
            <a:endParaRPr lang="nl-NL"/>
          </a:p>
        </p:txBody>
      </p:sp>
      <p:pic>
        <p:nvPicPr>
          <p:cNvPr id="31" name="s33_tv_play" descr="play_w">
            <a:hlinkClick r:id="rId4" tooltip="Open op Schooltv"/>
          </p:cNvPr>
          <p:cNvPicPr>
            <a:picLocks noChangeAspect="1"/>
          </p:cNvPicPr>
          <p:nvPr/>
        </p:nvPicPr>
        <p:blipFill>
          <a:blip r:embed="rId5"/>
          <a:stretch>
            <a:fillRect/>
          </a:stretch>
        </p:blipFill>
        <p:spPr>
          <a:xfrm>
            <a:off x="9052560" y="6437376"/>
            <a:ext cx="128016" cy="128016"/>
          </a:xfrm>
          <a:prstGeom prst="rect">
            <a:avLst/>
          </a:prstGeom>
        </p:spPr>
      </p:pic>
      <p:sp>
        <p:nvSpPr>
          <p:cNvPr id="32" name="s33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4" tooltip="Open op Schooltv">
                  <a:extLst>
                    <a:ext uri="{A12FA001-AC4F-418D-AE19-62706E023703}">
                      <ahyp:hlinkClr xmlns:ahyp="http://schemas.microsoft.com/office/drawing/2018/hyperlinkcolor" val="tx"/>
                    </a:ext>
                  </a:extLst>
                </a:hlinkClick>
              </a:rPr>
              <a:t>Schooltv: Jaren zestig: welvaart</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50"/>
                                        <p:tgtEl>
                                          <p:spTgt spid="8"/>
                                        </p:tgtEl>
                                      </p:cBhvr>
                                    </p:animEffect>
                                    <p:anim calcmode="lin" valueType="num">
                                      <p:cBhvr additive="base">
                                        <p:cTn id="13"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50"/>
                                        <p:tgtEl>
                                          <p:spTgt spid="9"/>
                                        </p:tgtEl>
                                      </p:cBhvr>
                                    </p:animEffect>
                                    <p:anim calcmode="lin" valueType="num">
                                      <p:cBhvr additive="base">
                                        <p:cTn id="20"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50"/>
                                        <p:tgtEl>
                                          <p:spTgt spid="10"/>
                                        </p:tgtEl>
                                      </p:cBhvr>
                                    </p:animEffect>
                                    <p:anim calcmode="lin" valueType="num">
                                      <p:cBhvr additive="base">
                                        <p:cTn id="25"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1"/>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p:tgtEl>
                                          <p:spTgt spid="12"/>
                                        </p:tgtEl>
                                      </p:cBhvr>
                                    </p:animEffect>
                                    <p:anim calcmode="lin" valueType="num">
                                      <p:cBhvr additive="base">
                                        <p:cTn id="37"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38"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p:tgtEl>
                                          <p:spTgt spid="13"/>
                                        </p:tgtEl>
                                      </p:cBhvr>
                                    </p:animEffect>
                                    <p:anim calcmode="lin" valueType="num">
                                      <p:cBhvr additive="base">
                                        <p:cTn id="44"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3"/>
                                        </p:tgtEl>
                                        <p:attrNameLst>
                                          <p:attrName>ppt_y</p:attrName>
                                        </p:attrNameLst>
                                      </p:cBhvr>
                                      <p:tavLst>
                                        <p:tav tm="0">
                                          <p:val>
                                            <p:strVal val="#ppt_y+0.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p:tgtEl>
                                          <p:spTgt spid="14"/>
                                        </p:tgtEl>
                                      </p:cBhvr>
                                    </p:animEffect>
                                    <p:anim calcmode="lin" valueType="num">
                                      <p:cBhvr additive="base">
                                        <p:cTn id="49"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50" dur="650" decel="10000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50" fill="hold"/>
                                        <p:tgtEl>
                                          <p:spTgt spid="1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6" dur="550" fill="hold"/>
                                        <p:tgtEl>
                                          <p:spTgt spid="1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7" dur="275"/>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tile3" descr="woonkamer_169"/>
          <p:cNvPicPr>
            <a:picLocks noChangeAspect="1"/>
          </p:cNvPicPr>
          <p:nvPr/>
        </p:nvPicPr>
        <p:blipFill>
          <a:blip r:embed="rId3"/>
          <a:stretch>
            <a:fillRect/>
          </a:stretch>
        </p:blipFill>
        <p:spPr>
          <a:xfrm>
            <a:off x="-4876678" y="-1371600"/>
            <a:ext cx="17068373" cy="9601200"/>
          </a:xfrm>
          <a:prstGeom prst="rect">
            <a:avLst/>
          </a:prstGeom>
        </p:spPr>
      </p:pic>
      <p:sp>
        <p:nvSpPr>
          <p:cNvPr id="3" name="s34_ai"/>
          <p:cNvSpPr txBox="1"/>
          <p:nvPr/>
        </p:nvSpPr>
        <p:spPr>
          <a:xfrm>
            <a:off x="274320" y="6473952"/>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
        <p:nvSpPr>
          <p:cNvPr id="4" name="!!card"/>
          <p:cNvSpPr/>
          <p:nvPr/>
        </p:nvSpPr>
        <p:spPr>
          <a:xfrm>
            <a:off x="320040" y="320040"/>
            <a:ext cx="4206240" cy="1600200"/>
          </a:xfrm>
          <a:prstGeom prst="roundRect">
            <a:avLst>
              <a:gd name="adj" fmla="val 800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title"/>
          <p:cNvSpPr txBox="1"/>
          <p:nvPr/>
        </p:nvSpPr>
        <p:spPr>
          <a:xfrm>
            <a:off x="566928" y="475488"/>
            <a:ext cx="3840480" cy="365760"/>
          </a:xfrm>
          <a:prstGeom prst="rect">
            <a:avLst/>
          </a:prstGeom>
          <a:noFill/>
          <a:ln/>
        </p:spPr>
        <p:txBody>
          <a:bodyPr wrap="square" lIns="0" tIns="0" rIns="0" bIns="0" rtlCol="0" anchor="t"/>
          <a:lstStyle/>
          <a:p>
            <a:pPr marL="0" indent="0" algn="l">
              <a:buNone/>
            </a:pPr>
            <a:r>
              <a:rPr lang="nl-NL" sz="1800" b="1" dirty="0">
                <a:solidFill>
                  <a:srgbClr val="1E2A3A"/>
                </a:solidFill>
                <a:latin typeface="Calibri" pitchFamily="34" charset="0"/>
                <a:ea typeface="Calibri" pitchFamily="34" charset="-122"/>
                <a:cs typeface="Calibri" pitchFamily="34" charset="-120"/>
              </a:rPr>
              <a:t>De consumptiemaatschappij</a:t>
            </a:r>
            <a:endParaRPr lang="nl-NL" sz="1800" dirty="0"/>
          </a:p>
        </p:txBody>
      </p:sp>
      <p:sp>
        <p:nvSpPr>
          <p:cNvPr id="6" name="s34_q"/>
          <p:cNvSpPr txBox="1"/>
          <p:nvPr/>
        </p:nvSpPr>
        <p:spPr>
          <a:xfrm>
            <a:off x="566928" y="896112"/>
            <a:ext cx="3749040" cy="868680"/>
          </a:xfrm>
          <a:prstGeom prst="rect">
            <a:avLst/>
          </a:prstGeom>
          <a:noFill/>
          <a:ln/>
        </p:spPr>
        <p:txBody>
          <a:bodyPr wrap="square" lIns="0" tIns="0" rIns="0" bIns="0" rtlCol="0" anchor="t"/>
          <a:lstStyle/>
          <a:p>
            <a:pPr marL="0" indent="0" algn="l">
              <a:buNone/>
            </a:pPr>
            <a:r>
              <a:rPr lang="nl-NL" sz="1900" b="1" dirty="0">
                <a:solidFill>
                  <a:srgbClr val="E07A3F"/>
                </a:solidFill>
                <a:latin typeface="Calibri" pitchFamily="34" charset="0"/>
                <a:ea typeface="Calibri" pitchFamily="34" charset="-122"/>
                <a:cs typeface="Calibri" pitchFamily="34" charset="-120"/>
              </a:rPr>
              <a:t>Welke luxeproducten zie je in deze woonkamer?</a:t>
            </a:r>
            <a:endParaRPr lang="nl-NL" sz="1900" dirty="0"/>
          </a:p>
        </p:txBody>
      </p:sp>
      <p:sp>
        <p:nvSpPr>
          <p:cNvPr id="7" name="s34_r0"/>
          <p:cNvSpPr/>
          <p:nvPr/>
        </p:nvSpPr>
        <p:spPr>
          <a:xfrm>
            <a:off x="2306262" y="2127417"/>
            <a:ext cx="2204665" cy="1564601"/>
          </a:xfrm>
          <a:prstGeom prst="roundRect">
            <a:avLst>
              <a:gd name="adj" fmla="val 7013"/>
            </a:avLst>
          </a:prstGeom>
          <a:ln w="57150">
            <a:solidFill>
              <a:srgbClr val="F28C38"/>
            </a:solidFill>
            <a:prstDash val="solid"/>
          </a:ln>
        </p:spPr>
        <p:txBody>
          <a:bodyPr/>
          <a:lstStyle/>
          <a:p>
            <a:endParaRPr lang="nl-NL"/>
          </a:p>
        </p:txBody>
      </p:sp>
      <p:sp>
        <p:nvSpPr>
          <p:cNvPr id="8" name="s34_c0"/>
          <p:cNvSpPr txBox="1"/>
          <p:nvPr/>
        </p:nvSpPr>
        <p:spPr>
          <a:xfrm>
            <a:off x="2306262" y="1715937"/>
            <a:ext cx="901446" cy="347472"/>
          </a:xfrm>
          <a:prstGeom prst="roundRect">
            <a:avLst>
              <a:gd name="adj" fmla="val 3947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Radio</a:t>
            </a:r>
            <a:endParaRPr lang="nl-NL" sz="1500" dirty="0"/>
          </a:p>
        </p:txBody>
      </p:sp>
      <p:sp>
        <p:nvSpPr>
          <p:cNvPr id="9" name="s34_r1"/>
          <p:cNvSpPr/>
          <p:nvPr/>
        </p:nvSpPr>
        <p:spPr>
          <a:xfrm>
            <a:off x="4510927" y="2255429"/>
            <a:ext cx="2304230" cy="1891745"/>
          </a:xfrm>
          <a:prstGeom prst="roundRect">
            <a:avLst>
              <a:gd name="adj" fmla="val 5800"/>
            </a:avLst>
          </a:prstGeom>
          <a:ln w="57150">
            <a:solidFill>
              <a:srgbClr val="F28C38"/>
            </a:solidFill>
            <a:prstDash val="solid"/>
          </a:ln>
        </p:spPr>
        <p:txBody>
          <a:bodyPr/>
          <a:lstStyle/>
          <a:p>
            <a:endParaRPr lang="nl-NL"/>
          </a:p>
        </p:txBody>
      </p:sp>
      <p:sp>
        <p:nvSpPr>
          <p:cNvPr id="10" name="s34_c1"/>
          <p:cNvSpPr txBox="1"/>
          <p:nvPr/>
        </p:nvSpPr>
        <p:spPr>
          <a:xfrm>
            <a:off x="4510927" y="1843949"/>
            <a:ext cx="1373886" cy="347472"/>
          </a:xfrm>
          <a:prstGeom prst="roundRect">
            <a:avLst>
              <a:gd name="adj" fmla="val 3947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Televisie</a:t>
            </a:r>
            <a:endParaRPr lang="nl-NL" sz="1500" dirty="0"/>
          </a:p>
        </p:txBody>
      </p:sp>
      <p:sp>
        <p:nvSpPr>
          <p:cNvPr id="11" name="s34_r2"/>
          <p:cNvSpPr/>
          <p:nvPr/>
        </p:nvSpPr>
        <p:spPr>
          <a:xfrm>
            <a:off x="5620371" y="3322203"/>
            <a:ext cx="1905968" cy="2849997"/>
          </a:xfrm>
          <a:prstGeom prst="roundRect">
            <a:avLst>
              <a:gd name="adj" fmla="val 5757"/>
            </a:avLst>
          </a:prstGeom>
          <a:ln w="57150">
            <a:solidFill>
              <a:srgbClr val="F28C38"/>
            </a:solidFill>
            <a:prstDash val="solid"/>
          </a:ln>
        </p:spPr>
        <p:txBody>
          <a:bodyPr/>
          <a:lstStyle/>
          <a:p>
            <a:endParaRPr lang="nl-NL"/>
          </a:p>
        </p:txBody>
      </p:sp>
      <p:sp>
        <p:nvSpPr>
          <p:cNvPr id="12" name="s34_c2"/>
          <p:cNvSpPr txBox="1"/>
          <p:nvPr/>
        </p:nvSpPr>
        <p:spPr>
          <a:xfrm>
            <a:off x="5620371" y="2910723"/>
            <a:ext cx="1491996" cy="347472"/>
          </a:xfrm>
          <a:prstGeom prst="roundRect">
            <a:avLst>
              <a:gd name="adj" fmla="val 3947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Stofzuiger</a:t>
            </a:r>
            <a:endParaRPr lang="nl-NL" sz="1500" dirty="0"/>
          </a:p>
        </p:txBody>
      </p:sp>
      <p:sp>
        <p:nvSpPr>
          <p:cNvPr id="13" name="s34_r3"/>
          <p:cNvSpPr/>
          <p:nvPr/>
        </p:nvSpPr>
        <p:spPr>
          <a:xfrm>
            <a:off x="8280193" y="1771825"/>
            <a:ext cx="3769266" cy="4400375"/>
          </a:xfrm>
          <a:prstGeom prst="roundRect">
            <a:avLst>
              <a:gd name="adj" fmla="val 2911"/>
            </a:avLst>
          </a:prstGeom>
          <a:ln w="57150">
            <a:solidFill>
              <a:srgbClr val="F28C38"/>
            </a:solidFill>
            <a:prstDash val="solid"/>
          </a:ln>
        </p:spPr>
        <p:txBody>
          <a:bodyPr/>
          <a:lstStyle/>
          <a:p>
            <a:endParaRPr lang="nl-NL"/>
          </a:p>
        </p:txBody>
      </p:sp>
      <p:sp>
        <p:nvSpPr>
          <p:cNvPr id="14" name="s34_c3"/>
          <p:cNvSpPr txBox="1"/>
          <p:nvPr/>
        </p:nvSpPr>
        <p:spPr>
          <a:xfrm>
            <a:off x="8280193" y="1360345"/>
            <a:ext cx="1491996" cy="347472"/>
          </a:xfrm>
          <a:prstGeom prst="roundRect">
            <a:avLst>
              <a:gd name="adj" fmla="val 3947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Wasmachine</a:t>
            </a:r>
            <a:endParaRPr lang="nl-NL" sz="1500" dirty="0"/>
          </a:p>
        </p:txBody>
      </p:sp>
      <p:sp>
        <p:nvSpPr>
          <p:cNvPr id="1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7" name="!!rd_d1"/>
          <p:cNvSpPr/>
          <p:nvPr/>
        </p:nvSpPr>
        <p:spPr>
          <a:xfrm>
            <a:off x="2944368" y="6437376"/>
            <a:ext cx="128016" cy="128016"/>
          </a:xfrm>
          <a:prstGeom prst="ellipse">
            <a:avLst/>
          </a:prstGeom>
          <a:solidFill>
            <a:srgbClr val="1E2A3A"/>
          </a:solidFill>
          <a:ln/>
        </p:spPr>
        <p:txBody>
          <a:bodyPr/>
          <a:lstStyle/>
          <a:p>
            <a:endParaRPr lang="nl-NL"/>
          </a:p>
        </p:txBody>
      </p:sp>
      <p:sp>
        <p:nvSpPr>
          <p:cNvPr id="1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9" name="!!rd_d2"/>
          <p:cNvSpPr/>
          <p:nvPr/>
        </p:nvSpPr>
        <p:spPr>
          <a:xfrm>
            <a:off x="4078224" y="6437376"/>
            <a:ext cx="128016" cy="128016"/>
          </a:xfrm>
          <a:prstGeom prst="ellipse">
            <a:avLst/>
          </a:prstGeom>
          <a:solidFill>
            <a:srgbClr val="1E2A3A"/>
          </a:solidFill>
          <a:ln/>
        </p:spPr>
        <p:txBody>
          <a:bodyPr/>
          <a:lstStyle/>
          <a:p>
            <a:endParaRPr lang="nl-NL"/>
          </a:p>
        </p:txBody>
      </p:sp>
      <p:sp>
        <p:nvSpPr>
          <p:cNvPr id="2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1" name="!!rd_d3"/>
          <p:cNvSpPr/>
          <p:nvPr/>
        </p:nvSpPr>
        <p:spPr>
          <a:xfrm>
            <a:off x="5212080" y="6437376"/>
            <a:ext cx="128016" cy="128016"/>
          </a:xfrm>
          <a:prstGeom prst="ellipse">
            <a:avLst/>
          </a:prstGeom>
          <a:solidFill>
            <a:srgbClr val="C9D1DA"/>
          </a:solidFill>
          <a:ln/>
        </p:spPr>
        <p:txBody>
          <a:bodyPr/>
          <a:lstStyle/>
          <a:p>
            <a:endParaRPr lang="nl-NL"/>
          </a:p>
        </p:txBody>
      </p:sp>
      <p:sp>
        <p:nvSpPr>
          <p:cNvPr id="2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b="1" dirty="0">
                <a:solidFill>
                  <a:srgbClr val="E07A3F"/>
                </a:solidFill>
                <a:latin typeface="Calibri" pitchFamily="34" charset="0"/>
                <a:ea typeface="Calibri" pitchFamily="34" charset="-122"/>
                <a:cs typeface="Calibri" pitchFamily="34" charset="-120"/>
              </a:rPr>
              <a:t>Welvaart</a:t>
            </a:r>
            <a:endParaRPr lang="nl-NL" sz="1000" dirty="0"/>
          </a:p>
        </p:txBody>
      </p:sp>
      <p:sp>
        <p:nvSpPr>
          <p:cNvPr id="23" name="!!rd_d4"/>
          <p:cNvSpPr/>
          <p:nvPr/>
        </p:nvSpPr>
        <p:spPr>
          <a:xfrm>
            <a:off x="6345936" y="6437376"/>
            <a:ext cx="128016" cy="128016"/>
          </a:xfrm>
          <a:prstGeom prst="ellipse">
            <a:avLst/>
          </a:prstGeom>
          <a:solidFill>
            <a:srgbClr val="C9D1DA"/>
          </a:solidFill>
          <a:ln/>
        </p:spPr>
        <p:txBody>
          <a:bodyPr/>
          <a:lstStyle/>
          <a:p>
            <a:endParaRPr lang="nl-NL"/>
          </a:p>
        </p:txBody>
      </p:sp>
      <p:sp>
        <p:nvSpPr>
          <p:cNvPr id="2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5" name="!!rd_d5"/>
          <p:cNvSpPr/>
          <p:nvPr/>
        </p:nvSpPr>
        <p:spPr>
          <a:xfrm>
            <a:off x="7479792" y="6437376"/>
            <a:ext cx="128016" cy="128016"/>
          </a:xfrm>
          <a:prstGeom prst="ellipse">
            <a:avLst/>
          </a:prstGeom>
          <a:solidFill>
            <a:srgbClr val="C9D1DA"/>
          </a:solidFill>
          <a:ln/>
        </p:spPr>
        <p:txBody>
          <a:bodyPr/>
          <a:lstStyle/>
          <a:p>
            <a:endParaRPr lang="nl-NL"/>
          </a:p>
        </p:txBody>
      </p:sp>
      <p:sp>
        <p:nvSpPr>
          <p:cNvPr id="2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7" name="!!rd_act"/>
          <p:cNvSpPr/>
          <p:nvPr/>
        </p:nvSpPr>
        <p:spPr>
          <a:xfrm>
            <a:off x="5166360" y="6391656"/>
            <a:ext cx="219456" cy="219456"/>
          </a:xfrm>
          <a:prstGeom prst="ellipse">
            <a:avLst/>
          </a:prstGeom>
          <a:solidFill>
            <a:srgbClr val="E07A3F"/>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decel="100000" fill="hold"/>
                                        <p:tgtEl>
                                          <p:spTgt spid="6"/>
                                        </p:tgtEl>
                                        <p:attrNameLst>
                                          <p:attrName>ppt_x</p:attrName>
                                        </p:attrNameLst>
                                      </p:cBhvr>
                                      <p:tavLst>
                                        <p:tav tm="0">
                                          <p:val>
                                            <p:strVal val="#ppt_x-0.35"/>
                                          </p:val>
                                        </p:tav>
                                        <p:tav tm="100000">
                                          <p:val>
                                            <p:strVal val="#ppt_x"/>
                                          </p:val>
                                        </p:tav>
                                      </p:tavLst>
                                    </p:anim>
                                    <p:anim calcmode="lin" valueType="num">
                                      <p:cBhvr additive="base">
                                        <p:cTn id="8" dur="600" decel="100000" fill="hold"/>
                                        <p:tgtEl>
                                          <p:spTgt spid="6"/>
                                        </p:tgtEl>
                                        <p:attrNameLst>
                                          <p:attrName>ppt_y</p:attrName>
                                        </p:attrNameLst>
                                      </p:cBhvr>
                                      <p:tavLst>
                                        <p:tav tm="0">
                                          <p:val>
                                            <p:strVal val="#ppt_y"/>
                                          </p:val>
                                        </p:tav>
                                        <p:tav tm="100000">
                                          <p:val>
                                            <p:strVal val="#ppt_y"/>
                                          </p:val>
                                        </p:tav>
                                      </p:tavLst>
                                    </p:anim>
                                    <p:animEffect transition="in" filter="fade">
                                      <p:cBhvr>
                                        <p:cTn id="9" dur="42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5"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6" dur="275"/>
                                        <p:tgtEl>
                                          <p:spTgt spid="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7"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8" dur="275"/>
                                        <p:tgtEl>
                                          <p:spTgt spid="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2"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3" dur="275"/>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9"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0" dur="275"/>
                                        <p:tgtEl>
                                          <p:spTgt spid="11"/>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4"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5" dur="275"/>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1"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2" dur="275"/>
                                        <p:tgtEl>
                                          <p:spTgt spid="13"/>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6"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7" dur="275"/>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E07A3F"/>
                </a:solidFill>
                <a:latin typeface="Calibri" pitchFamily="34" charset="0"/>
                <a:ea typeface="Calibri" pitchFamily="34" charset="-122"/>
                <a:cs typeface="Calibri" pitchFamily="34" charset="-120"/>
              </a:rPr>
              <a:t>3 · WELVAART · JAREN 60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De consumptiemaatschappij</a:t>
            </a:r>
            <a:endParaRPr lang="nl-NL" sz="3400" dirty="0"/>
          </a:p>
        </p:txBody>
      </p:sp>
      <p:sp>
        <p:nvSpPr>
          <p:cNvPr id="4" name="!!card"/>
          <p:cNvSpPr/>
          <p:nvPr/>
        </p:nvSpPr>
        <p:spPr>
          <a:xfrm>
            <a:off x="502920" y="1280160"/>
            <a:ext cx="5486400" cy="4119677"/>
          </a:xfrm>
          <a:prstGeom prst="roundRect">
            <a:avLst>
              <a:gd name="adj" fmla="val 1332"/>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5" name="s35_foto" descr="supermarkt_ai"/>
          <p:cNvPicPr>
            <a:picLocks noChangeAspect="1"/>
          </p:cNvPicPr>
          <p:nvPr/>
        </p:nvPicPr>
        <p:blipFill>
          <a:blip r:embed="rId3"/>
          <a:stretch>
            <a:fillRect/>
          </a:stretch>
        </p:blipFill>
        <p:spPr>
          <a:xfrm>
            <a:off x="548640" y="1325880"/>
            <a:ext cx="5394960" cy="4028237"/>
          </a:xfrm>
          <a:prstGeom prst="rect">
            <a:avLst/>
          </a:prstGeom>
        </p:spPr>
      </p:pic>
      <p:sp>
        <p:nvSpPr>
          <p:cNvPr id="6" name="s35_ai"/>
          <p:cNvSpPr txBox="1"/>
          <p:nvPr/>
        </p:nvSpPr>
        <p:spPr>
          <a:xfrm>
            <a:off x="640080" y="5034077"/>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
        <p:nvSpPr>
          <p:cNvPr id="7" name="s35_o1"/>
          <p:cNvSpPr txBox="1"/>
          <p:nvPr/>
        </p:nvSpPr>
        <p:spPr>
          <a:xfrm>
            <a:off x="548640" y="5427269"/>
            <a:ext cx="5394960" cy="27432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Zelfbediening in de supermarkt: nieuw in de jaren 60</a:t>
            </a:r>
            <a:endParaRPr lang="nl-NL" sz="1200" dirty="0"/>
          </a:p>
        </p:txBody>
      </p:sp>
      <p:sp>
        <p:nvSpPr>
          <p:cNvPr id="8" name="s35_vt"/>
          <p:cNvSpPr txBox="1"/>
          <p:nvPr/>
        </p:nvSpPr>
        <p:spPr>
          <a:xfrm>
            <a:off x="6492240" y="1325880"/>
            <a:ext cx="5120640" cy="411480"/>
          </a:xfrm>
          <a:prstGeom prst="rect">
            <a:avLst/>
          </a:prstGeom>
          <a:noFill/>
          <a:ln/>
        </p:spPr>
        <p:txBody>
          <a:bodyPr wrap="square" lIns="0" tIns="0" rIns="0" bIns="0" rtlCol="0" anchor="t"/>
          <a:lstStyle/>
          <a:p>
            <a:pPr marL="0" indent="0" algn="l">
              <a:buNone/>
            </a:pPr>
            <a:r>
              <a:rPr lang="nl-NL" sz="2000" b="1" dirty="0">
                <a:solidFill>
                  <a:srgbClr val="E07A3F"/>
                </a:solidFill>
                <a:latin typeface="Calibri" pitchFamily="34" charset="0"/>
                <a:ea typeface="Calibri" pitchFamily="34" charset="-122"/>
                <a:cs typeface="Calibri" pitchFamily="34" charset="-120"/>
              </a:rPr>
              <a:t>Van fiets naar auto</a:t>
            </a:r>
            <a:endParaRPr lang="nl-NL" sz="2000" dirty="0"/>
          </a:p>
        </p:txBody>
      </p:sp>
      <p:sp>
        <p:nvSpPr>
          <p:cNvPr id="9" name="s35_vc0"/>
          <p:cNvSpPr/>
          <p:nvPr/>
        </p:nvSpPr>
        <p:spPr>
          <a:xfrm>
            <a:off x="6492240" y="1874520"/>
            <a:ext cx="1188720" cy="1188720"/>
          </a:xfrm>
          <a:prstGeom prst="ellipse">
            <a:avLst/>
          </a:prstGeom>
          <a:solidFill>
            <a:srgbClr val="FCEDE3"/>
          </a:solidFill>
          <a:ln/>
        </p:spPr>
        <p:txBody>
          <a:bodyPr/>
          <a:lstStyle/>
          <a:p>
            <a:endParaRPr lang="nl-NL"/>
          </a:p>
        </p:txBody>
      </p:sp>
      <p:pic>
        <p:nvPicPr>
          <p:cNvPr id="10" name="s35_vi0" descr="bike_s3"/>
          <p:cNvPicPr>
            <a:picLocks noChangeAspect="1"/>
          </p:cNvPicPr>
          <p:nvPr/>
        </p:nvPicPr>
        <p:blipFill>
          <a:blip r:embed="rId4"/>
          <a:stretch>
            <a:fillRect/>
          </a:stretch>
        </p:blipFill>
        <p:spPr>
          <a:xfrm>
            <a:off x="6766560" y="2148840"/>
            <a:ext cx="640080" cy="640080"/>
          </a:xfrm>
          <a:prstGeom prst="rect">
            <a:avLst/>
          </a:prstGeom>
        </p:spPr>
      </p:pic>
      <p:sp>
        <p:nvSpPr>
          <p:cNvPr id="11" name="s35_vl0"/>
          <p:cNvSpPr txBox="1"/>
          <p:nvPr/>
        </p:nvSpPr>
        <p:spPr>
          <a:xfrm>
            <a:off x="6309360" y="3108960"/>
            <a:ext cx="1554480" cy="320040"/>
          </a:xfrm>
          <a:prstGeom prst="rect">
            <a:avLst/>
          </a:prstGeom>
          <a:noFill/>
          <a:ln/>
        </p:spPr>
        <p:txBody>
          <a:bodyPr wrap="square" lIns="0" tIns="0" rIns="0" bIns="0" rtlCol="0" anchor="t"/>
          <a:lstStyle/>
          <a:p>
            <a:pPr marL="0" indent="0" algn="ctr">
              <a:buNone/>
            </a:pPr>
            <a:r>
              <a:rPr lang="nl-NL" sz="1600" b="1" dirty="0">
                <a:solidFill>
                  <a:srgbClr val="1E2A3A"/>
                </a:solidFill>
                <a:latin typeface="Calibri" pitchFamily="34" charset="0"/>
                <a:ea typeface="Calibri" pitchFamily="34" charset="-122"/>
                <a:cs typeface="Calibri" pitchFamily="34" charset="-120"/>
              </a:rPr>
              <a:t>fiets</a:t>
            </a:r>
            <a:endParaRPr lang="nl-NL" sz="1600" dirty="0"/>
          </a:p>
        </p:txBody>
      </p:sp>
      <p:sp>
        <p:nvSpPr>
          <p:cNvPr id="12" name="s35_vc1"/>
          <p:cNvSpPr/>
          <p:nvPr/>
        </p:nvSpPr>
        <p:spPr>
          <a:xfrm>
            <a:off x="8321040" y="1874520"/>
            <a:ext cx="1188720" cy="1188720"/>
          </a:xfrm>
          <a:prstGeom prst="ellipse">
            <a:avLst/>
          </a:prstGeom>
          <a:solidFill>
            <a:srgbClr val="FCEDE3"/>
          </a:solidFill>
          <a:ln/>
        </p:spPr>
        <p:txBody>
          <a:bodyPr/>
          <a:lstStyle/>
          <a:p>
            <a:endParaRPr lang="nl-NL"/>
          </a:p>
        </p:txBody>
      </p:sp>
      <p:pic>
        <p:nvPicPr>
          <p:cNvPr id="13" name="s35_vi1" descr="moped_s3"/>
          <p:cNvPicPr>
            <a:picLocks noChangeAspect="1"/>
          </p:cNvPicPr>
          <p:nvPr/>
        </p:nvPicPr>
        <p:blipFill>
          <a:blip r:embed="rId5"/>
          <a:stretch>
            <a:fillRect/>
          </a:stretch>
        </p:blipFill>
        <p:spPr>
          <a:xfrm>
            <a:off x="8595360" y="2148840"/>
            <a:ext cx="640080" cy="640080"/>
          </a:xfrm>
          <a:prstGeom prst="rect">
            <a:avLst/>
          </a:prstGeom>
        </p:spPr>
      </p:pic>
      <p:sp>
        <p:nvSpPr>
          <p:cNvPr id="14" name="s35_vl1"/>
          <p:cNvSpPr txBox="1"/>
          <p:nvPr/>
        </p:nvSpPr>
        <p:spPr>
          <a:xfrm>
            <a:off x="8138160" y="3108960"/>
            <a:ext cx="1554480" cy="320040"/>
          </a:xfrm>
          <a:prstGeom prst="rect">
            <a:avLst/>
          </a:prstGeom>
          <a:noFill/>
          <a:ln/>
        </p:spPr>
        <p:txBody>
          <a:bodyPr wrap="square" lIns="0" tIns="0" rIns="0" bIns="0" rtlCol="0" anchor="t"/>
          <a:lstStyle/>
          <a:p>
            <a:pPr marL="0" indent="0" algn="ctr">
              <a:buNone/>
            </a:pPr>
            <a:r>
              <a:rPr lang="nl-NL" sz="1600" b="1" dirty="0">
                <a:solidFill>
                  <a:srgbClr val="1E2A3A"/>
                </a:solidFill>
                <a:latin typeface="Calibri" pitchFamily="34" charset="0"/>
                <a:ea typeface="Calibri" pitchFamily="34" charset="-122"/>
                <a:cs typeface="Calibri" pitchFamily="34" charset="-120"/>
              </a:rPr>
              <a:t>bromfiets</a:t>
            </a:r>
            <a:endParaRPr lang="nl-NL" sz="1600" dirty="0"/>
          </a:p>
        </p:txBody>
      </p:sp>
      <p:sp>
        <p:nvSpPr>
          <p:cNvPr id="15" name="s35_va1"/>
          <p:cNvSpPr/>
          <p:nvPr/>
        </p:nvSpPr>
        <p:spPr>
          <a:xfrm>
            <a:off x="7754112" y="2331720"/>
            <a:ext cx="457200" cy="292608"/>
          </a:xfrm>
          <a:prstGeom prst="rightArrow">
            <a:avLst/>
          </a:prstGeom>
          <a:solidFill>
            <a:srgbClr val="F28C38"/>
          </a:solidFill>
          <a:ln/>
        </p:spPr>
        <p:txBody>
          <a:bodyPr/>
          <a:lstStyle/>
          <a:p>
            <a:endParaRPr lang="nl-NL"/>
          </a:p>
        </p:txBody>
      </p:sp>
      <p:sp>
        <p:nvSpPr>
          <p:cNvPr id="16" name="s35_vc2"/>
          <p:cNvSpPr/>
          <p:nvPr/>
        </p:nvSpPr>
        <p:spPr>
          <a:xfrm>
            <a:off x="10149840" y="1874520"/>
            <a:ext cx="1188720" cy="1188720"/>
          </a:xfrm>
          <a:prstGeom prst="ellipse">
            <a:avLst/>
          </a:prstGeom>
          <a:solidFill>
            <a:srgbClr val="E07A3F"/>
          </a:solidFill>
          <a:ln/>
        </p:spPr>
        <p:txBody>
          <a:bodyPr/>
          <a:lstStyle/>
          <a:p>
            <a:endParaRPr lang="nl-NL"/>
          </a:p>
        </p:txBody>
      </p:sp>
      <p:pic>
        <p:nvPicPr>
          <p:cNvPr id="17" name="s35_vi2" descr="car_w"/>
          <p:cNvPicPr>
            <a:picLocks noChangeAspect="1"/>
          </p:cNvPicPr>
          <p:nvPr/>
        </p:nvPicPr>
        <p:blipFill>
          <a:blip r:embed="rId6"/>
          <a:stretch>
            <a:fillRect/>
          </a:stretch>
        </p:blipFill>
        <p:spPr>
          <a:xfrm>
            <a:off x="10424160" y="2148840"/>
            <a:ext cx="640080" cy="640080"/>
          </a:xfrm>
          <a:prstGeom prst="rect">
            <a:avLst/>
          </a:prstGeom>
        </p:spPr>
      </p:pic>
      <p:sp>
        <p:nvSpPr>
          <p:cNvPr id="18" name="s35_vl2"/>
          <p:cNvSpPr txBox="1"/>
          <p:nvPr/>
        </p:nvSpPr>
        <p:spPr>
          <a:xfrm>
            <a:off x="9966960" y="3108960"/>
            <a:ext cx="1554480" cy="320040"/>
          </a:xfrm>
          <a:prstGeom prst="rect">
            <a:avLst/>
          </a:prstGeom>
          <a:noFill/>
          <a:ln/>
        </p:spPr>
        <p:txBody>
          <a:bodyPr wrap="square" lIns="0" tIns="0" rIns="0" bIns="0" rtlCol="0" anchor="t"/>
          <a:lstStyle/>
          <a:p>
            <a:pPr marL="0" indent="0" algn="ctr">
              <a:buNone/>
            </a:pPr>
            <a:r>
              <a:rPr lang="nl-NL" sz="1600" b="1" dirty="0">
                <a:solidFill>
                  <a:srgbClr val="1E2A3A"/>
                </a:solidFill>
                <a:latin typeface="Calibri" pitchFamily="34" charset="0"/>
                <a:ea typeface="Calibri" pitchFamily="34" charset="-122"/>
                <a:cs typeface="Calibri" pitchFamily="34" charset="-120"/>
              </a:rPr>
              <a:t>auto</a:t>
            </a:r>
            <a:endParaRPr lang="nl-NL" sz="1600" dirty="0"/>
          </a:p>
        </p:txBody>
      </p:sp>
      <p:sp>
        <p:nvSpPr>
          <p:cNvPr id="19" name="s35_va2"/>
          <p:cNvSpPr/>
          <p:nvPr/>
        </p:nvSpPr>
        <p:spPr>
          <a:xfrm>
            <a:off x="9582912" y="2331720"/>
            <a:ext cx="457200" cy="292608"/>
          </a:xfrm>
          <a:prstGeom prst="rightArrow">
            <a:avLst/>
          </a:prstGeom>
          <a:solidFill>
            <a:srgbClr val="F28C38"/>
          </a:solidFill>
          <a:ln/>
        </p:spPr>
        <p:txBody>
          <a:bodyPr/>
          <a:lstStyle/>
          <a:p>
            <a:endParaRPr lang="nl-NL"/>
          </a:p>
        </p:txBody>
      </p:sp>
      <p:sp>
        <p:nvSpPr>
          <p:cNvPr id="20" name="s35_pbg"/>
          <p:cNvSpPr/>
          <p:nvPr/>
        </p:nvSpPr>
        <p:spPr>
          <a:xfrm>
            <a:off x="6492240" y="3794760"/>
            <a:ext cx="5166360" cy="1920240"/>
          </a:xfrm>
          <a:prstGeom prst="roundRect">
            <a:avLst>
              <a:gd name="adj" fmla="val 5714"/>
            </a:avLst>
          </a:prstGeom>
          <a:solidFill>
            <a:srgbClr val="FCEDE3"/>
          </a:solidFill>
          <a:ln/>
        </p:spPr>
        <p:txBody>
          <a:bodyPr/>
          <a:lstStyle/>
          <a:p>
            <a:endParaRPr lang="nl-NL"/>
          </a:p>
        </p:txBody>
      </p:sp>
      <p:pic>
        <p:nvPicPr>
          <p:cNvPr id="21" name="s35_pi" descr="tv_s3"/>
          <p:cNvPicPr>
            <a:picLocks noChangeAspect="1"/>
          </p:cNvPicPr>
          <p:nvPr/>
        </p:nvPicPr>
        <p:blipFill>
          <a:blip r:embed="rId7"/>
          <a:stretch>
            <a:fillRect/>
          </a:stretch>
        </p:blipFill>
        <p:spPr>
          <a:xfrm>
            <a:off x="6766560" y="4069080"/>
            <a:ext cx="685800" cy="685800"/>
          </a:xfrm>
          <a:prstGeom prst="rect">
            <a:avLst/>
          </a:prstGeom>
        </p:spPr>
      </p:pic>
      <p:sp>
        <p:nvSpPr>
          <p:cNvPr id="22" name="s35_pl"/>
          <p:cNvSpPr txBox="1"/>
          <p:nvPr/>
        </p:nvSpPr>
        <p:spPr>
          <a:xfrm>
            <a:off x="7680960" y="3977640"/>
            <a:ext cx="3657600" cy="274320"/>
          </a:xfrm>
          <a:prstGeom prst="rect">
            <a:avLst/>
          </a:prstGeom>
          <a:noFill/>
          <a:ln/>
        </p:spPr>
        <p:txBody>
          <a:bodyPr wrap="square" lIns="0" tIns="0" rIns="0" bIns="0" rtlCol="0" anchor="t"/>
          <a:lstStyle/>
          <a:p>
            <a:pPr marL="0" indent="0" algn="l">
              <a:buNone/>
            </a:pPr>
            <a:r>
              <a:rPr lang="nl-NL" sz="1200" b="1" kern="0" spc="150" dirty="0">
                <a:solidFill>
                  <a:srgbClr val="E07A3F"/>
                </a:solidFill>
                <a:latin typeface="Calibri" pitchFamily="34" charset="0"/>
                <a:ea typeface="Calibri" pitchFamily="34" charset="-122"/>
                <a:cs typeface="Calibri" pitchFamily="34" charset="-120"/>
              </a:rPr>
              <a:t>PHILIPS GROEIT MEE</a:t>
            </a:r>
            <a:endParaRPr lang="nl-NL" sz="1200" dirty="0"/>
          </a:p>
        </p:txBody>
      </p:sp>
      <p:sp>
        <p:nvSpPr>
          <p:cNvPr id="23" name="s35_pt"/>
          <p:cNvSpPr txBox="1"/>
          <p:nvPr/>
        </p:nvSpPr>
        <p:spPr>
          <a:xfrm>
            <a:off x="7680960" y="4297680"/>
            <a:ext cx="3794760" cy="1280160"/>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Rond 1970 werken er wereldwijd een half miljoen mensen bij Philips, in Nederland bijna 100.000.</a:t>
            </a:r>
            <a:endParaRPr lang="nl-NL" sz="1700" dirty="0"/>
          </a:p>
        </p:txBody>
      </p:sp>
      <p:sp>
        <p:nvSpPr>
          <p:cNvPr id="24"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5"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6" name="!!rd_d1"/>
          <p:cNvSpPr/>
          <p:nvPr/>
        </p:nvSpPr>
        <p:spPr>
          <a:xfrm>
            <a:off x="2944368" y="6437376"/>
            <a:ext cx="128016" cy="128016"/>
          </a:xfrm>
          <a:prstGeom prst="ellipse">
            <a:avLst/>
          </a:prstGeom>
          <a:solidFill>
            <a:srgbClr val="1E2A3A"/>
          </a:solidFill>
          <a:ln/>
        </p:spPr>
        <p:txBody>
          <a:bodyPr/>
          <a:lstStyle/>
          <a:p>
            <a:endParaRPr lang="nl-NL"/>
          </a:p>
        </p:txBody>
      </p:sp>
      <p:sp>
        <p:nvSpPr>
          <p:cNvPr id="27"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8" name="!!rd_d2"/>
          <p:cNvSpPr/>
          <p:nvPr/>
        </p:nvSpPr>
        <p:spPr>
          <a:xfrm>
            <a:off x="4078224" y="6437376"/>
            <a:ext cx="128016" cy="128016"/>
          </a:xfrm>
          <a:prstGeom prst="ellipse">
            <a:avLst/>
          </a:prstGeom>
          <a:solidFill>
            <a:srgbClr val="1E2A3A"/>
          </a:solidFill>
          <a:ln/>
        </p:spPr>
        <p:txBody>
          <a:bodyPr/>
          <a:lstStyle/>
          <a:p>
            <a:endParaRPr lang="nl-NL"/>
          </a:p>
        </p:txBody>
      </p:sp>
      <p:sp>
        <p:nvSpPr>
          <p:cNvPr id="29"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30" name="!!rd_d3"/>
          <p:cNvSpPr/>
          <p:nvPr/>
        </p:nvSpPr>
        <p:spPr>
          <a:xfrm>
            <a:off x="5212080" y="6437376"/>
            <a:ext cx="128016" cy="128016"/>
          </a:xfrm>
          <a:prstGeom prst="ellipse">
            <a:avLst/>
          </a:prstGeom>
          <a:solidFill>
            <a:srgbClr val="C9D1DA"/>
          </a:solidFill>
          <a:ln/>
        </p:spPr>
        <p:txBody>
          <a:bodyPr/>
          <a:lstStyle/>
          <a:p>
            <a:endParaRPr lang="nl-NL"/>
          </a:p>
        </p:txBody>
      </p:sp>
      <p:sp>
        <p:nvSpPr>
          <p:cNvPr id="31"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b="1" dirty="0">
                <a:solidFill>
                  <a:srgbClr val="E07A3F"/>
                </a:solidFill>
                <a:latin typeface="Calibri" pitchFamily="34" charset="0"/>
                <a:ea typeface="Calibri" pitchFamily="34" charset="-122"/>
                <a:cs typeface="Calibri" pitchFamily="34" charset="-120"/>
              </a:rPr>
              <a:t>Welvaart</a:t>
            </a:r>
            <a:endParaRPr lang="nl-NL" sz="1000" dirty="0"/>
          </a:p>
        </p:txBody>
      </p:sp>
      <p:sp>
        <p:nvSpPr>
          <p:cNvPr id="32" name="!!rd_d4"/>
          <p:cNvSpPr/>
          <p:nvPr/>
        </p:nvSpPr>
        <p:spPr>
          <a:xfrm>
            <a:off x="6345936" y="6437376"/>
            <a:ext cx="128016" cy="128016"/>
          </a:xfrm>
          <a:prstGeom prst="ellipse">
            <a:avLst/>
          </a:prstGeom>
          <a:solidFill>
            <a:srgbClr val="C9D1DA"/>
          </a:solidFill>
          <a:ln/>
        </p:spPr>
        <p:txBody>
          <a:bodyPr/>
          <a:lstStyle/>
          <a:p>
            <a:endParaRPr lang="nl-NL"/>
          </a:p>
        </p:txBody>
      </p:sp>
      <p:sp>
        <p:nvSpPr>
          <p:cNvPr id="33"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4" name="!!rd_d5"/>
          <p:cNvSpPr/>
          <p:nvPr/>
        </p:nvSpPr>
        <p:spPr>
          <a:xfrm>
            <a:off x="7479792" y="6437376"/>
            <a:ext cx="128016" cy="128016"/>
          </a:xfrm>
          <a:prstGeom prst="ellipse">
            <a:avLst/>
          </a:prstGeom>
          <a:solidFill>
            <a:srgbClr val="C9D1DA"/>
          </a:solidFill>
          <a:ln/>
        </p:spPr>
        <p:txBody>
          <a:bodyPr/>
          <a:lstStyle/>
          <a:p>
            <a:endParaRPr lang="nl-NL"/>
          </a:p>
        </p:txBody>
      </p:sp>
      <p:sp>
        <p:nvSpPr>
          <p:cNvPr id="35"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6" name="!!rd_act"/>
          <p:cNvSpPr/>
          <p:nvPr/>
        </p:nvSpPr>
        <p:spPr>
          <a:xfrm>
            <a:off x="5166360" y="6391656"/>
            <a:ext cx="219456" cy="219456"/>
          </a:xfrm>
          <a:prstGeom prst="ellipse">
            <a:avLst/>
          </a:prstGeom>
          <a:solidFill>
            <a:srgbClr val="E07A3F"/>
          </a:solidFill>
          <a:ln w="25400">
            <a:solidFill>
              <a:srgbClr val="FFFFFF"/>
            </a:solidFill>
            <a:prstDash val="solid"/>
          </a:ln>
        </p:spPr>
        <p:txBody>
          <a:bodyPr/>
          <a:lstStyle/>
          <a:p>
            <a:endParaRPr lang="nl-NL"/>
          </a:p>
        </p:txBody>
      </p:sp>
      <p:sp>
        <p:nvSpPr>
          <p:cNvPr id="37" name="s35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8" name="s35_tv_dot"/>
          <p:cNvSpPr/>
          <p:nvPr/>
        </p:nvSpPr>
        <p:spPr>
          <a:xfrm>
            <a:off x="8979408" y="6373368"/>
            <a:ext cx="256032" cy="256032"/>
          </a:xfrm>
          <a:prstGeom prst="ellipse">
            <a:avLst/>
          </a:prstGeom>
          <a:solidFill>
            <a:srgbClr val="2F7BB5"/>
          </a:solidFill>
          <a:ln/>
        </p:spPr>
        <p:txBody>
          <a:bodyPr/>
          <a:lstStyle/>
          <a:p>
            <a:endParaRPr lang="nl-NL"/>
          </a:p>
        </p:txBody>
      </p:sp>
      <p:pic>
        <p:nvPicPr>
          <p:cNvPr id="39" name="s35_tv_play" descr="play_w">
            <a:hlinkClick r:id="rId8" tooltip="Open op Schooltv"/>
          </p:cNvPr>
          <p:cNvPicPr>
            <a:picLocks noChangeAspect="1"/>
          </p:cNvPicPr>
          <p:nvPr/>
        </p:nvPicPr>
        <p:blipFill>
          <a:blip r:embed="rId9"/>
          <a:stretch>
            <a:fillRect/>
          </a:stretch>
        </p:blipFill>
        <p:spPr>
          <a:xfrm>
            <a:off x="9052560" y="6437376"/>
            <a:ext cx="128016" cy="128016"/>
          </a:xfrm>
          <a:prstGeom prst="rect">
            <a:avLst/>
          </a:prstGeom>
        </p:spPr>
      </p:pic>
      <p:sp>
        <p:nvSpPr>
          <p:cNvPr id="40" name="s35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8" tooltip="Open op Schooltv">
                  <a:extLst>
                    <a:ext uri="{A12FA001-AC4F-418D-AE19-62706E023703}">
                      <ahyp:hlinkClr xmlns:ahyp="http://schemas.microsoft.com/office/drawing/2018/hyperlinkcolor" val="tx"/>
                    </a:ext>
                  </a:extLst>
                </a:hlinkClick>
              </a:rPr>
              <a:t>Schooltv: Opkomst supermarkt</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1"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 dur="275"/>
                                        <p:tgtEl>
                                          <p:spTgt spid="9"/>
                                        </p:tgtEl>
                                      </p:cBhvr>
                                    </p:animEffect>
                                  </p:childTnLst>
                                </p:cTn>
                              </p:par>
                              <p:par>
                                <p:cTn id="13" presetID="53" presetClass="entr" presetSubtype="1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6"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7" dur="275"/>
                                        <p:tgtEl>
                                          <p:spTgt spid="10"/>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5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1" dur="55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2" dur="275"/>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650"/>
                                        <p:tgtEl>
                                          <p:spTgt spid="15"/>
                                        </p:tgtEl>
                                      </p:cBhvr>
                                    </p:animEffect>
                                  </p:childTnLst>
                                </p:cTn>
                              </p:par>
                            </p:childTnLst>
                          </p:cTn>
                        </p:par>
                        <p:par>
                          <p:cTn id="28" fill="hold">
                            <p:stCondLst>
                              <p:cond delay="650"/>
                            </p:stCondLst>
                            <p:childTnLst>
                              <p:par>
                                <p:cTn id="29" presetID="53" presetClass="entr" presetSubtype="16"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2"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3" dur="275"/>
                                        <p:tgtEl>
                                          <p:spTgt spid="12"/>
                                        </p:tgtEl>
                                      </p:cBhvr>
                                    </p:animEffect>
                                  </p:childTnLst>
                                </p:cTn>
                              </p:par>
                              <p:par>
                                <p:cTn id="34" presetID="53" presetClass="entr" presetSubtype="16"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7"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8" dur="275"/>
                                        <p:tgtEl>
                                          <p:spTgt spid="13"/>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2"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3" dur="275"/>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650"/>
                                        <p:tgtEl>
                                          <p:spTgt spid="19"/>
                                        </p:tgtEl>
                                      </p:cBhvr>
                                    </p:animEffect>
                                  </p:childTnLst>
                                </p:cTn>
                              </p:par>
                            </p:childTnLst>
                          </p:cTn>
                        </p:par>
                        <p:par>
                          <p:cTn id="49" fill="hold">
                            <p:stCondLst>
                              <p:cond delay="650"/>
                            </p:stCondLst>
                            <p:childTnLst>
                              <p:par>
                                <p:cTn id="50" presetID="53" presetClass="entr" presetSubtype="16"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3"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4" dur="275"/>
                                        <p:tgtEl>
                                          <p:spTgt spid="16"/>
                                        </p:tgtEl>
                                      </p:cBhvr>
                                    </p:animEffect>
                                  </p:childTnLst>
                                </p:cTn>
                              </p:par>
                              <p:par>
                                <p:cTn id="55" presetID="53" presetClass="entr" presetSubtype="16"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8"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9" dur="275"/>
                                        <p:tgtEl>
                                          <p:spTgt spid="17"/>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3"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4" dur="275"/>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70" dur="600" decel="100000" fill="hold"/>
                                        <p:tgtEl>
                                          <p:spTgt spid="20"/>
                                        </p:tgtEl>
                                        <p:attrNameLst>
                                          <p:attrName>ppt_y</p:attrName>
                                        </p:attrNameLst>
                                      </p:cBhvr>
                                      <p:tavLst>
                                        <p:tav tm="0">
                                          <p:val>
                                            <p:strVal val="#ppt_y+0.3"/>
                                          </p:val>
                                        </p:tav>
                                        <p:tav tm="100000">
                                          <p:val>
                                            <p:strVal val="#ppt_y"/>
                                          </p:val>
                                        </p:tav>
                                      </p:tavLst>
                                    </p:anim>
                                    <p:animEffect transition="in" filter="fade">
                                      <p:cBhvr>
                                        <p:cTn id="71" dur="420"/>
                                        <p:tgtEl>
                                          <p:spTgt spid="20"/>
                                        </p:tgtEl>
                                      </p:cBhvr>
                                    </p:animEffect>
                                  </p:childTnLst>
                                </p:cTn>
                              </p:par>
                              <p:par>
                                <p:cTn id="72" presetID="2" presetClass="entr" presetSubtype="4" fill="hold" nodeType="with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5" dur="600" decel="100000" fill="hold"/>
                                        <p:tgtEl>
                                          <p:spTgt spid="21"/>
                                        </p:tgtEl>
                                        <p:attrNameLst>
                                          <p:attrName>ppt_y</p:attrName>
                                        </p:attrNameLst>
                                      </p:cBhvr>
                                      <p:tavLst>
                                        <p:tav tm="0">
                                          <p:val>
                                            <p:strVal val="#ppt_y+0.3"/>
                                          </p:val>
                                        </p:tav>
                                        <p:tav tm="100000">
                                          <p:val>
                                            <p:strVal val="#ppt_y"/>
                                          </p:val>
                                        </p:tav>
                                      </p:tavLst>
                                    </p:anim>
                                    <p:animEffect transition="in" filter="fade">
                                      <p:cBhvr>
                                        <p:cTn id="76" dur="420"/>
                                        <p:tgtEl>
                                          <p:spTgt spid="21"/>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0" dur="600" decel="100000" fill="hold"/>
                                        <p:tgtEl>
                                          <p:spTgt spid="22"/>
                                        </p:tgtEl>
                                        <p:attrNameLst>
                                          <p:attrName>ppt_y</p:attrName>
                                        </p:attrNameLst>
                                      </p:cBhvr>
                                      <p:tavLst>
                                        <p:tav tm="0">
                                          <p:val>
                                            <p:strVal val="#ppt_y+0.3"/>
                                          </p:val>
                                        </p:tav>
                                        <p:tav tm="100000">
                                          <p:val>
                                            <p:strVal val="#ppt_y"/>
                                          </p:val>
                                        </p:tav>
                                      </p:tavLst>
                                    </p:anim>
                                    <p:animEffect transition="in" filter="fade">
                                      <p:cBhvr>
                                        <p:cTn id="81" dur="420"/>
                                        <p:tgtEl>
                                          <p:spTgt spid="22"/>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5" dur="600" decel="100000" fill="hold"/>
                                        <p:tgtEl>
                                          <p:spTgt spid="23"/>
                                        </p:tgtEl>
                                        <p:attrNameLst>
                                          <p:attrName>ppt_y</p:attrName>
                                        </p:attrNameLst>
                                      </p:cBhvr>
                                      <p:tavLst>
                                        <p:tav tm="0">
                                          <p:val>
                                            <p:strVal val="#ppt_y+0.3"/>
                                          </p:val>
                                        </p:tav>
                                        <p:tav tm="100000">
                                          <p:val>
                                            <p:strVal val="#ppt_y"/>
                                          </p:val>
                                        </p:tav>
                                      </p:tavLst>
                                    </p:anim>
                                    <p:animEffect transition="in" filter="fade">
                                      <p:cBhvr>
                                        <p:cTn id="86" dur="42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OVERZICHT · HOOFDSTUK 4</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a:t>
            </a:r>
            <a:endParaRPr lang="nl-NL" sz="3400" dirty="0"/>
          </a:p>
        </p:txBody>
      </p:sp>
      <p:sp>
        <p:nvSpPr>
          <p:cNvPr id="4" name="!!hv"/>
          <p:cNvSpPr txBox="1"/>
          <p:nvPr/>
        </p:nvSpPr>
        <p:spPr>
          <a:xfrm>
            <a:off x="566928" y="1024128"/>
            <a:ext cx="10058400" cy="365760"/>
          </a:xfrm>
          <a:prstGeom prst="rect">
            <a:avLst/>
          </a:prstGeom>
          <a:noFill/>
          <a:ln/>
        </p:spPr>
        <p:txBody>
          <a:bodyPr wrap="square" lIns="0" tIns="0" rIns="0" bIns="0" rtlCol="0" anchor="t"/>
          <a:lstStyle/>
          <a:p>
            <a:pPr marL="0" indent="0" algn="l">
              <a:buNone/>
            </a:pPr>
            <a:r>
              <a:rPr lang="nl-NL" sz="1900" b="1" dirty="0">
                <a:solidFill>
                  <a:srgbClr val="F28C38"/>
                </a:solidFill>
                <a:latin typeface="Calibri" pitchFamily="34" charset="0"/>
                <a:ea typeface="Calibri" pitchFamily="34" charset="-122"/>
                <a:cs typeface="Calibri" pitchFamily="34" charset="-120"/>
              </a:rPr>
              <a:t>Hoofdvraag: </a:t>
            </a:r>
            <a:r>
              <a:rPr lang="nl-NL" sz="1900" dirty="0">
                <a:solidFill>
                  <a:srgbClr val="5B6B7B"/>
                </a:solidFill>
                <a:latin typeface="Calibri" pitchFamily="34" charset="0"/>
                <a:ea typeface="Calibri" pitchFamily="34" charset="-122"/>
                <a:cs typeface="Calibri" pitchFamily="34" charset="-120"/>
              </a:rPr>
              <a:t>Hoe ontwikkelde de Nederlandse economie zich na de jaren dertig?</a:t>
            </a:r>
            <a:endParaRPr lang="nl-NL" sz="1900" dirty="0"/>
          </a:p>
        </p:txBody>
      </p:sp>
      <p:sp>
        <p:nvSpPr>
          <p:cNvPr id="5" name="!!seg0"/>
          <p:cNvSpPr/>
          <p:nvPr/>
        </p:nvSpPr>
        <p:spPr>
          <a:xfrm>
            <a:off x="1572768" y="2788920"/>
            <a:ext cx="2267712" cy="1737360"/>
          </a:xfrm>
          <a:prstGeom prst="line">
            <a:avLst/>
          </a:prstGeom>
          <a:noFill/>
          <a:ln w="38100">
            <a:solidFill>
              <a:srgbClr val="F28C38"/>
            </a:solidFill>
            <a:prstDash val="dash"/>
          </a:ln>
        </p:spPr>
        <p:txBody>
          <a:bodyPr/>
          <a:lstStyle/>
          <a:p>
            <a:endParaRPr lang="nl-NL"/>
          </a:p>
        </p:txBody>
      </p:sp>
      <p:sp>
        <p:nvSpPr>
          <p:cNvPr id="6" name="!!seg1"/>
          <p:cNvSpPr/>
          <p:nvPr/>
        </p:nvSpPr>
        <p:spPr>
          <a:xfrm flipV="1">
            <a:off x="3840480" y="2788920"/>
            <a:ext cx="2258568" cy="1737360"/>
          </a:xfrm>
          <a:prstGeom prst="line">
            <a:avLst/>
          </a:prstGeom>
          <a:noFill/>
          <a:ln w="38100">
            <a:solidFill>
              <a:srgbClr val="F28C38"/>
            </a:solidFill>
            <a:prstDash val="dash"/>
          </a:ln>
        </p:spPr>
        <p:txBody>
          <a:bodyPr/>
          <a:lstStyle/>
          <a:p>
            <a:endParaRPr lang="nl-NL"/>
          </a:p>
        </p:txBody>
      </p:sp>
      <p:sp>
        <p:nvSpPr>
          <p:cNvPr id="7" name="!!seg2"/>
          <p:cNvSpPr/>
          <p:nvPr/>
        </p:nvSpPr>
        <p:spPr>
          <a:xfrm>
            <a:off x="6099048" y="2788920"/>
            <a:ext cx="2258568" cy="1737360"/>
          </a:xfrm>
          <a:prstGeom prst="line">
            <a:avLst/>
          </a:prstGeom>
          <a:noFill/>
          <a:ln w="38100">
            <a:solidFill>
              <a:srgbClr val="F28C38"/>
            </a:solidFill>
            <a:prstDash val="dash"/>
          </a:ln>
        </p:spPr>
        <p:txBody>
          <a:bodyPr/>
          <a:lstStyle/>
          <a:p>
            <a:endParaRPr lang="nl-NL"/>
          </a:p>
        </p:txBody>
      </p:sp>
      <p:sp>
        <p:nvSpPr>
          <p:cNvPr id="8" name="!!seg3"/>
          <p:cNvSpPr/>
          <p:nvPr/>
        </p:nvSpPr>
        <p:spPr>
          <a:xfrm flipV="1">
            <a:off x="8357616" y="2788920"/>
            <a:ext cx="2258568" cy="1737360"/>
          </a:xfrm>
          <a:prstGeom prst="line">
            <a:avLst/>
          </a:prstGeom>
          <a:noFill/>
          <a:ln w="38100">
            <a:solidFill>
              <a:srgbClr val="F28C38"/>
            </a:solidFill>
            <a:prstDash val="dash"/>
          </a:ln>
        </p:spPr>
        <p:txBody>
          <a:bodyPr/>
          <a:lstStyle/>
          <a:p>
            <a:endParaRPr lang="nl-NL"/>
          </a:p>
        </p:txBody>
      </p:sp>
      <p:sp>
        <p:nvSpPr>
          <p:cNvPr id="9" name="!!tframe1"/>
          <p:cNvSpPr/>
          <p:nvPr/>
        </p:nvSpPr>
        <p:spPr>
          <a:xfrm>
            <a:off x="466344" y="2147139"/>
            <a:ext cx="2212848" cy="1283562"/>
          </a:xfrm>
          <a:prstGeom prst="roundRect">
            <a:avLst>
              <a:gd name="adj" fmla="val 427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0" name="!!tile1" descr="info_oorlog">
            <a:hlinkClick r:id="rId3" action="ppaction://hlinksldjump" tooltip="Ga naar Oorlog"/>
          </p:cNvPr>
          <p:cNvPicPr>
            <a:picLocks noChangeAspect="1"/>
          </p:cNvPicPr>
          <p:nvPr/>
        </p:nvPicPr>
        <p:blipFill>
          <a:blip r:embed="rId4"/>
          <a:stretch>
            <a:fillRect/>
          </a:stretch>
        </p:blipFill>
        <p:spPr>
          <a:xfrm>
            <a:off x="521208" y="2202003"/>
            <a:ext cx="2103120" cy="1173834"/>
          </a:xfrm>
          <a:prstGeom prst="rect">
            <a:avLst/>
          </a:prstGeom>
        </p:spPr>
      </p:pic>
      <p:sp>
        <p:nvSpPr>
          <p:cNvPr id="11" name="!!tnum1"/>
          <p:cNvSpPr/>
          <p:nvPr/>
        </p:nvSpPr>
        <p:spPr>
          <a:xfrm>
            <a:off x="521208" y="1497915"/>
            <a:ext cx="384048" cy="384048"/>
          </a:xfrm>
          <a:prstGeom prst="ellipse">
            <a:avLst/>
          </a:prstGeom>
          <a:solidFill>
            <a:srgbClr val="5B6B82"/>
          </a:solidFill>
          <a:ln/>
        </p:spPr>
        <p:txBody>
          <a:bodyPr/>
          <a:lstStyle/>
          <a:p>
            <a:endParaRPr lang="nl-NL"/>
          </a:p>
        </p:txBody>
      </p:sp>
      <p:sp>
        <p:nvSpPr>
          <p:cNvPr id="12" name="!!tnumt1"/>
          <p:cNvSpPr txBox="1"/>
          <p:nvPr/>
        </p:nvSpPr>
        <p:spPr>
          <a:xfrm>
            <a:off x="521208" y="1497915"/>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1</a:t>
            </a:r>
            <a:endParaRPr lang="nl-NL" sz="1600" dirty="0"/>
          </a:p>
        </p:txBody>
      </p:sp>
      <p:sp>
        <p:nvSpPr>
          <p:cNvPr id="13" name="!!tlbl1"/>
          <p:cNvSpPr txBox="1"/>
          <p:nvPr/>
        </p:nvSpPr>
        <p:spPr>
          <a:xfrm>
            <a:off x="996696" y="1452195"/>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Oorlog</a:t>
            </a:r>
            <a:endParaRPr lang="nl-NL" sz="1700" dirty="0"/>
          </a:p>
        </p:txBody>
      </p:sp>
      <p:sp>
        <p:nvSpPr>
          <p:cNvPr id="14" name="!!tyr1"/>
          <p:cNvSpPr txBox="1"/>
          <p:nvPr/>
        </p:nvSpPr>
        <p:spPr>
          <a:xfrm>
            <a:off x="996696" y="1726515"/>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15" name="!!chk1"/>
          <p:cNvSpPr/>
          <p:nvPr/>
        </p:nvSpPr>
        <p:spPr>
          <a:xfrm>
            <a:off x="2350008" y="2000835"/>
            <a:ext cx="457200" cy="457200"/>
          </a:xfrm>
          <a:prstGeom prst="ellipse">
            <a:avLst/>
          </a:prstGeom>
          <a:solidFill>
            <a:srgbClr val="2E8B74"/>
          </a:solidFill>
          <a:ln w="31750">
            <a:solidFill>
              <a:srgbClr val="FFFFFF"/>
            </a:solidFill>
            <a:prstDash val="solid"/>
          </a:ln>
        </p:spPr>
        <p:txBody>
          <a:bodyPr/>
          <a:lstStyle/>
          <a:p>
            <a:endParaRPr lang="nl-NL"/>
          </a:p>
        </p:txBody>
      </p:sp>
      <p:pic>
        <p:nvPicPr>
          <p:cNvPr id="16" name="!!chki1" descr="check_w"/>
          <p:cNvPicPr>
            <a:picLocks noChangeAspect="1"/>
          </p:cNvPicPr>
          <p:nvPr/>
        </p:nvPicPr>
        <p:blipFill>
          <a:blip r:embed="rId5"/>
          <a:stretch>
            <a:fillRect/>
          </a:stretch>
        </p:blipFill>
        <p:spPr>
          <a:xfrm>
            <a:off x="2459736" y="2110563"/>
            <a:ext cx="237744" cy="237744"/>
          </a:xfrm>
          <a:prstGeom prst="rect">
            <a:avLst/>
          </a:prstGeom>
        </p:spPr>
      </p:pic>
      <p:sp>
        <p:nvSpPr>
          <p:cNvPr id="17" name="!!tframe2"/>
          <p:cNvSpPr/>
          <p:nvPr/>
        </p:nvSpPr>
        <p:spPr>
          <a:xfrm>
            <a:off x="2734056"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8" name="!!tile2" descr="rotterdam_169">
            <a:hlinkClick r:id="rId6" action="ppaction://hlinksldjump" tooltip="Ga naar Wederopbouw"/>
          </p:cNvPr>
          <p:cNvPicPr>
            <a:picLocks noChangeAspect="1"/>
          </p:cNvPicPr>
          <p:nvPr/>
        </p:nvPicPr>
        <p:blipFill>
          <a:blip r:embed="rId7"/>
          <a:stretch>
            <a:fillRect/>
          </a:stretch>
        </p:blipFill>
        <p:spPr>
          <a:xfrm>
            <a:off x="2788920" y="3934778"/>
            <a:ext cx="2103120" cy="1183005"/>
          </a:xfrm>
          <a:prstGeom prst="rect">
            <a:avLst/>
          </a:prstGeom>
        </p:spPr>
      </p:pic>
      <p:sp>
        <p:nvSpPr>
          <p:cNvPr id="19" name="!!tnum2"/>
          <p:cNvSpPr/>
          <p:nvPr/>
        </p:nvSpPr>
        <p:spPr>
          <a:xfrm>
            <a:off x="2788920" y="5318951"/>
            <a:ext cx="384048" cy="384048"/>
          </a:xfrm>
          <a:prstGeom prst="ellipse">
            <a:avLst/>
          </a:prstGeom>
          <a:solidFill>
            <a:srgbClr val="2E8B74"/>
          </a:solidFill>
          <a:ln/>
        </p:spPr>
        <p:txBody>
          <a:bodyPr/>
          <a:lstStyle/>
          <a:p>
            <a:endParaRPr lang="nl-NL"/>
          </a:p>
        </p:txBody>
      </p:sp>
      <p:sp>
        <p:nvSpPr>
          <p:cNvPr id="20" name="!!tnumt2"/>
          <p:cNvSpPr txBox="1"/>
          <p:nvPr/>
        </p:nvSpPr>
        <p:spPr>
          <a:xfrm>
            <a:off x="2788920"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2</a:t>
            </a:r>
            <a:endParaRPr lang="nl-NL" sz="1600" dirty="0"/>
          </a:p>
        </p:txBody>
      </p:sp>
      <p:sp>
        <p:nvSpPr>
          <p:cNvPr id="21" name="!!tlbl2"/>
          <p:cNvSpPr txBox="1"/>
          <p:nvPr/>
        </p:nvSpPr>
        <p:spPr>
          <a:xfrm>
            <a:off x="3264408"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Wederopbouw</a:t>
            </a:r>
            <a:endParaRPr lang="nl-NL" sz="1700" dirty="0"/>
          </a:p>
        </p:txBody>
      </p:sp>
      <p:sp>
        <p:nvSpPr>
          <p:cNvPr id="22" name="!!tyr2"/>
          <p:cNvSpPr txBox="1"/>
          <p:nvPr/>
        </p:nvSpPr>
        <p:spPr>
          <a:xfrm>
            <a:off x="3264408"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23" name="!!chk2"/>
          <p:cNvSpPr/>
          <p:nvPr/>
        </p:nvSpPr>
        <p:spPr>
          <a:xfrm>
            <a:off x="4617720" y="3733610"/>
            <a:ext cx="457200" cy="457200"/>
          </a:xfrm>
          <a:prstGeom prst="ellipse">
            <a:avLst/>
          </a:prstGeom>
          <a:solidFill>
            <a:srgbClr val="2E8B74"/>
          </a:solidFill>
          <a:ln w="31750">
            <a:solidFill>
              <a:srgbClr val="FFFFFF"/>
            </a:solidFill>
            <a:prstDash val="solid"/>
          </a:ln>
        </p:spPr>
        <p:txBody>
          <a:bodyPr/>
          <a:lstStyle/>
          <a:p>
            <a:endParaRPr lang="nl-NL"/>
          </a:p>
        </p:txBody>
      </p:sp>
      <p:pic>
        <p:nvPicPr>
          <p:cNvPr id="24" name="!!chki2" descr="check_w"/>
          <p:cNvPicPr>
            <a:picLocks noChangeAspect="1"/>
          </p:cNvPicPr>
          <p:nvPr/>
        </p:nvPicPr>
        <p:blipFill>
          <a:blip r:embed="rId5"/>
          <a:stretch>
            <a:fillRect/>
          </a:stretch>
        </p:blipFill>
        <p:spPr>
          <a:xfrm>
            <a:off x="4727448" y="3843338"/>
            <a:ext cx="237744" cy="237744"/>
          </a:xfrm>
          <a:prstGeom prst="rect">
            <a:avLst/>
          </a:prstGeom>
        </p:spPr>
      </p:pic>
      <p:sp>
        <p:nvSpPr>
          <p:cNvPr id="25" name="!!tframe3"/>
          <p:cNvSpPr/>
          <p:nvPr/>
        </p:nvSpPr>
        <p:spPr>
          <a:xfrm>
            <a:off x="4992624"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6" name="!!tile3" descr="woonkamer_169">
            <a:hlinkClick r:id="rId8" action="ppaction://hlinksldjump" tooltip="Ga naar Welvaart"/>
          </p:cNvPr>
          <p:cNvPicPr>
            <a:picLocks noChangeAspect="1"/>
          </p:cNvPicPr>
          <p:nvPr/>
        </p:nvPicPr>
        <p:blipFill>
          <a:blip r:embed="rId9"/>
          <a:stretch>
            <a:fillRect/>
          </a:stretch>
        </p:blipFill>
        <p:spPr>
          <a:xfrm>
            <a:off x="5047488" y="2197417"/>
            <a:ext cx="2103120" cy="1183005"/>
          </a:xfrm>
          <a:prstGeom prst="rect">
            <a:avLst/>
          </a:prstGeom>
        </p:spPr>
      </p:pic>
      <p:sp>
        <p:nvSpPr>
          <p:cNvPr id="27" name="!!tnum3"/>
          <p:cNvSpPr/>
          <p:nvPr/>
        </p:nvSpPr>
        <p:spPr>
          <a:xfrm>
            <a:off x="5047488" y="1493330"/>
            <a:ext cx="384048" cy="384048"/>
          </a:xfrm>
          <a:prstGeom prst="ellipse">
            <a:avLst/>
          </a:prstGeom>
          <a:solidFill>
            <a:srgbClr val="E07A3F"/>
          </a:solidFill>
          <a:ln/>
        </p:spPr>
        <p:txBody>
          <a:bodyPr/>
          <a:lstStyle/>
          <a:p>
            <a:endParaRPr lang="nl-NL"/>
          </a:p>
        </p:txBody>
      </p:sp>
      <p:sp>
        <p:nvSpPr>
          <p:cNvPr id="28" name="!!tnumt3"/>
          <p:cNvSpPr txBox="1"/>
          <p:nvPr/>
        </p:nvSpPr>
        <p:spPr>
          <a:xfrm>
            <a:off x="5047488"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3</a:t>
            </a:r>
            <a:endParaRPr lang="nl-NL" sz="1600" dirty="0"/>
          </a:p>
        </p:txBody>
      </p:sp>
      <p:sp>
        <p:nvSpPr>
          <p:cNvPr id="29" name="!!tlbl3"/>
          <p:cNvSpPr txBox="1"/>
          <p:nvPr/>
        </p:nvSpPr>
        <p:spPr>
          <a:xfrm>
            <a:off x="5522976"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Welvaart</a:t>
            </a:r>
            <a:endParaRPr lang="nl-NL" sz="1700" dirty="0"/>
          </a:p>
        </p:txBody>
      </p:sp>
      <p:sp>
        <p:nvSpPr>
          <p:cNvPr id="30" name="!!tyr3"/>
          <p:cNvSpPr txBox="1"/>
          <p:nvPr/>
        </p:nvSpPr>
        <p:spPr>
          <a:xfrm>
            <a:off x="5522976"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31" name="!!chk3"/>
          <p:cNvSpPr/>
          <p:nvPr/>
        </p:nvSpPr>
        <p:spPr>
          <a:xfrm>
            <a:off x="6876288" y="1996249"/>
            <a:ext cx="457200" cy="457200"/>
          </a:xfrm>
          <a:prstGeom prst="ellipse">
            <a:avLst/>
          </a:prstGeom>
          <a:solidFill>
            <a:srgbClr val="2E8B74"/>
          </a:solidFill>
          <a:ln w="31750">
            <a:solidFill>
              <a:srgbClr val="FFFFFF"/>
            </a:solidFill>
            <a:prstDash val="solid"/>
          </a:ln>
        </p:spPr>
        <p:txBody>
          <a:bodyPr/>
          <a:lstStyle/>
          <a:p>
            <a:endParaRPr lang="nl-NL"/>
          </a:p>
        </p:txBody>
      </p:sp>
      <p:pic>
        <p:nvPicPr>
          <p:cNvPr id="32" name="!!chki3" descr="check_w"/>
          <p:cNvPicPr>
            <a:picLocks noChangeAspect="1"/>
          </p:cNvPicPr>
          <p:nvPr/>
        </p:nvPicPr>
        <p:blipFill>
          <a:blip r:embed="rId5"/>
          <a:stretch>
            <a:fillRect/>
          </a:stretch>
        </p:blipFill>
        <p:spPr>
          <a:xfrm>
            <a:off x="6986016" y="2105977"/>
            <a:ext cx="237744" cy="237744"/>
          </a:xfrm>
          <a:prstGeom prst="rect">
            <a:avLst/>
          </a:prstGeom>
        </p:spPr>
      </p:pic>
      <p:sp>
        <p:nvSpPr>
          <p:cNvPr id="33" name="!!tframe4"/>
          <p:cNvSpPr/>
          <p:nvPr/>
        </p:nvSpPr>
        <p:spPr>
          <a:xfrm>
            <a:off x="7251192"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4" name="!!tile4" descr="robots_169">
            <a:hlinkClick r:id="rId10" action="ppaction://hlinksldjump" tooltip="Ga naar Crisis"/>
          </p:cNvPr>
          <p:cNvPicPr>
            <a:picLocks noChangeAspect="1"/>
          </p:cNvPicPr>
          <p:nvPr/>
        </p:nvPicPr>
        <p:blipFill>
          <a:blip r:embed="rId11"/>
          <a:stretch>
            <a:fillRect/>
          </a:stretch>
        </p:blipFill>
        <p:spPr>
          <a:xfrm>
            <a:off x="7306056" y="3934778"/>
            <a:ext cx="2103120" cy="1183005"/>
          </a:xfrm>
          <a:prstGeom prst="rect">
            <a:avLst/>
          </a:prstGeom>
        </p:spPr>
      </p:pic>
      <p:sp>
        <p:nvSpPr>
          <p:cNvPr id="35" name="!!tnum4"/>
          <p:cNvSpPr/>
          <p:nvPr/>
        </p:nvSpPr>
        <p:spPr>
          <a:xfrm>
            <a:off x="7306056" y="5318951"/>
            <a:ext cx="384048" cy="384048"/>
          </a:xfrm>
          <a:prstGeom prst="ellipse">
            <a:avLst/>
          </a:prstGeom>
          <a:solidFill>
            <a:srgbClr val="8A5A83"/>
          </a:solidFill>
          <a:ln/>
        </p:spPr>
        <p:txBody>
          <a:bodyPr/>
          <a:lstStyle/>
          <a:p>
            <a:endParaRPr lang="nl-NL"/>
          </a:p>
        </p:txBody>
      </p:sp>
      <p:sp>
        <p:nvSpPr>
          <p:cNvPr id="36" name="!!tnumt4"/>
          <p:cNvSpPr txBox="1"/>
          <p:nvPr/>
        </p:nvSpPr>
        <p:spPr>
          <a:xfrm>
            <a:off x="7306056"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4</a:t>
            </a:r>
            <a:endParaRPr lang="nl-NL" sz="1600" dirty="0"/>
          </a:p>
        </p:txBody>
      </p:sp>
      <p:sp>
        <p:nvSpPr>
          <p:cNvPr id="37" name="!!tlbl4"/>
          <p:cNvSpPr txBox="1"/>
          <p:nvPr/>
        </p:nvSpPr>
        <p:spPr>
          <a:xfrm>
            <a:off x="7781544"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Crisis</a:t>
            </a:r>
            <a:endParaRPr lang="nl-NL" sz="1700" dirty="0"/>
          </a:p>
        </p:txBody>
      </p:sp>
      <p:sp>
        <p:nvSpPr>
          <p:cNvPr id="38" name="!!tyr4"/>
          <p:cNvSpPr txBox="1"/>
          <p:nvPr/>
        </p:nvSpPr>
        <p:spPr>
          <a:xfrm>
            <a:off x="7781544"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39" name="!!tframe5"/>
          <p:cNvSpPr/>
          <p:nvPr/>
        </p:nvSpPr>
        <p:spPr>
          <a:xfrm>
            <a:off x="9509760"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40" name="!!tile5" descr="haven_169">
            <a:hlinkClick r:id="rId12" action="ppaction://hlinksldjump" tooltip="Ga naar Nederland nu"/>
          </p:cNvPr>
          <p:cNvPicPr>
            <a:picLocks noChangeAspect="1"/>
          </p:cNvPicPr>
          <p:nvPr/>
        </p:nvPicPr>
        <p:blipFill>
          <a:blip r:embed="rId13"/>
          <a:stretch>
            <a:fillRect/>
          </a:stretch>
        </p:blipFill>
        <p:spPr>
          <a:xfrm>
            <a:off x="9564624" y="2197417"/>
            <a:ext cx="2103120" cy="1183005"/>
          </a:xfrm>
          <a:prstGeom prst="rect">
            <a:avLst/>
          </a:prstGeom>
        </p:spPr>
      </p:pic>
      <p:sp>
        <p:nvSpPr>
          <p:cNvPr id="41" name="!!tnum5"/>
          <p:cNvSpPr/>
          <p:nvPr/>
        </p:nvSpPr>
        <p:spPr>
          <a:xfrm>
            <a:off x="9564624" y="1493330"/>
            <a:ext cx="384048" cy="384048"/>
          </a:xfrm>
          <a:prstGeom prst="ellipse">
            <a:avLst/>
          </a:prstGeom>
          <a:solidFill>
            <a:srgbClr val="2F7BB5"/>
          </a:solidFill>
          <a:ln/>
        </p:spPr>
        <p:txBody>
          <a:bodyPr/>
          <a:lstStyle/>
          <a:p>
            <a:endParaRPr lang="nl-NL"/>
          </a:p>
        </p:txBody>
      </p:sp>
      <p:sp>
        <p:nvSpPr>
          <p:cNvPr id="42" name="!!tnumt5"/>
          <p:cNvSpPr txBox="1"/>
          <p:nvPr/>
        </p:nvSpPr>
        <p:spPr>
          <a:xfrm>
            <a:off x="9564624"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5</a:t>
            </a:r>
            <a:endParaRPr lang="nl-NL" sz="1600" dirty="0"/>
          </a:p>
        </p:txBody>
      </p:sp>
      <p:sp>
        <p:nvSpPr>
          <p:cNvPr id="43" name="!!tlbl5"/>
          <p:cNvSpPr txBox="1"/>
          <p:nvPr/>
        </p:nvSpPr>
        <p:spPr>
          <a:xfrm>
            <a:off x="10040112"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Nederland nu</a:t>
            </a:r>
            <a:endParaRPr lang="nl-NL" sz="1700" dirty="0"/>
          </a:p>
        </p:txBody>
      </p:sp>
      <p:sp>
        <p:nvSpPr>
          <p:cNvPr id="44" name="!!tyr5"/>
          <p:cNvSpPr txBox="1"/>
          <p:nvPr/>
        </p:nvSpPr>
        <p:spPr>
          <a:xfrm>
            <a:off x="10040112"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
        <p:nvSpPr>
          <p:cNvPr id="45" name="s36_next"/>
          <p:cNvSpPr/>
          <p:nvPr/>
        </p:nvSpPr>
        <p:spPr>
          <a:xfrm>
            <a:off x="7159752" y="3788474"/>
            <a:ext cx="2395728" cy="1475613"/>
          </a:xfrm>
          <a:prstGeom prst="roundRect">
            <a:avLst>
              <a:gd name="adj" fmla="val 4957"/>
            </a:avLst>
          </a:prstGeom>
          <a:ln w="50800">
            <a:solidFill>
              <a:srgbClr val="F28C38"/>
            </a:solidFill>
            <a:prstDash val="solid"/>
          </a:ln>
        </p:spPr>
        <p:txBody>
          <a:bodyPr/>
          <a:lstStyle/>
          <a:p>
            <a:endParaRPr lang="nl-NL"/>
          </a:p>
        </p:txBody>
      </p:sp>
      <p:sp>
        <p:nvSpPr>
          <p:cNvPr id="46" name="s36_nextchip"/>
          <p:cNvSpPr txBox="1"/>
          <p:nvPr/>
        </p:nvSpPr>
        <p:spPr>
          <a:xfrm>
            <a:off x="7790688" y="3422714"/>
            <a:ext cx="1003808"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VOLGENDE</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50" fill="hold"/>
                                        <p:tgtEl>
                                          <p:spTgt spid="3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3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31"/>
                                        </p:tgtEl>
                                      </p:cBhvr>
                                    </p:animEffect>
                                  </p:childTnLst>
                                </p:cTn>
                              </p:par>
                              <p:par>
                                <p:cTn id="10" presetID="53" presetClass="entr" presetSubtype="16" fill="hold"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50" fill="hold"/>
                                        <p:tgtEl>
                                          <p:spTgt spid="3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3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3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50" fill="hold"/>
                                        <p:tgtEl>
                                          <p:spTgt spid="4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4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4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additive="base">
                                        <p:cTn id="24" dur="550" fill="hold"/>
                                        <p:tgtEl>
                                          <p:spTgt spid="4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4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5" grpId="0" animBg="1"/>
      <p:bldP spid="4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pic>
        <p:nvPicPr>
          <p:cNvPr id="2" name="!!tile4" descr="robots_169"/>
          <p:cNvPicPr>
            <a:picLocks noChangeAspect="1"/>
          </p:cNvPicPr>
          <p:nvPr/>
        </p:nvPicPr>
        <p:blipFill>
          <a:blip r:embed="rId3"/>
          <a:stretch>
            <a:fillRect/>
          </a:stretch>
        </p:blipFill>
        <p:spPr>
          <a:xfrm>
            <a:off x="0" y="0"/>
            <a:ext cx="12191695" cy="6858000"/>
          </a:xfrm>
          <a:prstGeom prst="rect">
            <a:avLst/>
          </a:prstGeom>
        </p:spPr>
      </p:pic>
      <p:sp>
        <p:nvSpPr>
          <p:cNvPr id="3" name="s37_bron"/>
          <p:cNvSpPr txBox="1"/>
          <p:nvPr/>
        </p:nvSpPr>
        <p:spPr>
          <a:xfrm>
            <a:off x="274320" y="6419088"/>
            <a:ext cx="3108960" cy="274320"/>
          </a:xfrm>
          <a:prstGeom prst="roundRect">
            <a:avLst>
              <a:gd name="adj" fmla="val 50000"/>
            </a:avLst>
          </a:prstGeom>
          <a:solidFill>
            <a:srgbClr val="1E2A3A">
              <a:alpha val="60000"/>
            </a:srgbClr>
          </a:solidFill>
          <a:ln/>
        </p:spPr>
        <p:txBody>
          <a:bodyPr wrap="square" lIns="0" tIns="0" rIns="0" bIns="0" rtlCol="0" anchor="ctr"/>
          <a:lstStyle/>
          <a:p>
            <a:pPr marL="0" indent="0" algn="ctr">
              <a:buNone/>
            </a:pPr>
            <a:r>
              <a:rPr lang="nl-NL" sz="1100" dirty="0">
                <a:solidFill>
                  <a:srgbClr val="FFFFFF"/>
                </a:solidFill>
                <a:latin typeface="Calibri" pitchFamily="34" charset="0"/>
                <a:ea typeface="Calibri" pitchFamily="34" charset="-122"/>
                <a:cs typeface="Calibri" pitchFamily="34" charset="-120"/>
              </a:rPr>
              <a:t>Bron 47 · Robots in de auto-industrie</a:t>
            </a:r>
            <a:endParaRPr lang="nl-NL" sz="1100" dirty="0"/>
          </a:p>
        </p:txBody>
      </p:sp>
      <p:sp>
        <p:nvSpPr>
          <p:cNvPr id="4"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8A5A83"/>
                </a:solidFill>
                <a:latin typeface="Calibri" pitchFamily="34" charset="0"/>
                <a:ea typeface="Calibri" pitchFamily="34" charset="-122"/>
                <a:cs typeface="Calibri" pitchFamily="34" charset="-120"/>
              </a:rPr>
              <a:t>4 · CRISIS · JAREN 70</a:t>
            </a:r>
            <a:endParaRPr lang="nl-NL" sz="1200" dirty="0"/>
          </a:p>
        </p:txBody>
      </p:sp>
      <p:sp>
        <p:nvSpPr>
          <p:cNvPr id="6"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400" b="1" dirty="0">
                <a:solidFill>
                  <a:srgbClr val="1E2A3A"/>
                </a:solidFill>
                <a:latin typeface="Calibri" pitchFamily="34" charset="0"/>
                <a:ea typeface="Calibri" pitchFamily="34" charset="-122"/>
                <a:cs typeface="Calibri" pitchFamily="34" charset="-120"/>
              </a:rPr>
              <a:t>Minder werk in de industrie</a:t>
            </a:r>
            <a:endParaRPr lang="nl-NL" sz="2400" dirty="0"/>
          </a:p>
        </p:txBody>
      </p:sp>
      <p:sp>
        <p:nvSpPr>
          <p:cNvPr id="7" name="s37_intro"/>
          <p:cNvSpPr txBox="1"/>
          <p:nvPr/>
        </p:nvSpPr>
        <p:spPr>
          <a:xfrm>
            <a:off x="7927848" y="1572768"/>
            <a:ext cx="3639312" cy="640080"/>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Na 1970 werken steeds minder mensen in de industrie. Twee oorzaken:</a:t>
            </a:r>
            <a:endParaRPr lang="nl-NL" sz="1700" dirty="0"/>
          </a:p>
        </p:txBody>
      </p:sp>
      <p:sp>
        <p:nvSpPr>
          <p:cNvPr id="8" name="s37_oc0"/>
          <p:cNvSpPr/>
          <p:nvPr/>
        </p:nvSpPr>
        <p:spPr>
          <a:xfrm>
            <a:off x="7927848" y="2441448"/>
            <a:ext cx="685800" cy="685800"/>
          </a:xfrm>
          <a:prstGeom prst="ellipse">
            <a:avLst/>
          </a:prstGeom>
          <a:solidFill>
            <a:srgbClr val="8A5A83"/>
          </a:solidFill>
          <a:ln/>
        </p:spPr>
        <p:txBody>
          <a:bodyPr/>
          <a:lstStyle/>
          <a:p>
            <a:endParaRPr lang="nl-NL"/>
          </a:p>
        </p:txBody>
      </p:sp>
      <p:pic>
        <p:nvPicPr>
          <p:cNvPr id="9" name="s37_oi0" descr="globe_w"/>
          <p:cNvPicPr>
            <a:picLocks noChangeAspect="1"/>
          </p:cNvPicPr>
          <p:nvPr/>
        </p:nvPicPr>
        <p:blipFill>
          <a:blip r:embed="rId4"/>
          <a:stretch>
            <a:fillRect/>
          </a:stretch>
        </p:blipFill>
        <p:spPr>
          <a:xfrm>
            <a:off x="8101584" y="2615184"/>
            <a:ext cx="338328" cy="338328"/>
          </a:xfrm>
          <a:prstGeom prst="rect">
            <a:avLst/>
          </a:prstGeom>
        </p:spPr>
      </p:pic>
      <p:sp>
        <p:nvSpPr>
          <p:cNvPr id="10" name="s37_ot0"/>
          <p:cNvSpPr txBox="1"/>
          <p:nvPr/>
        </p:nvSpPr>
        <p:spPr>
          <a:xfrm>
            <a:off x="8796528" y="2551176"/>
            <a:ext cx="2770632" cy="411480"/>
          </a:xfrm>
          <a:prstGeom prst="rect">
            <a:avLst/>
          </a:prstGeom>
          <a:noFill/>
          <a:ln/>
        </p:spPr>
        <p:txBody>
          <a:bodyPr wrap="square" lIns="0" tIns="0" rIns="0" bIns="0" rtlCol="0" anchor="t"/>
          <a:lstStyle/>
          <a:p>
            <a:pPr marL="0" indent="0" algn="l">
              <a:buNone/>
            </a:pPr>
            <a:r>
              <a:rPr lang="nl-NL" sz="1900" b="1" dirty="0">
                <a:solidFill>
                  <a:srgbClr val="8A5A83"/>
                </a:solidFill>
                <a:latin typeface="Calibri" pitchFamily="34" charset="0"/>
                <a:ea typeface="Calibri" pitchFamily="34" charset="-122"/>
                <a:cs typeface="Calibri" pitchFamily="34" charset="-120"/>
              </a:rPr>
              <a:t>1. Concurrentie</a:t>
            </a:r>
            <a:endParaRPr lang="nl-NL" sz="1900" dirty="0"/>
          </a:p>
        </p:txBody>
      </p:sp>
      <p:sp>
        <p:nvSpPr>
          <p:cNvPr id="11" name="s37_od0"/>
          <p:cNvSpPr txBox="1"/>
          <p:nvPr/>
        </p:nvSpPr>
        <p:spPr>
          <a:xfrm>
            <a:off x="8796528" y="2971800"/>
            <a:ext cx="2770632" cy="1188720"/>
          </a:xfrm>
          <a:prstGeom prst="rect">
            <a:avLst/>
          </a:prstGeom>
          <a:noFill/>
          <a:ln/>
        </p:spPr>
        <p:txBody>
          <a:bodyPr wrap="square" lIns="0" tIns="0" rIns="0" bIns="0" rtlCol="0" anchor="t"/>
          <a:lstStyle/>
          <a:p>
            <a:pPr marL="0" indent="0" algn="l">
              <a:buNone/>
            </a:pPr>
            <a:r>
              <a:rPr lang="nl-NL" sz="1600" dirty="0">
                <a:solidFill>
                  <a:srgbClr val="1E2A3A"/>
                </a:solidFill>
                <a:latin typeface="Calibri" pitchFamily="34" charset="0"/>
                <a:ea typeface="Calibri" pitchFamily="34" charset="-122"/>
                <a:cs typeface="Calibri" pitchFamily="34" charset="-120"/>
              </a:rPr>
              <a:t>In andere landen zijn de lonen lager. Scheepsbouw en textiel verdwijnen uit Nederland.</a:t>
            </a:r>
            <a:endParaRPr lang="nl-NL" sz="1600" dirty="0"/>
          </a:p>
        </p:txBody>
      </p:sp>
      <p:sp>
        <p:nvSpPr>
          <p:cNvPr id="12" name="s37_oc1"/>
          <p:cNvSpPr/>
          <p:nvPr/>
        </p:nvSpPr>
        <p:spPr>
          <a:xfrm>
            <a:off x="7927848" y="4315968"/>
            <a:ext cx="685800" cy="685800"/>
          </a:xfrm>
          <a:prstGeom prst="ellipse">
            <a:avLst/>
          </a:prstGeom>
          <a:solidFill>
            <a:srgbClr val="8A5A83"/>
          </a:solidFill>
          <a:ln/>
        </p:spPr>
        <p:txBody>
          <a:bodyPr/>
          <a:lstStyle/>
          <a:p>
            <a:endParaRPr lang="nl-NL"/>
          </a:p>
        </p:txBody>
      </p:sp>
      <p:pic>
        <p:nvPicPr>
          <p:cNvPr id="13" name="s37_oi1" descr="robot_w"/>
          <p:cNvPicPr>
            <a:picLocks noChangeAspect="1"/>
          </p:cNvPicPr>
          <p:nvPr/>
        </p:nvPicPr>
        <p:blipFill>
          <a:blip r:embed="rId5"/>
          <a:stretch>
            <a:fillRect/>
          </a:stretch>
        </p:blipFill>
        <p:spPr>
          <a:xfrm>
            <a:off x="8101584" y="4489704"/>
            <a:ext cx="338328" cy="338328"/>
          </a:xfrm>
          <a:prstGeom prst="rect">
            <a:avLst/>
          </a:prstGeom>
        </p:spPr>
      </p:pic>
      <p:sp>
        <p:nvSpPr>
          <p:cNvPr id="14" name="s37_ot1"/>
          <p:cNvSpPr txBox="1"/>
          <p:nvPr/>
        </p:nvSpPr>
        <p:spPr>
          <a:xfrm>
            <a:off x="8796528" y="4425696"/>
            <a:ext cx="2770632" cy="411480"/>
          </a:xfrm>
          <a:prstGeom prst="rect">
            <a:avLst/>
          </a:prstGeom>
          <a:noFill/>
          <a:ln/>
        </p:spPr>
        <p:txBody>
          <a:bodyPr wrap="square" lIns="0" tIns="0" rIns="0" bIns="0" rtlCol="0" anchor="t"/>
          <a:lstStyle/>
          <a:p>
            <a:pPr marL="0" indent="0" algn="l">
              <a:buNone/>
            </a:pPr>
            <a:r>
              <a:rPr lang="nl-NL" sz="1900" b="1" dirty="0">
                <a:solidFill>
                  <a:srgbClr val="8A5A83"/>
                </a:solidFill>
                <a:latin typeface="Calibri" pitchFamily="34" charset="0"/>
                <a:ea typeface="Calibri" pitchFamily="34" charset="-122"/>
                <a:cs typeface="Calibri" pitchFamily="34" charset="-120"/>
              </a:rPr>
              <a:t>2. Mechanisatie</a:t>
            </a:r>
            <a:endParaRPr lang="nl-NL" sz="1900" dirty="0"/>
          </a:p>
        </p:txBody>
      </p:sp>
      <p:sp>
        <p:nvSpPr>
          <p:cNvPr id="15" name="s37_od1"/>
          <p:cNvSpPr txBox="1"/>
          <p:nvPr/>
        </p:nvSpPr>
        <p:spPr>
          <a:xfrm>
            <a:off x="8796528" y="4846320"/>
            <a:ext cx="2770632" cy="1188720"/>
          </a:xfrm>
          <a:prstGeom prst="rect">
            <a:avLst/>
          </a:prstGeom>
          <a:noFill/>
          <a:ln/>
        </p:spPr>
        <p:txBody>
          <a:bodyPr wrap="square" lIns="0" tIns="0" rIns="0" bIns="0" rtlCol="0" anchor="t"/>
          <a:lstStyle/>
          <a:p>
            <a:pPr marL="0" indent="0" algn="l">
              <a:buNone/>
            </a:pPr>
            <a:r>
              <a:rPr lang="nl-NL" sz="1600" dirty="0">
                <a:solidFill>
                  <a:srgbClr val="1E2A3A"/>
                </a:solidFill>
                <a:latin typeface="Calibri" pitchFamily="34" charset="0"/>
                <a:ea typeface="Calibri" pitchFamily="34" charset="-122"/>
                <a:cs typeface="Calibri" pitchFamily="34" charset="-120"/>
              </a:rPr>
              <a:t>Computers en robots nemen werk over, 24 uur per dag, 7 dagen per week.</a:t>
            </a:r>
            <a:endParaRPr lang="nl-NL" sz="1600" dirty="0"/>
          </a:p>
        </p:txBody>
      </p:sp>
      <p:sp>
        <p:nvSpPr>
          <p:cNvPr id="16"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7"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8" name="!!rd_d1"/>
          <p:cNvSpPr/>
          <p:nvPr/>
        </p:nvSpPr>
        <p:spPr>
          <a:xfrm>
            <a:off x="2944368" y="6437376"/>
            <a:ext cx="128016" cy="128016"/>
          </a:xfrm>
          <a:prstGeom prst="ellipse">
            <a:avLst/>
          </a:prstGeom>
          <a:solidFill>
            <a:srgbClr val="1E2A3A"/>
          </a:solidFill>
          <a:ln/>
        </p:spPr>
        <p:txBody>
          <a:bodyPr/>
          <a:lstStyle/>
          <a:p>
            <a:endParaRPr lang="nl-NL"/>
          </a:p>
        </p:txBody>
      </p:sp>
      <p:sp>
        <p:nvSpPr>
          <p:cNvPr id="19"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0" name="!!rd_d2"/>
          <p:cNvSpPr/>
          <p:nvPr/>
        </p:nvSpPr>
        <p:spPr>
          <a:xfrm>
            <a:off x="4078224" y="6437376"/>
            <a:ext cx="128016" cy="128016"/>
          </a:xfrm>
          <a:prstGeom prst="ellipse">
            <a:avLst/>
          </a:prstGeom>
          <a:solidFill>
            <a:srgbClr val="1E2A3A"/>
          </a:solidFill>
          <a:ln/>
        </p:spPr>
        <p:txBody>
          <a:bodyPr/>
          <a:lstStyle/>
          <a:p>
            <a:endParaRPr lang="nl-NL"/>
          </a:p>
        </p:txBody>
      </p:sp>
      <p:sp>
        <p:nvSpPr>
          <p:cNvPr id="21"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2" name="!!rd_d3"/>
          <p:cNvSpPr/>
          <p:nvPr/>
        </p:nvSpPr>
        <p:spPr>
          <a:xfrm>
            <a:off x="5212080" y="6437376"/>
            <a:ext cx="128016" cy="128016"/>
          </a:xfrm>
          <a:prstGeom prst="ellipse">
            <a:avLst/>
          </a:prstGeom>
          <a:solidFill>
            <a:srgbClr val="1E2A3A"/>
          </a:solidFill>
          <a:ln/>
        </p:spPr>
        <p:txBody>
          <a:bodyPr/>
          <a:lstStyle/>
          <a:p>
            <a:endParaRPr lang="nl-NL"/>
          </a:p>
        </p:txBody>
      </p:sp>
      <p:sp>
        <p:nvSpPr>
          <p:cNvPr id="23"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4" name="!!rd_d4"/>
          <p:cNvSpPr/>
          <p:nvPr/>
        </p:nvSpPr>
        <p:spPr>
          <a:xfrm>
            <a:off x="6345936" y="6437376"/>
            <a:ext cx="128016" cy="128016"/>
          </a:xfrm>
          <a:prstGeom prst="ellipse">
            <a:avLst/>
          </a:prstGeom>
          <a:solidFill>
            <a:srgbClr val="C9D1DA"/>
          </a:solidFill>
          <a:ln/>
        </p:spPr>
        <p:txBody>
          <a:bodyPr/>
          <a:lstStyle/>
          <a:p>
            <a:endParaRPr lang="nl-NL"/>
          </a:p>
        </p:txBody>
      </p:sp>
      <p:sp>
        <p:nvSpPr>
          <p:cNvPr id="25"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b="1" dirty="0">
                <a:solidFill>
                  <a:srgbClr val="8A5A83"/>
                </a:solidFill>
                <a:latin typeface="Calibri" pitchFamily="34" charset="0"/>
                <a:ea typeface="Calibri" pitchFamily="34" charset="-122"/>
                <a:cs typeface="Calibri" pitchFamily="34" charset="-120"/>
              </a:rPr>
              <a:t>Crisis</a:t>
            </a:r>
            <a:endParaRPr lang="nl-NL" sz="1000" dirty="0"/>
          </a:p>
        </p:txBody>
      </p:sp>
      <p:sp>
        <p:nvSpPr>
          <p:cNvPr id="26" name="!!rd_d5"/>
          <p:cNvSpPr/>
          <p:nvPr/>
        </p:nvSpPr>
        <p:spPr>
          <a:xfrm>
            <a:off x="7479792" y="6437376"/>
            <a:ext cx="128016" cy="128016"/>
          </a:xfrm>
          <a:prstGeom prst="ellipse">
            <a:avLst/>
          </a:prstGeom>
          <a:solidFill>
            <a:srgbClr val="C9D1DA"/>
          </a:solidFill>
          <a:ln/>
        </p:spPr>
        <p:txBody>
          <a:bodyPr/>
          <a:lstStyle/>
          <a:p>
            <a:endParaRPr lang="nl-NL"/>
          </a:p>
        </p:txBody>
      </p:sp>
      <p:sp>
        <p:nvSpPr>
          <p:cNvPr id="27"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8" name="!!rd_act"/>
          <p:cNvSpPr/>
          <p:nvPr/>
        </p:nvSpPr>
        <p:spPr>
          <a:xfrm>
            <a:off x="6300216" y="6391656"/>
            <a:ext cx="219456" cy="219456"/>
          </a:xfrm>
          <a:prstGeom prst="ellipse">
            <a:avLst/>
          </a:prstGeom>
          <a:solidFill>
            <a:srgbClr val="8A5A83"/>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5"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6" dur="275"/>
                                        <p:tgtEl>
                                          <p:spTgt spid="8"/>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9"/>
                                        </p:tgtEl>
                                      </p:cBhvr>
                                    </p:animEffect>
                                  </p:childTnLst>
                                </p:cTn>
                              </p:par>
                              <p:par>
                                <p:cTn id="22" presetID="2" presetClass="entr" presetSubtype="2"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600" decel="100000" fill="hold"/>
                                        <p:tgtEl>
                                          <p:spTgt spid="10"/>
                                        </p:tgtEl>
                                        <p:attrNameLst>
                                          <p:attrName>ppt_x</p:attrName>
                                        </p:attrNameLst>
                                      </p:cBhvr>
                                      <p:tavLst>
                                        <p:tav tm="0">
                                          <p:val>
                                            <p:strVal val="#ppt_x+0.35"/>
                                          </p:val>
                                        </p:tav>
                                        <p:tav tm="100000">
                                          <p:val>
                                            <p:strVal val="#ppt_x"/>
                                          </p:val>
                                        </p:tav>
                                      </p:tavLst>
                                    </p:anim>
                                    <p:anim calcmode="lin" valueType="num">
                                      <p:cBhvr additive="base">
                                        <p:cTn id="25" dur="600" decel="100000" fill="hold"/>
                                        <p:tgtEl>
                                          <p:spTgt spid="10"/>
                                        </p:tgtEl>
                                        <p:attrNameLst>
                                          <p:attrName>ppt_y</p:attrName>
                                        </p:attrNameLst>
                                      </p:cBhvr>
                                      <p:tavLst>
                                        <p:tav tm="0">
                                          <p:val>
                                            <p:strVal val="#ppt_y"/>
                                          </p:val>
                                        </p:tav>
                                        <p:tav tm="100000">
                                          <p:val>
                                            <p:strVal val="#ppt_y"/>
                                          </p:val>
                                        </p:tav>
                                      </p:tavLst>
                                    </p:anim>
                                    <p:animEffect transition="in" filter="fade">
                                      <p:cBhvr>
                                        <p:cTn id="26" dur="420"/>
                                        <p:tgtEl>
                                          <p:spTgt spid="10"/>
                                        </p:tgtEl>
                                      </p:cBhvr>
                                    </p:animEffect>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600" decel="100000" fill="hold"/>
                                        <p:tgtEl>
                                          <p:spTgt spid="11"/>
                                        </p:tgtEl>
                                        <p:attrNameLst>
                                          <p:attrName>ppt_x</p:attrName>
                                        </p:attrNameLst>
                                      </p:cBhvr>
                                      <p:tavLst>
                                        <p:tav tm="0">
                                          <p:val>
                                            <p:strVal val="#ppt_x+0.35"/>
                                          </p:val>
                                        </p:tav>
                                        <p:tav tm="100000">
                                          <p:val>
                                            <p:strVal val="#ppt_x"/>
                                          </p:val>
                                        </p:tav>
                                      </p:tavLst>
                                    </p:anim>
                                    <p:anim calcmode="lin" valueType="num">
                                      <p:cBhvr additive="base">
                                        <p:cTn id="30" dur="600" decel="100000" fill="hold"/>
                                        <p:tgtEl>
                                          <p:spTgt spid="11"/>
                                        </p:tgtEl>
                                        <p:attrNameLst>
                                          <p:attrName>ppt_y</p:attrName>
                                        </p:attrNameLst>
                                      </p:cBhvr>
                                      <p:tavLst>
                                        <p:tav tm="0">
                                          <p:val>
                                            <p:strVal val="#ppt_y"/>
                                          </p:val>
                                        </p:tav>
                                        <p:tav tm="100000">
                                          <p:val>
                                            <p:strVal val="#ppt_y"/>
                                          </p:val>
                                        </p:tav>
                                      </p:tavLst>
                                    </p:anim>
                                    <p:animEffect transition="in" filter="fade">
                                      <p:cBhvr>
                                        <p:cTn id="31" dur="42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7"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8" dur="275"/>
                                        <p:tgtEl>
                                          <p:spTgt spid="12"/>
                                        </p:tgtEl>
                                      </p:cBhvr>
                                    </p:animEffect>
                                  </p:childTnLst>
                                </p:cTn>
                              </p:par>
                              <p:par>
                                <p:cTn id="39" presetID="53" presetClass="entr" presetSubtype="16"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2"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3" dur="275"/>
                                        <p:tgtEl>
                                          <p:spTgt spid="13"/>
                                        </p:tgtEl>
                                      </p:cBhvr>
                                    </p:animEffect>
                                  </p:childTnLst>
                                </p:cTn>
                              </p:par>
                              <p:par>
                                <p:cTn id="44" presetID="2" presetClass="entr" presetSubtype="2"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600" decel="100000" fill="hold"/>
                                        <p:tgtEl>
                                          <p:spTgt spid="14"/>
                                        </p:tgtEl>
                                        <p:attrNameLst>
                                          <p:attrName>ppt_x</p:attrName>
                                        </p:attrNameLst>
                                      </p:cBhvr>
                                      <p:tavLst>
                                        <p:tav tm="0">
                                          <p:val>
                                            <p:strVal val="#ppt_x+0.35"/>
                                          </p:val>
                                        </p:tav>
                                        <p:tav tm="100000">
                                          <p:val>
                                            <p:strVal val="#ppt_x"/>
                                          </p:val>
                                        </p:tav>
                                      </p:tavLst>
                                    </p:anim>
                                    <p:anim calcmode="lin" valueType="num">
                                      <p:cBhvr additive="base">
                                        <p:cTn id="47" dur="600" decel="100000" fill="hold"/>
                                        <p:tgtEl>
                                          <p:spTgt spid="14"/>
                                        </p:tgtEl>
                                        <p:attrNameLst>
                                          <p:attrName>ppt_y</p:attrName>
                                        </p:attrNameLst>
                                      </p:cBhvr>
                                      <p:tavLst>
                                        <p:tav tm="0">
                                          <p:val>
                                            <p:strVal val="#ppt_y"/>
                                          </p:val>
                                        </p:tav>
                                        <p:tav tm="100000">
                                          <p:val>
                                            <p:strVal val="#ppt_y"/>
                                          </p:val>
                                        </p:tav>
                                      </p:tavLst>
                                    </p:anim>
                                    <p:animEffect transition="in" filter="fade">
                                      <p:cBhvr>
                                        <p:cTn id="48" dur="420"/>
                                        <p:tgtEl>
                                          <p:spTgt spid="14"/>
                                        </p:tgtEl>
                                      </p:cBhvr>
                                    </p:animEffect>
                                  </p:childTnLst>
                                </p:cTn>
                              </p:par>
                              <p:par>
                                <p:cTn id="49" presetID="2" presetClass="entr" presetSubtype="2"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600" decel="100000" fill="hold"/>
                                        <p:tgtEl>
                                          <p:spTgt spid="15"/>
                                        </p:tgtEl>
                                        <p:attrNameLst>
                                          <p:attrName>ppt_x</p:attrName>
                                        </p:attrNameLst>
                                      </p:cBhvr>
                                      <p:tavLst>
                                        <p:tav tm="0">
                                          <p:val>
                                            <p:strVal val="#ppt_x+0.35"/>
                                          </p:val>
                                        </p:tav>
                                        <p:tav tm="100000">
                                          <p:val>
                                            <p:strVal val="#ppt_x"/>
                                          </p:val>
                                        </p:tav>
                                      </p:tavLst>
                                    </p:anim>
                                    <p:anim calcmode="lin" valueType="num">
                                      <p:cBhvr additive="base">
                                        <p:cTn id="52" dur="600" decel="100000" fill="hold"/>
                                        <p:tgtEl>
                                          <p:spTgt spid="15"/>
                                        </p:tgtEl>
                                        <p:attrNameLst>
                                          <p:attrName>ppt_y</p:attrName>
                                        </p:attrNameLst>
                                      </p:cBhvr>
                                      <p:tavLst>
                                        <p:tav tm="0">
                                          <p:val>
                                            <p:strVal val="#ppt_y"/>
                                          </p:val>
                                        </p:tav>
                                        <p:tav tm="100000">
                                          <p:val>
                                            <p:strVal val="#ppt_y"/>
                                          </p:val>
                                        </p:tav>
                                      </p:tavLst>
                                    </p:anim>
                                    <p:animEffect transition="in" filter="fade">
                                      <p:cBhvr>
                                        <p:cTn id="5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2" name="s38_foto" descr="autoloos_169"/>
          <p:cNvPicPr>
            <a:picLocks noChangeAspect="1"/>
          </p:cNvPicPr>
          <p:nvPr/>
        </p:nvPicPr>
        <p:blipFill>
          <a:blip r:embed="rId3"/>
          <a:stretch>
            <a:fillRect/>
          </a:stretch>
        </p:blipFill>
        <p:spPr>
          <a:xfrm>
            <a:off x="0" y="0"/>
            <a:ext cx="12191695" cy="6858000"/>
          </a:xfrm>
          <a:prstGeom prst="rect">
            <a:avLst/>
          </a:prstGeom>
        </p:spPr>
      </p:pic>
      <p:sp>
        <p:nvSpPr>
          <p:cNvPr id="3" name="s38_ai"/>
          <p:cNvSpPr txBox="1"/>
          <p:nvPr/>
        </p:nvSpPr>
        <p:spPr>
          <a:xfrm>
            <a:off x="274320" y="6473952"/>
            <a:ext cx="1051560" cy="237744"/>
          </a:xfrm>
          <a:prstGeom prst="roundRect">
            <a:avLst>
              <a:gd name="adj" fmla="val 50000"/>
            </a:avLst>
          </a:prstGeom>
          <a:solidFill>
            <a:srgbClr val="1E2A3A">
              <a:alpha val="55000"/>
            </a:srgbClr>
          </a:solidFill>
          <a:ln/>
        </p:spPr>
        <p:txBody>
          <a:bodyPr wrap="square" lIns="0" tIns="0" rIns="0" bIns="0" rtlCol="0" anchor="ctr"/>
          <a:lstStyle/>
          <a:p>
            <a:pPr marL="0" indent="0" algn="ctr">
              <a:buNone/>
            </a:pPr>
            <a:r>
              <a:rPr lang="nl-NL" sz="900" dirty="0">
                <a:solidFill>
                  <a:srgbClr val="FFFFFF"/>
                </a:solidFill>
                <a:latin typeface="Calibri" pitchFamily="34" charset="0"/>
                <a:ea typeface="Calibri" pitchFamily="34" charset="-122"/>
                <a:cs typeface="Calibri" pitchFamily="34" charset="-120"/>
              </a:rPr>
              <a:t>AI-illustratie</a:t>
            </a:r>
            <a:endParaRPr lang="nl-NL" sz="900" dirty="0"/>
          </a:p>
        </p:txBody>
      </p:sp>
      <p:sp>
        <p:nvSpPr>
          <p:cNvPr id="4"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8A5A83"/>
                </a:solidFill>
                <a:latin typeface="Calibri" pitchFamily="34" charset="0"/>
                <a:ea typeface="Calibri" pitchFamily="34" charset="-122"/>
                <a:cs typeface="Calibri" pitchFamily="34" charset="-120"/>
              </a:rPr>
              <a:t>4 · CRISIS · JAREN 70</a:t>
            </a:r>
            <a:endParaRPr lang="nl-NL" sz="1200" dirty="0"/>
          </a:p>
        </p:txBody>
      </p:sp>
      <p:sp>
        <p:nvSpPr>
          <p:cNvPr id="6"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De oliecrisis</a:t>
            </a:r>
            <a:endParaRPr lang="nl-NL" sz="2600" dirty="0"/>
          </a:p>
        </p:txBody>
      </p:sp>
      <p:sp>
        <p:nvSpPr>
          <p:cNvPr id="7" name="s38_bd0"/>
          <p:cNvSpPr/>
          <p:nvPr/>
        </p:nvSpPr>
        <p:spPr>
          <a:xfrm>
            <a:off x="7927848" y="1663446"/>
            <a:ext cx="118872" cy="118872"/>
          </a:xfrm>
          <a:prstGeom prst="ellipse">
            <a:avLst/>
          </a:prstGeom>
          <a:solidFill>
            <a:srgbClr val="F28C38"/>
          </a:solidFill>
          <a:ln/>
        </p:spPr>
        <p:txBody>
          <a:bodyPr/>
          <a:lstStyle/>
          <a:p>
            <a:endParaRPr lang="nl-NL"/>
          </a:p>
        </p:txBody>
      </p:sp>
      <p:sp>
        <p:nvSpPr>
          <p:cNvPr id="8" name="s38_b0"/>
          <p:cNvSpPr txBox="1"/>
          <p:nvPr/>
        </p:nvSpPr>
        <p:spPr>
          <a:xfrm>
            <a:off x="8202168" y="1572768"/>
            <a:ext cx="3364992" cy="83210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1973: enkele Arabische landen leveren tijdelijk geen olie aan Nederland</a:t>
            </a:r>
            <a:endParaRPr lang="nl-NL" sz="1700" dirty="0"/>
          </a:p>
        </p:txBody>
      </p:sp>
      <p:sp>
        <p:nvSpPr>
          <p:cNvPr id="9" name="s38_bd1"/>
          <p:cNvSpPr/>
          <p:nvPr/>
        </p:nvSpPr>
        <p:spPr>
          <a:xfrm>
            <a:off x="7927848" y="2641854"/>
            <a:ext cx="118872" cy="118872"/>
          </a:xfrm>
          <a:prstGeom prst="ellipse">
            <a:avLst/>
          </a:prstGeom>
          <a:solidFill>
            <a:srgbClr val="F28C38"/>
          </a:solidFill>
          <a:ln/>
        </p:spPr>
        <p:txBody>
          <a:bodyPr/>
          <a:lstStyle/>
          <a:p>
            <a:endParaRPr lang="nl-NL"/>
          </a:p>
        </p:txBody>
      </p:sp>
      <p:sp>
        <p:nvSpPr>
          <p:cNvPr id="10" name="s38_b1"/>
          <p:cNvSpPr txBox="1"/>
          <p:nvPr/>
        </p:nvSpPr>
        <p:spPr>
          <a:xfrm>
            <a:off x="8202168" y="2551176"/>
            <a:ext cx="3364992"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Nederland blijkt heel kwetsbaar zonder olie</a:t>
            </a:r>
            <a:endParaRPr lang="nl-NL" sz="1700" dirty="0"/>
          </a:p>
        </p:txBody>
      </p:sp>
      <p:sp>
        <p:nvSpPr>
          <p:cNvPr id="11" name="s38_bd2"/>
          <p:cNvSpPr/>
          <p:nvPr/>
        </p:nvSpPr>
        <p:spPr>
          <a:xfrm>
            <a:off x="7927848" y="3361182"/>
            <a:ext cx="118872" cy="118872"/>
          </a:xfrm>
          <a:prstGeom prst="ellipse">
            <a:avLst/>
          </a:prstGeom>
          <a:solidFill>
            <a:srgbClr val="F28C38"/>
          </a:solidFill>
          <a:ln/>
        </p:spPr>
        <p:txBody>
          <a:bodyPr/>
          <a:lstStyle/>
          <a:p>
            <a:endParaRPr lang="nl-NL"/>
          </a:p>
        </p:txBody>
      </p:sp>
      <p:sp>
        <p:nvSpPr>
          <p:cNvPr id="12" name="s38_b2"/>
          <p:cNvSpPr txBox="1"/>
          <p:nvPr/>
        </p:nvSpPr>
        <p:spPr>
          <a:xfrm>
            <a:off x="8202168" y="3270504"/>
            <a:ext cx="3364992"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Maatregelen: autoloze zondagen en benzine op de bon</a:t>
            </a:r>
            <a:endParaRPr lang="nl-NL" sz="1700" dirty="0"/>
          </a:p>
        </p:txBody>
      </p:sp>
      <p:sp>
        <p:nvSpPr>
          <p:cNvPr id="13" name="s38_bd3"/>
          <p:cNvSpPr/>
          <p:nvPr/>
        </p:nvSpPr>
        <p:spPr>
          <a:xfrm>
            <a:off x="7927848" y="4080510"/>
            <a:ext cx="118872" cy="118872"/>
          </a:xfrm>
          <a:prstGeom prst="ellipse">
            <a:avLst/>
          </a:prstGeom>
          <a:solidFill>
            <a:srgbClr val="F28C38"/>
          </a:solidFill>
          <a:ln/>
        </p:spPr>
        <p:txBody>
          <a:bodyPr/>
          <a:lstStyle/>
          <a:p>
            <a:endParaRPr lang="nl-NL"/>
          </a:p>
        </p:txBody>
      </p:sp>
      <p:sp>
        <p:nvSpPr>
          <p:cNvPr id="14" name="s38_b3"/>
          <p:cNvSpPr txBox="1"/>
          <p:nvPr/>
        </p:nvSpPr>
        <p:spPr>
          <a:xfrm>
            <a:off x="8202168" y="3989832"/>
            <a:ext cx="3364992" cy="109118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1979: tweede oliecrisis. Veel bedrijven gaan failliet, honderdduizenden mensen worden werkloos</a:t>
            </a:r>
            <a:endParaRPr lang="nl-NL" sz="1700" dirty="0"/>
          </a:p>
        </p:txBody>
      </p:sp>
      <p:sp>
        <p:nvSpPr>
          <p:cNvPr id="1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7" name="!!rd_d1"/>
          <p:cNvSpPr/>
          <p:nvPr/>
        </p:nvSpPr>
        <p:spPr>
          <a:xfrm>
            <a:off x="2944368" y="6437376"/>
            <a:ext cx="128016" cy="128016"/>
          </a:xfrm>
          <a:prstGeom prst="ellipse">
            <a:avLst/>
          </a:prstGeom>
          <a:solidFill>
            <a:srgbClr val="1E2A3A"/>
          </a:solidFill>
          <a:ln/>
        </p:spPr>
        <p:txBody>
          <a:bodyPr/>
          <a:lstStyle/>
          <a:p>
            <a:endParaRPr lang="nl-NL"/>
          </a:p>
        </p:txBody>
      </p:sp>
      <p:sp>
        <p:nvSpPr>
          <p:cNvPr id="1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9" name="!!rd_d2"/>
          <p:cNvSpPr/>
          <p:nvPr/>
        </p:nvSpPr>
        <p:spPr>
          <a:xfrm>
            <a:off x="4078224" y="6437376"/>
            <a:ext cx="128016" cy="128016"/>
          </a:xfrm>
          <a:prstGeom prst="ellipse">
            <a:avLst/>
          </a:prstGeom>
          <a:solidFill>
            <a:srgbClr val="1E2A3A"/>
          </a:solidFill>
          <a:ln/>
        </p:spPr>
        <p:txBody>
          <a:bodyPr/>
          <a:lstStyle/>
          <a:p>
            <a:endParaRPr lang="nl-NL"/>
          </a:p>
        </p:txBody>
      </p:sp>
      <p:sp>
        <p:nvSpPr>
          <p:cNvPr id="2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1" name="!!rd_d3"/>
          <p:cNvSpPr/>
          <p:nvPr/>
        </p:nvSpPr>
        <p:spPr>
          <a:xfrm>
            <a:off x="5212080" y="6437376"/>
            <a:ext cx="128016" cy="128016"/>
          </a:xfrm>
          <a:prstGeom prst="ellipse">
            <a:avLst/>
          </a:prstGeom>
          <a:solidFill>
            <a:srgbClr val="1E2A3A"/>
          </a:solidFill>
          <a:ln/>
        </p:spPr>
        <p:txBody>
          <a:bodyPr/>
          <a:lstStyle/>
          <a:p>
            <a:endParaRPr lang="nl-NL"/>
          </a:p>
        </p:txBody>
      </p:sp>
      <p:sp>
        <p:nvSpPr>
          <p:cNvPr id="2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3" name="!!rd_d4"/>
          <p:cNvSpPr/>
          <p:nvPr/>
        </p:nvSpPr>
        <p:spPr>
          <a:xfrm>
            <a:off x="6345936" y="6437376"/>
            <a:ext cx="128016" cy="128016"/>
          </a:xfrm>
          <a:prstGeom prst="ellipse">
            <a:avLst/>
          </a:prstGeom>
          <a:solidFill>
            <a:srgbClr val="C9D1DA"/>
          </a:solidFill>
          <a:ln/>
        </p:spPr>
        <p:txBody>
          <a:bodyPr/>
          <a:lstStyle/>
          <a:p>
            <a:endParaRPr lang="nl-NL"/>
          </a:p>
        </p:txBody>
      </p:sp>
      <p:sp>
        <p:nvSpPr>
          <p:cNvPr id="2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b="1" dirty="0">
                <a:solidFill>
                  <a:srgbClr val="8A5A83"/>
                </a:solidFill>
                <a:latin typeface="Calibri" pitchFamily="34" charset="0"/>
                <a:ea typeface="Calibri" pitchFamily="34" charset="-122"/>
                <a:cs typeface="Calibri" pitchFamily="34" charset="-120"/>
              </a:rPr>
              <a:t>Crisis</a:t>
            </a:r>
            <a:endParaRPr lang="nl-NL" sz="1000" dirty="0"/>
          </a:p>
        </p:txBody>
      </p:sp>
      <p:sp>
        <p:nvSpPr>
          <p:cNvPr id="25" name="!!rd_d5"/>
          <p:cNvSpPr/>
          <p:nvPr/>
        </p:nvSpPr>
        <p:spPr>
          <a:xfrm>
            <a:off x="7479792" y="6437376"/>
            <a:ext cx="128016" cy="128016"/>
          </a:xfrm>
          <a:prstGeom prst="ellipse">
            <a:avLst/>
          </a:prstGeom>
          <a:solidFill>
            <a:srgbClr val="C9D1DA"/>
          </a:solidFill>
          <a:ln/>
        </p:spPr>
        <p:txBody>
          <a:bodyPr/>
          <a:lstStyle/>
          <a:p>
            <a:endParaRPr lang="nl-NL"/>
          </a:p>
        </p:txBody>
      </p:sp>
      <p:sp>
        <p:nvSpPr>
          <p:cNvPr id="2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27" name="!!rd_act"/>
          <p:cNvSpPr/>
          <p:nvPr/>
        </p:nvSpPr>
        <p:spPr>
          <a:xfrm>
            <a:off x="6300216" y="6391656"/>
            <a:ext cx="219456" cy="219456"/>
          </a:xfrm>
          <a:prstGeom prst="ellipse">
            <a:avLst/>
          </a:prstGeom>
          <a:solidFill>
            <a:srgbClr val="8A5A83"/>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50"/>
                                        <p:tgtEl>
                                          <p:spTgt spid="8"/>
                                        </p:tgtEl>
                                      </p:cBhvr>
                                    </p:animEffect>
                                    <p:anim calcmode="lin" valueType="num">
                                      <p:cBhvr additive="base">
                                        <p:cTn id="13"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50"/>
                                        <p:tgtEl>
                                          <p:spTgt spid="9"/>
                                        </p:tgtEl>
                                      </p:cBhvr>
                                    </p:animEffect>
                                    <p:anim calcmode="lin" valueType="num">
                                      <p:cBhvr additive="base">
                                        <p:cTn id="20"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50"/>
                                        <p:tgtEl>
                                          <p:spTgt spid="10"/>
                                        </p:tgtEl>
                                      </p:cBhvr>
                                    </p:animEffect>
                                    <p:anim calcmode="lin" valueType="num">
                                      <p:cBhvr additive="base">
                                        <p:cTn id="25"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1"/>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p:tgtEl>
                                          <p:spTgt spid="12"/>
                                        </p:tgtEl>
                                      </p:cBhvr>
                                    </p:animEffect>
                                    <p:anim calcmode="lin" valueType="num">
                                      <p:cBhvr additive="base">
                                        <p:cTn id="37"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38"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p:tgtEl>
                                          <p:spTgt spid="13"/>
                                        </p:tgtEl>
                                      </p:cBhvr>
                                    </p:animEffect>
                                    <p:anim calcmode="lin" valueType="num">
                                      <p:cBhvr additive="base">
                                        <p:cTn id="44"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3"/>
                                        </p:tgtEl>
                                        <p:attrNameLst>
                                          <p:attrName>ppt_y</p:attrName>
                                        </p:attrNameLst>
                                      </p:cBhvr>
                                      <p:tavLst>
                                        <p:tav tm="0">
                                          <p:val>
                                            <p:strVal val="#ppt_y+0.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p:tgtEl>
                                          <p:spTgt spid="14"/>
                                        </p:tgtEl>
                                      </p:cBhvr>
                                    </p:animEffect>
                                    <p:anim calcmode="lin" valueType="num">
                                      <p:cBhvr additive="base">
                                        <p:cTn id="49"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50" dur="650" decel="10000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8A5A83"/>
                </a:solidFill>
                <a:latin typeface="Calibri" pitchFamily="34" charset="0"/>
                <a:ea typeface="Calibri" pitchFamily="34" charset="-122"/>
                <a:cs typeface="Calibri" pitchFamily="34" charset="-120"/>
              </a:rPr>
              <a:t>4 · CRISIS · JAREN 70</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De oliecrisis</a:t>
            </a:r>
            <a:endParaRPr lang="nl-NL" sz="3400" dirty="0"/>
          </a:p>
        </p:txBody>
      </p:sp>
      <p:sp>
        <p:nvSpPr>
          <p:cNvPr id="4" name="!!card"/>
          <p:cNvSpPr/>
          <p:nvPr/>
        </p:nvSpPr>
        <p:spPr>
          <a:xfrm>
            <a:off x="502920" y="1280160"/>
            <a:ext cx="5486400" cy="3473954"/>
          </a:xfrm>
          <a:prstGeom prst="roundRect">
            <a:avLst>
              <a:gd name="adj" fmla="val 1579"/>
            </a:avLst>
          </a:prstGeom>
          <a:solidFill>
            <a:srgbClr val="FFFFFF"/>
          </a:solidFill>
          <a:ln/>
          <a:effectLst>
            <a:outerShdw blurRad="127000" dist="38100" dir="5400000" algn="bl" rotWithShape="0">
              <a:srgbClr val="000000">
                <a:alpha val="18000"/>
              </a:srgbClr>
            </a:outerShdw>
          </a:effectLst>
        </p:spPr>
        <p:txBody>
          <a:bodyPr/>
          <a:lstStyle/>
          <a:p>
            <a:endParaRPr lang="nl-NL"/>
          </a:p>
        </p:txBody>
      </p:sp>
      <p:pic>
        <p:nvPicPr>
          <p:cNvPr id="5" name="s39_foto" descr="denuyl"/>
          <p:cNvPicPr>
            <a:picLocks noChangeAspect="1"/>
          </p:cNvPicPr>
          <p:nvPr/>
        </p:nvPicPr>
        <p:blipFill>
          <a:blip r:embed="rId3"/>
          <a:stretch>
            <a:fillRect/>
          </a:stretch>
        </p:blipFill>
        <p:spPr>
          <a:xfrm>
            <a:off x="548640" y="1325880"/>
            <a:ext cx="5394960" cy="3382514"/>
          </a:xfrm>
          <a:prstGeom prst="rect">
            <a:avLst/>
          </a:prstGeom>
        </p:spPr>
      </p:pic>
      <p:sp>
        <p:nvSpPr>
          <p:cNvPr id="6" name="s39_o1"/>
          <p:cNvSpPr txBox="1"/>
          <p:nvPr/>
        </p:nvSpPr>
        <p:spPr>
          <a:xfrm>
            <a:off x="548640" y="4781546"/>
            <a:ext cx="5394960" cy="457200"/>
          </a:xfrm>
          <a:prstGeom prst="rect">
            <a:avLst/>
          </a:prstGeom>
          <a:noFill/>
          <a:ln/>
        </p:spPr>
        <p:txBody>
          <a:bodyPr wrap="square" lIns="0" tIns="0" rIns="0" bIns="0" rtlCol="0" anchor="t"/>
          <a:lstStyle/>
          <a:p>
            <a:pPr marL="0" indent="0" algn="l">
              <a:buNone/>
            </a:pPr>
            <a:r>
              <a:rPr lang="nl-NL" sz="1200" i="1" dirty="0">
                <a:solidFill>
                  <a:srgbClr val="5B6B7B"/>
                </a:solidFill>
                <a:latin typeface="Calibri" pitchFamily="34" charset="0"/>
                <a:ea typeface="Calibri" pitchFamily="34" charset="-122"/>
                <a:cs typeface="Calibri" pitchFamily="34" charset="-120"/>
              </a:rPr>
              <a:t>Joop den Uyl (1919 – 1987), premier tijdens de eerste oliecrisis</a:t>
            </a:r>
            <a:endParaRPr lang="nl-NL" sz="1200" dirty="0"/>
          </a:p>
        </p:txBody>
      </p:sp>
      <p:sp>
        <p:nvSpPr>
          <p:cNvPr id="7" name="s39_fact"/>
          <p:cNvSpPr txBox="1"/>
          <p:nvPr/>
        </p:nvSpPr>
        <p:spPr>
          <a:xfrm>
            <a:off x="548640" y="5348474"/>
            <a:ext cx="5394960" cy="685800"/>
          </a:xfrm>
          <a:prstGeom prst="rect">
            <a:avLst/>
          </a:prstGeom>
          <a:noFill/>
          <a:ln/>
        </p:spPr>
        <p:txBody>
          <a:bodyPr wrap="square" lIns="0" tIns="0" rIns="0" bIns="0" rtlCol="0" anchor="t"/>
          <a:lstStyle/>
          <a:p>
            <a:pPr marL="0" indent="0" algn="l">
              <a:buNone/>
            </a:pPr>
            <a:r>
              <a:rPr lang="nl-NL" sz="1600" dirty="0">
                <a:solidFill>
                  <a:srgbClr val="5B6B7B"/>
                </a:solidFill>
                <a:latin typeface="Calibri" pitchFamily="34" charset="0"/>
                <a:ea typeface="Calibri" pitchFamily="34" charset="-122"/>
                <a:cs typeface="Calibri" pitchFamily="34" charset="-120"/>
              </a:rPr>
              <a:t>Als minister gaf hij miljarden aan de scheepsbouw. Toch gingen die bedrijven failliet.</a:t>
            </a:r>
            <a:endParaRPr lang="nl-NL" sz="1600" dirty="0"/>
          </a:p>
        </p:txBody>
      </p:sp>
      <p:sp>
        <p:nvSpPr>
          <p:cNvPr id="8" name="s39_qbg"/>
          <p:cNvSpPr/>
          <p:nvPr/>
        </p:nvSpPr>
        <p:spPr>
          <a:xfrm>
            <a:off x="6492240" y="1280160"/>
            <a:ext cx="5166360" cy="2011680"/>
          </a:xfrm>
          <a:prstGeom prst="roundRect">
            <a:avLst>
              <a:gd name="adj" fmla="val 5455"/>
            </a:avLst>
          </a:prstGeom>
          <a:solidFill>
            <a:srgbClr val="F2EAF1"/>
          </a:solidFill>
          <a:ln/>
        </p:spPr>
        <p:txBody>
          <a:bodyPr/>
          <a:lstStyle/>
          <a:p>
            <a:endParaRPr lang="nl-NL"/>
          </a:p>
        </p:txBody>
      </p:sp>
      <p:sp>
        <p:nvSpPr>
          <p:cNvPr id="9" name="s39_qm"/>
          <p:cNvSpPr txBox="1"/>
          <p:nvPr/>
        </p:nvSpPr>
        <p:spPr>
          <a:xfrm>
            <a:off x="6675120" y="1097280"/>
            <a:ext cx="731520" cy="914400"/>
          </a:xfrm>
          <a:prstGeom prst="rect">
            <a:avLst/>
          </a:prstGeom>
          <a:noFill/>
          <a:ln/>
        </p:spPr>
        <p:txBody>
          <a:bodyPr wrap="square" lIns="0" tIns="0" rIns="0" bIns="0" rtlCol="0" anchor="t"/>
          <a:lstStyle/>
          <a:p>
            <a:pPr marL="0" indent="0" algn="l">
              <a:buNone/>
            </a:pPr>
            <a:r>
              <a:rPr lang="nl-NL" sz="7200" b="1" dirty="0">
                <a:solidFill>
                  <a:srgbClr val="8A5A83"/>
                </a:solidFill>
                <a:latin typeface="Calibri" pitchFamily="34" charset="0"/>
                <a:ea typeface="Calibri" pitchFamily="34" charset="-122"/>
                <a:cs typeface="Calibri" pitchFamily="34" charset="-120"/>
              </a:rPr>
              <a:t>“</a:t>
            </a:r>
            <a:endParaRPr lang="nl-NL" sz="7200" dirty="0"/>
          </a:p>
        </p:txBody>
      </p:sp>
      <p:sp>
        <p:nvSpPr>
          <p:cNvPr id="10" name="s39_qt"/>
          <p:cNvSpPr txBox="1"/>
          <p:nvPr/>
        </p:nvSpPr>
        <p:spPr>
          <a:xfrm>
            <a:off x="7269480" y="1463040"/>
            <a:ext cx="4206240" cy="1325880"/>
          </a:xfrm>
          <a:prstGeom prst="rect">
            <a:avLst/>
          </a:prstGeom>
          <a:noFill/>
          <a:ln/>
        </p:spPr>
        <p:txBody>
          <a:bodyPr wrap="square" lIns="0" tIns="0" rIns="0" bIns="0" rtlCol="0" anchor="t"/>
          <a:lstStyle/>
          <a:p>
            <a:pPr marL="0" indent="0" algn="l">
              <a:buNone/>
            </a:pPr>
            <a:r>
              <a:rPr lang="nl-NL" sz="1800" i="1" dirty="0">
                <a:solidFill>
                  <a:srgbClr val="1E2A3A"/>
                </a:solidFill>
                <a:latin typeface="Calibri" pitchFamily="34" charset="0"/>
                <a:ea typeface="Calibri" pitchFamily="34" charset="-122"/>
                <a:cs typeface="Calibri" pitchFamily="34" charset="-120"/>
              </a:rPr>
              <a:t>De wereld van vóór de oliecrisis keert niet terug. Wij zullen moeten leren omgaan met een zuiniger gebruik van energie.</a:t>
            </a:r>
            <a:endParaRPr lang="nl-NL" sz="1800" dirty="0"/>
          </a:p>
        </p:txBody>
      </p:sp>
      <p:sp>
        <p:nvSpPr>
          <p:cNvPr id="11" name="s39_qs"/>
          <p:cNvSpPr txBox="1"/>
          <p:nvPr/>
        </p:nvSpPr>
        <p:spPr>
          <a:xfrm>
            <a:off x="7269480" y="2834640"/>
            <a:ext cx="4206240" cy="274320"/>
          </a:xfrm>
          <a:prstGeom prst="rect">
            <a:avLst/>
          </a:prstGeom>
          <a:noFill/>
          <a:ln/>
        </p:spPr>
        <p:txBody>
          <a:bodyPr wrap="square" lIns="0" tIns="0" rIns="0" bIns="0" rtlCol="0" anchor="t"/>
          <a:lstStyle/>
          <a:p>
            <a:pPr marL="0" indent="0" algn="l">
              <a:buNone/>
            </a:pPr>
            <a:r>
              <a:rPr lang="nl-NL" sz="1200" dirty="0">
                <a:solidFill>
                  <a:srgbClr val="5B6B7B"/>
                </a:solidFill>
                <a:latin typeface="Calibri" pitchFamily="34" charset="0"/>
                <a:ea typeface="Calibri" pitchFamily="34" charset="-122"/>
                <a:cs typeface="Calibri" pitchFamily="34" charset="-120"/>
              </a:rPr>
              <a:t>Den Uyl in een tv-toespraak, 1973</a:t>
            </a:r>
            <a:endParaRPr lang="nl-NL" sz="1200" dirty="0"/>
          </a:p>
        </p:txBody>
      </p:sp>
      <p:sp>
        <p:nvSpPr>
          <p:cNvPr id="12" name="s39_q_bg"/>
          <p:cNvSpPr/>
          <p:nvPr/>
        </p:nvSpPr>
        <p:spPr>
          <a:xfrm>
            <a:off x="6492240" y="3520440"/>
            <a:ext cx="5166360" cy="832104"/>
          </a:xfrm>
          <a:prstGeom prst="roundRect">
            <a:avLst>
              <a:gd name="adj" fmla="val 10989"/>
            </a:avLst>
          </a:prstGeom>
          <a:solidFill>
            <a:srgbClr val="F2EAF1"/>
          </a:solidFill>
          <a:ln/>
        </p:spPr>
        <p:txBody>
          <a:bodyPr/>
          <a:lstStyle/>
          <a:p>
            <a:endParaRPr lang="nl-NL"/>
          </a:p>
        </p:txBody>
      </p:sp>
      <p:sp>
        <p:nvSpPr>
          <p:cNvPr id="13" name="s39_q_circ"/>
          <p:cNvSpPr/>
          <p:nvPr/>
        </p:nvSpPr>
        <p:spPr>
          <a:xfrm>
            <a:off x="6693408" y="3721608"/>
            <a:ext cx="457200" cy="457200"/>
          </a:xfrm>
          <a:prstGeom prst="ellipse">
            <a:avLst/>
          </a:prstGeom>
          <a:solidFill>
            <a:srgbClr val="8A5A83"/>
          </a:solidFill>
          <a:ln/>
        </p:spPr>
        <p:txBody>
          <a:bodyPr/>
          <a:lstStyle/>
          <a:p>
            <a:endParaRPr lang="nl-NL"/>
          </a:p>
        </p:txBody>
      </p:sp>
      <p:pic>
        <p:nvPicPr>
          <p:cNvPr id="14" name="s39_q_ico" descr="question_w"/>
          <p:cNvPicPr>
            <a:picLocks noChangeAspect="1"/>
          </p:cNvPicPr>
          <p:nvPr/>
        </p:nvPicPr>
        <p:blipFill>
          <a:blip r:embed="rId4"/>
          <a:stretch>
            <a:fillRect/>
          </a:stretch>
        </p:blipFill>
        <p:spPr>
          <a:xfrm>
            <a:off x="6803136" y="3831336"/>
            <a:ext cx="237744" cy="237744"/>
          </a:xfrm>
          <a:prstGeom prst="rect">
            <a:avLst/>
          </a:prstGeom>
        </p:spPr>
      </p:pic>
      <p:sp>
        <p:nvSpPr>
          <p:cNvPr id="15" name="s39_q_lbl"/>
          <p:cNvSpPr txBox="1"/>
          <p:nvPr/>
        </p:nvSpPr>
        <p:spPr>
          <a:xfrm>
            <a:off x="7296912" y="3703320"/>
            <a:ext cx="4160520" cy="237744"/>
          </a:xfrm>
          <a:prstGeom prst="rect">
            <a:avLst/>
          </a:prstGeom>
          <a:noFill/>
          <a:ln/>
        </p:spPr>
        <p:txBody>
          <a:bodyPr wrap="square" lIns="0" tIns="0" rIns="0" bIns="0" rtlCol="0" anchor="t"/>
          <a:lstStyle/>
          <a:p>
            <a:pPr marL="0" indent="0" algn="l">
              <a:buNone/>
            </a:pPr>
            <a:r>
              <a:rPr lang="nl-NL" sz="1100" b="1" kern="0" spc="150" dirty="0">
                <a:solidFill>
                  <a:srgbClr val="8A5A83"/>
                </a:solidFill>
                <a:latin typeface="Calibri" pitchFamily="34" charset="0"/>
                <a:ea typeface="Calibri" pitchFamily="34" charset="-122"/>
                <a:cs typeface="Calibri" pitchFamily="34" charset="-120"/>
              </a:rPr>
              <a:t>VRAAG AAN DE KLAS</a:t>
            </a:r>
            <a:endParaRPr lang="nl-NL" sz="1100" dirty="0"/>
          </a:p>
        </p:txBody>
      </p:sp>
      <p:sp>
        <p:nvSpPr>
          <p:cNvPr id="16" name="s39_q_txt"/>
          <p:cNvSpPr txBox="1"/>
          <p:nvPr/>
        </p:nvSpPr>
        <p:spPr>
          <a:xfrm>
            <a:off x="7296912" y="3959352"/>
            <a:ext cx="4160520" cy="329184"/>
          </a:xfrm>
          <a:prstGeom prst="rect">
            <a:avLst/>
          </a:prstGeom>
          <a:noFill/>
          <a:ln/>
        </p:spPr>
        <p:txBody>
          <a:bodyPr wrap="square" lIns="0" tIns="0" rIns="0" bIns="0" rtlCol="0" anchor="t"/>
          <a:lstStyle/>
          <a:p>
            <a:pPr marL="0" indent="0" algn="l">
              <a:buNone/>
            </a:pPr>
            <a:r>
              <a:rPr lang="nl-NL" sz="1800" b="1" dirty="0">
                <a:solidFill>
                  <a:srgbClr val="1E2A3A"/>
                </a:solidFill>
                <a:latin typeface="Calibri" pitchFamily="34" charset="0"/>
                <a:ea typeface="Calibri" pitchFamily="34" charset="-122"/>
                <a:cs typeface="Calibri" pitchFamily="34" charset="-120"/>
              </a:rPr>
              <a:t>Wat bedoelt Den Uyl hiermee?</a:t>
            </a:r>
            <a:endParaRPr lang="nl-NL" sz="1800" dirty="0"/>
          </a:p>
        </p:txBody>
      </p:sp>
      <p:sp>
        <p:nvSpPr>
          <p:cNvPr id="17" name="s39_a_bg"/>
          <p:cNvSpPr/>
          <p:nvPr/>
        </p:nvSpPr>
        <p:spPr>
          <a:xfrm>
            <a:off x="6492240" y="4517136"/>
            <a:ext cx="5166360" cy="1060704"/>
          </a:xfrm>
          <a:prstGeom prst="roundRect">
            <a:avLst>
              <a:gd name="adj" fmla="val 8621"/>
            </a:avLst>
          </a:prstGeom>
          <a:solidFill>
            <a:srgbClr val="FFFFFF"/>
          </a:solidFill>
          <a:ln w="25400">
            <a:solidFill>
              <a:srgbClr val="F28C38"/>
            </a:solidFill>
            <a:prstDash val="solid"/>
          </a:ln>
          <a:effectLst>
            <a:outerShdw blurRad="127000" dist="38100" dir="5400000" algn="bl" rotWithShape="0">
              <a:srgbClr val="000000">
                <a:alpha val="12000"/>
              </a:srgbClr>
            </a:outerShdw>
          </a:effectLst>
        </p:spPr>
        <p:txBody>
          <a:bodyPr/>
          <a:lstStyle/>
          <a:p>
            <a:endParaRPr lang="nl-NL"/>
          </a:p>
        </p:txBody>
      </p:sp>
      <p:pic>
        <p:nvPicPr>
          <p:cNvPr id="18" name="s39_a_ico" descr="bulb_acc"/>
          <p:cNvPicPr>
            <a:picLocks noChangeAspect="1"/>
          </p:cNvPicPr>
          <p:nvPr/>
        </p:nvPicPr>
        <p:blipFill>
          <a:blip r:embed="rId5"/>
          <a:stretch>
            <a:fillRect/>
          </a:stretch>
        </p:blipFill>
        <p:spPr>
          <a:xfrm>
            <a:off x="6720840" y="4864608"/>
            <a:ext cx="365760" cy="365760"/>
          </a:xfrm>
          <a:prstGeom prst="rect">
            <a:avLst/>
          </a:prstGeom>
        </p:spPr>
      </p:pic>
      <p:sp>
        <p:nvSpPr>
          <p:cNvPr id="19" name="s39_a_txt"/>
          <p:cNvSpPr txBox="1"/>
          <p:nvPr/>
        </p:nvSpPr>
        <p:spPr>
          <a:xfrm>
            <a:off x="7296912" y="4654296"/>
            <a:ext cx="4160520" cy="786384"/>
          </a:xfrm>
          <a:prstGeom prst="rect">
            <a:avLst/>
          </a:prstGeom>
          <a:noFill/>
          <a:ln/>
        </p:spPr>
        <p:txBody>
          <a:bodyPr wrap="square" lIns="0" tIns="0" rIns="0" bIns="0" rtlCol="0" anchor="ctr"/>
          <a:lstStyle/>
          <a:p>
            <a:pPr marL="0" indent="0" algn="l">
              <a:buNone/>
            </a:pPr>
            <a:r>
              <a:rPr lang="nl-NL" sz="1600" dirty="0">
                <a:solidFill>
                  <a:srgbClr val="1E2A3A"/>
                </a:solidFill>
                <a:latin typeface="Calibri" pitchFamily="34" charset="0"/>
                <a:ea typeface="Calibri" pitchFamily="34" charset="-122"/>
                <a:cs typeface="Calibri" pitchFamily="34" charset="-120"/>
              </a:rPr>
              <a:t>We kunnen niet meer zoveel olie en grondstoffen verbruiken als vroeger. We moeten zuiniger leven.</a:t>
            </a:r>
            <a:endParaRPr lang="nl-NL" sz="1600" dirty="0"/>
          </a:p>
        </p:txBody>
      </p:sp>
      <p:sp>
        <p:nvSpPr>
          <p:cNvPr id="20"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1"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22" name="!!rd_d1"/>
          <p:cNvSpPr/>
          <p:nvPr/>
        </p:nvSpPr>
        <p:spPr>
          <a:xfrm>
            <a:off x="2944368" y="6437376"/>
            <a:ext cx="128016" cy="128016"/>
          </a:xfrm>
          <a:prstGeom prst="ellipse">
            <a:avLst/>
          </a:prstGeom>
          <a:solidFill>
            <a:srgbClr val="1E2A3A"/>
          </a:solidFill>
          <a:ln/>
        </p:spPr>
        <p:txBody>
          <a:bodyPr/>
          <a:lstStyle/>
          <a:p>
            <a:endParaRPr lang="nl-NL"/>
          </a:p>
        </p:txBody>
      </p:sp>
      <p:sp>
        <p:nvSpPr>
          <p:cNvPr id="23"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24" name="!!rd_d2"/>
          <p:cNvSpPr/>
          <p:nvPr/>
        </p:nvSpPr>
        <p:spPr>
          <a:xfrm>
            <a:off x="4078224" y="6437376"/>
            <a:ext cx="128016" cy="128016"/>
          </a:xfrm>
          <a:prstGeom prst="ellipse">
            <a:avLst/>
          </a:prstGeom>
          <a:solidFill>
            <a:srgbClr val="1E2A3A"/>
          </a:solidFill>
          <a:ln/>
        </p:spPr>
        <p:txBody>
          <a:bodyPr/>
          <a:lstStyle/>
          <a:p>
            <a:endParaRPr lang="nl-NL"/>
          </a:p>
        </p:txBody>
      </p:sp>
      <p:sp>
        <p:nvSpPr>
          <p:cNvPr id="25"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6" name="!!rd_d3"/>
          <p:cNvSpPr/>
          <p:nvPr/>
        </p:nvSpPr>
        <p:spPr>
          <a:xfrm>
            <a:off x="5212080" y="6437376"/>
            <a:ext cx="128016" cy="128016"/>
          </a:xfrm>
          <a:prstGeom prst="ellipse">
            <a:avLst/>
          </a:prstGeom>
          <a:solidFill>
            <a:srgbClr val="1E2A3A"/>
          </a:solidFill>
          <a:ln/>
        </p:spPr>
        <p:txBody>
          <a:bodyPr/>
          <a:lstStyle/>
          <a:p>
            <a:endParaRPr lang="nl-NL"/>
          </a:p>
        </p:txBody>
      </p:sp>
      <p:sp>
        <p:nvSpPr>
          <p:cNvPr id="27"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8" name="!!rd_d4"/>
          <p:cNvSpPr/>
          <p:nvPr/>
        </p:nvSpPr>
        <p:spPr>
          <a:xfrm>
            <a:off x="6345936" y="6437376"/>
            <a:ext cx="128016" cy="128016"/>
          </a:xfrm>
          <a:prstGeom prst="ellipse">
            <a:avLst/>
          </a:prstGeom>
          <a:solidFill>
            <a:srgbClr val="C9D1DA"/>
          </a:solidFill>
          <a:ln/>
        </p:spPr>
        <p:txBody>
          <a:bodyPr/>
          <a:lstStyle/>
          <a:p>
            <a:endParaRPr lang="nl-NL"/>
          </a:p>
        </p:txBody>
      </p:sp>
      <p:sp>
        <p:nvSpPr>
          <p:cNvPr id="29"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b="1" dirty="0">
                <a:solidFill>
                  <a:srgbClr val="8A5A83"/>
                </a:solidFill>
                <a:latin typeface="Calibri" pitchFamily="34" charset="0"/>
                <a:ea typeface="Calibri" pitchFamily="34" charset="-122"/>
                <a:cs typeface="Calibri" pitchFamily="34" charset="-120"/>
              </a:rPr>
              <a:t>Crisis</a:t>
            </a:r>
            <a:endParaRPr lang="nl-NL" sz="1000" dirty="0"/>
          </a:p>
        </p:txBody>
      </p:sp>
      <p:sp>
        <p:nvSpPr>
          <p:cNvPr id="30" name="!!rd_d5"/>
          <p:cNvSpPr/>
          <p:nvPr/>
        </p:nvSpPr>
        <p:spPr>
          <a:xfrm>
            <a:off x="7479792" y="6437376"/>
            <a:ext cx="128016" cy="128016"/>
          </a:xfrm>
          <a:prstGeom prst="ellipse">
            <a:avLst/>
          </a:prstGeom>
          <a:solidFill>
            <a:srgbClr val="C9D1DA"/>
          </a:solidFill>
          <a:ln/>
        </p:spPr>
        <p:txBody>
          <a:bodyPr/>
          <a:lstStyle/>
          <a:p>
            <a:endParaRPr lang="nl-NL"/>
          </a:p>
        </p:txBody>
      </p:sp>
      <p:sp>
        <p:nvSpPr>
          <p:cNvPr id="31"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Nu</a:t>
            </a:r>
            <a:endParaRPr lang="nl-NL" sz="1000" dirty="0"/>
          </a:p>
        </p:txBody>
      </p:sp>
      <p:sp>
        <p:nvSpPr>
          <p:cNvPr id="32" name="!!rd_act"/>
          <p:cNvSpPr/>
          <p:nvPr/>
        </p:nvSpPr>
        <p:spPr>
          <a:xfrm>
            <a:off x="6300216" y="6391656"/>
            <a:ext cx="219456" cy="219456"/>
          </a:xfrm>
          <a:prstGeom prst="ellipse">
            <a:avLst/>
          </a:prstGeom>
          <a:solidFill>
            <a:srgbClr val="8A5A83"/>
          </a:solidFill>
          <a:ln w="25400">
            <a:solidFill>
              <a:srgbClr val="FFFFFF"/>
            </a:solidFill>
            <a:prstDash val="solid"/>
          </a:ln>
        </p:spPr>
        <p:txBody>
          <a:bodyPr/>
          <a:lstStyle/>
          <a:p>
            <a:endParaRPr lang="nl-NL"/>
          </a:p>
        </p:txBody>
      </p:sp>
      <p:sp>
        <p:nvSpPr>
          <p:cNvPr id="33" name="s39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34" name="s39_tv_dot"/>
          <p:cNvSpPr/>
          <p:nvPr/>
        </p:nvSpPr>
        <p:spPr>
          <a:xfrm>
            <a:off x="8979408" y="6373368"/>
            <a:ext cx="256032" cy="256032"/>
          </a:xfrm>
          <a:prstGeom prst="ellipse">
            <a:avLst/>
          </a:prstGeom>
          <a:solidFill>
            <a:srgbClr val="2F7BB5"/>
          </a:solidFill>
          <a:ln/>
        </p:spPr>
        <p:txBody>
          <a:bodyPr/>
          <a:lstStyle/>
          <a:p>
            <a:endParaRPr lang="nl-NL"/>
          </a:p>
        </p:txBody>
      </p:sp>
      <p:pic>
        <p:nvPicPr>
          <p:cNvPr id="35" name="s39_tv_play" descr="play_w">
            <a:hlinkClick r:id="rId6" tooltip="Open op Schooltv"/>
          </p:cNvPr>
          <p:cNvPicPr>
            <a:picLocks noChangeAspect="1"/>
          </p:cNvPicPr>
          <p:nvPr/>
        </p:nvPicPr>
        <p:blipFill>
          <a:blip r:embed="rId7"/>
          <a:stretch>
            <a:fillRect/>
          </a:stretch>
        </p:blipFill>
        <p:spPr>
          <a:xfrm>
            <a:off x="9052560" y="6437376"/>
            <a:ext cx="128016" cy="128016"/>
          </a:xfrm>
          <a:prstGeom prst="rect">
            <a:avLst/>
          </a:prstGeom>
        </p:spPr>
      </p:pic>
      <p:sp>
        <p:nvSpPr>
          <p:cNvPr id="36" name="s39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6" tooltip="Open op Schooltv">
                  <a:extLst>
                    <a:ext uri="{A12FA001-AC4F-418D-AE19-62706E023703}">
                      <ahyp:hlinkClr xmlns:ahyp="http://schemas.microsoft.com/office/drawing/2018/hyperlinkcolor" val="tx"/>
                    </a:ext>
                  </a:extLst>
                </a:hlinkClick>
              </a:rPr>
              <a:t>Schooltv: Den Uyl en de oliecrisis</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8"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9" dur="275"/>
                                        <p:tgtEl>
                                          <p:spTgt spid="9"/>
                                        </p:tgtEl>
                                      </p:cBhvr>
                                    </p:animEffect>
                                  </p:childTnLst>
                                </p:cTn>
                              </p:par>
                            </p:childTnLst>
                          </p:cTn>
                        </p:par>
                        <p:par>
                          <p:cTn id="20" fill="hold">
                            <p:stCondLst>
                              <p:cond delay="55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8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600" decel="100000" fill="hold"/>
                                        <p:tgtEl>
                                          <p:spTgt spid="12"/>
                                        </p:tgtEl>
                                        <p:attrNameLst>
                                          <p:attrName>ppt_x</p:attrName>
                                        </p:attrNameLst>
                                      </p:cBhvr>
                                      <p:tavLst>
                                        <p:tav tm="0">
                                          <p:val>
                                            <p:strVal val="#ppt_x+0.35"/>
                                          </p:val>
                                        </p:tav>
                                        <p:tav tm="100000">
                                          <p:val>
                                            <p:strVal val="#ppt_x"/>
                                          </p:val>
                                        </p:tav>
                                      </p:tavLst>
                                    </p:anim>
                                    <p:anim calcmode="lin" valueType="num">
                                      <p:cBhvr additive="base">
                                        <p:cTn id="32" dur="600" decel="100000" fill="hold"/>
                                        <p:tgtEl>
                                          <p:spTgt spid="12"/>
                                        </p:tgtEl>
                                        <p:attrNameLst>
                                          <p:attrName>ppt_y</p:attrName>
                                        </p:attrNameLst>
                                      </p:cBhvr>
                                      <p:tavLst>
                                        <p:tav tm="0">
                                          <p:val>
                                            <p:strVal val="#ppt_y"/>
                                          </p:val>
                                        </p:tav>
                                        <p:tav tm="100000">
                                          <p:val>
                                            <p:strVal val="#ppt_y"/>
                                          </p:val>
                                        </p:tav>
                                      </p:tavLst>
                                    </p:anim>
                                    <p:animEffect transition="in" filter="fade">
                                      <p:cBhvr>
                                        <p:cTn id="33" dur="420"/>
                                        <p:tgtEl>
                                          <p:spTgt spid="12"/>
                                        </p:tgtEl>
                                      </p:cBhvr>
                                    </p:animEffect>
                                  </p:childTnLst>
                                </p:cTn>
                              </p:par>
                              <p:par>
                                <p:cTn id="34" presetID="2" presetClass="entr" presetSubtype="2"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600" decel="100000" fill="hold"/>
                                        <p:tgtEl>
                                          <p:spTgt spid="13"/>
                                        </p:tgtEl>
                                        <p:attrNameLst>
                                          <p:attrName>ppt_x</p:attrName>
                                        </p:attrNameLst>
                                      </p:cBhvr>
                                      <p:tavLst>
                                        <p:tav tm="0">
                                          <p:val>
                                            <p:strVal val="#ppt_x+0.35"/>
                                          </p:val>
                                        </p:tav>
                                        <p:tav tm="100000">
                                          <p:val>
                                            <p:strVal val="#ppt_x"/>
                                          </p:val>
                                        </p:tav>
                                      </p:tavLst>
                                    </p:anim>
                                    <p:anim calcmode="lin" valueType="num">
                                      <p:cBhvr additive="base">
                                        <p:cTn id="37" dur="600" decel="100000" fill="hold"/>
                                        <p:tgtEl>
                                          <p:spTgt spid="13"/>
                                        </p:tgtEl>
                                        <p:attrNameLst>
                                          <p:attrName>ppt_y</p:attrName>
                                        </p:attrNameLst>
                                      </p:cBhvr>
                                      <p:tavLst>
                                        <p:tav tm="0">
                                          <p:val>
                                            <p:strVal val="#ppt_y"/>
                                          </p:val>
                                        </p:tav>
                                        <p:tav tm="100000">
                                          <p:val>
                                            <p:strVal val="#ppt_y"/>
                                          </p:val>
                                        </p:tav>
                                      </p:tavLst>
                                    </p:anim>
                                    <p:animEffect transition="in" filter="fade">
                                      <p:cBhvr>
                                        <p:cTn id="38" dur="420"/>
                                        <p:tgtEl>
                                          <p:spTgt spid="13"/>
                                        </p:tgtEl>
                                      </p:cBhvr>
                                    </p:animEffect>
                                  </p:childTnLst>
                                </p:cTn>
                              </p:par>
                              <p:par>
                                <p:cTn id="39" presetID="2" presetClass="entr" presetSubtype="2"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600" decel="100000" fill="hold"/>
                                        <p:tgtEl>
                                          <p:spTgt spid="14"/>
                                        </p:tgtEl>
                                        <p:attrNameLst>
                                          <p:attrName>ppt_x</p:attrName>
                                        </p:attrNameLst>
                                      </p:cBhvr>
                                      <p:tavLst>
                                        <p:tav tm="0">
                                          <p:val>
                                            <p:strVal val="#ppt_x+0.35"/>
                                          </p:val>
                                        </p:tav>
                                        <p:tav tm="100000">
                                          <p:val>
                                            <p:strVal val="#ppt_x"/>
                                          </p:val>
                                        </p:tav>
                                      </p:tavLst>
                                    </p:anim>
                                    <p:anim calcmode="lin" valueType="num">
                                      <p:cBhvr additive="base">
                                        <p:cTn id="42" dur="600" decel="100000" fill="hold"/>
                                        <p:tgtEl>
                                          <p:spTgt spid="14"/>
                                        </p:tgtEl>
                                        <p:attrNameLst>
                                          <p:attrName>ppt_y</p:attrName>
                                        </p:attrNameLst>
                                      </p:cBhvr>
                                      <p:tavLst>
                                        <p:tav tm="0">
                                          <p:val>
                                            <p:strVal val="#ppt_y"/>
                                          </p:val>
                                        </p:tav>
                                        <p:tav tm="100000">
                                          <p:val>
                                            <p:strVal val="#ppt_y"/>
                                          </p:val>
                                        </p:tav>
                                      </p:tavLst>
                                    </p:anim>
                                    <p:animEffect transition="in" filter="fade">
                                      <p:cBhvr>
                                        <p:cTn id="43" dur="420"/>
                                        <p:tgtEl>
                                          <p:spTgt spid="14"/>
                                        </p:tgtEl>
                                      </p:cBhvr>
                                    </p:animEffect>
                                  </p:childTnLst>
                                </p:cTn>
                              </p:par>
                              <p:par>
                                <p:cTn id="44" presetID="2" presetClass="entr" presetSubtype="2"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600" decel="100000" fill="hold"/>
                                        <p:tgtEl>
                                          <p:spTgt spid="15"/>
                                        </p:tgtEl>
                                        <p:attrNameLst>
                                          <p:attrName>ppt_x</p:attrName>
                                        </p:attrNameLst>
                                      </p:cBhvr>
                                      <p:tavLst>
                                        <p:tav tm="0">
                                          <p:val>
                                            <p:strVal val="#ppt_x+0.35"/>
                                          </p:val>
                                        </p:tav>
                                        <p:tav tm="100000">
                                          <p:val>
                                            <p:strVal val="#ppt_x"/>
                                          </p:val>
                                        </p:tav>
                                      </p:tavLst>
                                    </p:anim>
                                    <p:anim calcmode="lin" valueType="num">
                                      <p:cBhvr additive="base">
                                        <p:cTn id="47" dur="600" decel="100000" fill="hold"/>
                                        <p:tgtEl>
                                          <p:spTgt spid="15"/>
                                        </p:tgtEl>
                                        <p:attrNameLst>
                                          <p:attrName>ppt_y</p:attrName>
                                        </p:attrNameLst>
                                      </p:cBhvr>
                                      <p:tavLst>
                                        <p:tav tm="0">
                                          <p:val>
                                            <p:strVal val="#ppt_y"/>
                                          </p:val>
                                        </p:tav>
                                        <p:tav tm="100000">
                                          <p:val>
                                            <p:strVal val="#ppt_y"/>
                                          </p:val>
                                        </p:tav>
                                      </p:tavLst>
                                    </p:anim>
                                    <p:animEffect transition="in" filter="fade">
                                      <p:cBhvr>
                                        <p:cTn id="48" dur="420"/>
                                        <p:tgtEl>
                                          <p:spTgt spid="15"/>
                                        </p:tgtEl>
                                      </p:cBhvr>
                                    </p:animEffect>
                                  </p:childTnLst>
                                </p:cTn>
                              </p:par>
                              <p:par>
                                <p:cTn id="49" presetID="2" presetClass="entr" presetSubtype="2"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600" decel="100000" fill="hold"/>
                                        <p:tgtEl>
                                          <p:spTgt spid="16"/>
                                        </p:tgtEl>
                                        <p:attrNameLst>
                                          <p:attrName>ppt_x</p:attrName>
                                        </p:attrNameLst>
                                      </p:cBhvr>
                                      <p:tavLst>
                                        <p:tav tm="0">
                                          <p:val>
                                            <p:strVal val="#ppt_x+0.35"/>
                                          </p:val>
                                        </p:tav>
                                        <p:tav tm="100000">
                                          <p:val>
                                            <p:strVal val="#ppt_x"/>
                                          </p:val>
                                        </p:tav>
                                      </p:tavLst>
                                    </p:anim>
                                    <p:anim calcmode="lin" valueType="num">
                                      <p:cBhvr additive="base">
                                        <p:cTn id="52" dur="600" decel="100000" fill="hold"/>
                                        <p:tgtEl>
                                          <p:spTgt spid="16"/>
                                        </p:tgtEl>
                                        <p:attrNameLst>
                                          <p:attrName>ppt_y</p:attrName>
                                        </p:attrNameLst>
                                      </p:cBhvr>
                                      <p:tavLst>
                                        <p:tav tm="0">
                                          <p:val>
                                            <p:strVal val="#ppt_y"/>
                                          </p:val>
                                        </p:tav>
                                        <p:tav tm="100000">
                                          <p:val>
                                            <p:strVal val="#ppt_y"/>
                                          </p:val>
                                        </p:tav>
                                      </p:tavLst>
                                    </p:anim>
                                    <p:animEffect transition="in" filter="fade">
                                      <p:cBhvr>
                                        <p:cTn id="53" dur="42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9"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0" dur="275"/>
                                        <p:tgtEl>
                                          <p:spTgt spid="17"/>
                                        </p:tgtEl>
                                      </p:cBhvr>
                                    </p:animEffect>
                                  </p:childTnLst>
                                </p:cTn>
                              </p:par>
                              <p:par>
                                <p:cTn id="61" presetID="53" presetClass="entr" presetSubtype="16"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4"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5" dur="275"/>
                                        <p:tgtEl>
                                          <p:spTgt spid="18"/>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50" fill="hold"/>
                                        <p:tgtEl>
                                          <p:spTgt spid="1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9" dur="550" fill="hold"/>
                                        <p:tgtEl>
                                          <p:spTgt spid="1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0" dur="275"/>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OVERZICHT · HOOFDSTUK 4</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a:t>
            </a:r>
            <a:endParaRPr lang="nl-NL" sz="3400" dirty="0"/>
          </a:p>
        </p:txBody>
      </p:sp>
      <p:sp>
        <p:nvSpPr>
          <p:cNvPr id="4" name="!!hv"/>
          <p:cNvSpPr txBox="1"/>
          <p:nvPr/>
        </p:nvSpPr>
        <p:spPr>
          <a:xfrm>
            <a:off x="566928" y="1024128"/>
            <a:ext cx="10058400" cy="365760"/>
          </a:xfrm>
          <a:prstGeom prst="rect">
            <a:avLst/>
          </a:prstGeom>
          <a:noFill/>
          <a:ln/>
        </p:spPr>
        <p:txBody>
          <a:bodyPr wrap="square" lIns="0" tIns="0" rIns="0" bIns="0" rtlCol="0" anchor="t"/>
          <a:lstStyle/>
          <a:p>
            <a:pPr marL="0" indent="0" algn="l">
              <a:buNone/>
            </a:pPr>
            <a:r>
              <a:rPr lang="nl-NL" sz="1900" b="1" dirty="0">
                <a:solidFill>
                  <a:srgbClr val="F28C38"/>
                </a:solidFill>
                <a:latin typeface="Calibri" pitchFamily="34" charset="0"/>
                <a:ea typeface="Calibri" pitchFamily="34" charset="-122"/>
                <a:cs typeface="Calibri" pitchFamily="34" charset="-120"/>
              </a:rPr>
              <a:t>Hoofdvraag: </a:t>
            </a:r>
            <a:r>
              <a:rPr lang="nl-NL" sz="1900" dirty="0">
                <a:solidFill>
                  <a:srgbClr val="5B6B7B"/>
                </a:solidFill>
                <a:latin typeface="Calibri" pitchFamily="34" charset="0"/>
                <a:ea typeface="Calibri" pitchFamily="34" charset="-122"/>
                <a:cs typeface="Calibri" pitchFamily="34" charset="-120"/>
              </a:rPr>
              <a:t>Hoe ontwikkelde de Nederlandse economie zich na de jaren dertig?</a:t>
            </a:r>
            <a:endParaRPr lang="nl-NL" sz="1900" dirty="0"/>
          </a:p>
        </p:txBody>
      </p:sp>
      <p:sp>
        <p:nvSpPr>
          <p:cNvPr id="5" name="!!seg0"/>
          <p:cNvSpPr/>
          <p:nvPr/>
        </p:nvSpPr>
        <p:spPr>
          <a:xfrm>
            <a:off x="1572768" y="2788920"/>
            <a:ext cx="2267712" cy="1737360"/>
          </a:xfrm>
          <a:prstGeom prst="line">
            <a:avLst/>
          </a:prstGeom>
          <a:noFill/>
          <a:ln w="38100">
            <a:solidFill>
              <a:srgbClr val="F28C38"/>
            </a:solidFill>
            <a:prstDash val="dash"/>
          </a:ln>
        </p:spPr>
        <p:txBody>
          <a:bodyPr/>
          <a:lstStyle/>
          <a:p>
            <a:endParaRPr lang="nl-NL"/>
          </a:p>
        </p:txBody>
      </p:sp>
      <p:sp>
        <p:nvSpPr>
          <p:cNvPr id="6" name="!!seg1"/>
          <p:cNvSpPr/>
          <p:nvPr/>
        </p:nvSpPr>
        <p:spPr>
          <a:xfrm flipV="1">
            <a:off x="3840480" y="2788920"/>
            <a:ext cx="2258568" cy="1737360"/>
          </a:xfrm>
          <a:prstGeom prst="line">
            <a:avLst/>
          </a:prstGeom>
          <a:noFill/>
          <a:ln w="38100">
            <a:solidFill>
              <a:srgbClr val="F28C38"/>
            </a:solidFill>
            <a:prstDash val="dash"/>
          </a:ln>
        </p:spPr>
        <p:txBody>
          <a:bodyPr/>
          <a:lstStyle/>
          <a:p>
            <a:endParaRPr lang="nl-NL"/>
          </a:p>
        </p:txBody>
      </p:sp>
      <p:sp>
        <p:nvSpPr>
          <p:cNvPr id="7" name="!!seg2"/>
          <p:cNvSpPr/>
          <p:nvPr/>
        </p:nvSpPr>
        <p:spPr>
          <a:xfrm>
            <a:off x="6099048" y="2788920"/>
            <a:ext cx="2258568" cy="1737360"/>
          </a:xfrm>
          <a:prstGeom prst="line">
            <a:avLst/>
          </a:prstGeom>
          <a:noFill/>
          <a:ln w="38100">
            <a:solidFill>
              <a:srgbClr val="F28C38"/>
            </a:solidFill>
            <a:prstDash val="dash"/>
          </a:ln>
        </p:spPr>
        <p:txBody>
          <a:bodyPr/>
          <a:lstStyle/>
          <a:p>
            <a:endParaRPr lang="nl-NL"/>
          </a:p>
        </p:txBody>
      </p:sp>
      <p:sp>
        <p:nvSpPr>
          <p:cNvPr id="8" name="!!seg3"/>
          <p:cNvSpPr/>
          <p:nvPr/>
        </p:nvSpPr>
        <p:spPr>
          <a:xfrm flipV="1">
            <a:off x="8357616" y="2788920"/>
            <a:ext cx="2258568" cy="1737360"/>
          </a:xfrm>
          <a:prstGeom prst="line">
            <a:avLst/>
          </a:prstGeom>
          <a:noFill/>
          <a:ln w="38100">
            <a:solidFill>
              <a:srgbClr val="F28C38"/>
            </a:solidFill>
            <a:prstDash val="dash"/>
          </a:ln>
        </p:spPr>
        <p:txBody>
          <a:bodyPr/>
          <a:lstStyle/>
          <a:p>
            <a:endParaRPr lang="nl-NL"/>
          </a:p>
        </p:txBody>
      </p:sp>
      <p:sp>
        <p:nvSpPr>
          <p:cNvPr id="9" name="!!tframe1"/>
          <p:cNvSpPr/>
          <p:nvPr/>
        </p:nvSpPr>
        <p:spPr>
          <a:xfrm>
            <a:off x="466344" y="2147139"/>
            <a:ext cx="2212848" cy="1283562"/>
          </a:xfrm>
          <a:prstGeom prst="roundRect">
            <a:avLst>
              <a:gd name="adj" fmla="val 427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0" name="!!tile1" descr="info_oorlog">
            <a:hlinkClick r:id="rId3" action="ppaction://hlinksldjump" tooltip="Ga naar Oorlog"/>
          </p:cNvPr>
          <p:cNvPicPr>
            <a:picLocks noChangeAspect="1"/>
          </p:cNvPicPr>
          <p:nvPr/>
        </p:nvPicPr>
        <p:blipFill>
          <a:blip r:embed="rId4"/>
          <a:stretch>
            <a:fillRect/>
          </a:stretch>
        </p:blipFill>
        <p:spPr>
          <a:xfrm>
            <a:off x="521208" y="2202003"/>
            <a:ext cx="2103120" cy="1173834"/>
          </a:xfrm>
          <a:prstGeom prst="rect">
            <a:avLst/>
          </a:prstGeom>
        </p:spPr>
      </p:pic>
      <p:sp>
        <p:nvSpPr>
          <p:cNvPr id="11" name="!!tnum1"/>
          <p:cNvSpPr/>
          <p:nvPr/>
        </p:nvSpPr>
        <p:spPr>
          <a:xfrm>
            <a:off x="521208" y="1497915"/>
            <a:ext cx="384048" cy="384048"/>
          </a:xfrm>
          <a:prstGeom prst="ellipse">
            <a:avLst/>
          </a:prstGeom>
          <a:solidFill>
            <a:srgbClr val="5B6B82"/>
          </a:solidFill>
          <a:ln/>
        </p:spPr>
        <p:txBody>
          <a:bodyPr/>
          <a:lstStyle/>
          <a:p>
            <a:endParaRPr lang="nl-NL"/>
          </a:p>
        </p:txBody>
      </p:sp>
      <p:sp>
        <p:nvSpPr>
          <p:cNvPr id="12" name="!!tnumt1"/>
          <p:cNvSpPr txBox="1"/>
          <p:nvPr/>
        </p:nvSpPr>
        <p:spPr>
          <a:xfrm>
            <a:off x="521208" y="1497915"/>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1</a:t>
            </a:r>
            <a:endParaRPr lang="nl-NL" sz="1600" dirty="0"/>
          </a:p>
        </p:txBody>
      </p:sp>
      <p:sp>
        <p:nvSpPr>
          <p:cNvPr id="13" name="!!tlbl1"/>
          <p:cNvSpPr txBox="1"/>
          <p:nvPr/>
        </p:nvSpPr>
        <p:spPr>
          <a:xfrm>
            <a:off x="996696" y="1452195"/>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Oorlog</a:t>
            </a:r>
            <a:endParaRPr lang="nl-NL" sz="1700" dirty="0"/>
          </a:p>
        </p:txBody>
      </p:sp>
      <p:sp>
        <p:nvSpPr>
          <p:cNvPr id="14" name="!!tyr1"/>
          <p:cNvSpPr txBox="1"/>
          <p:nvPr/>
        </p:nvSpPr>
        <p:spPr>
          <a:xfrm>
            <a:off x="996696" y="1726515"/>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15" name="!!chk1"/>
          <p:cNvSpPr/>
          <p:nvPr/>
        </p:nvSpPr>
        <p:spPr>
          <a:xfrm>
            <a:off x="2350008" y="2000835"/>
            <a:ext cx="457200" cy="457200"/>
          </a:xfrm>
          <a:prstGeom prst="ellipse">
            <a:avLst/>
          </a:prstGeom>
          <a:solidFill>
            <a:srgbClr val="2E8B74"/>
          </a:solidFill>
          <a:ln w="31750">
            <a:solidFill>
              <a:srgbClr val="FFFFFF"/>
            </a:solidFill>
            <a:prstDash val="solid"/>
          </a:ln>
        </p:spPr>
        <p:txBody>
          <a:bodyPr/>
          <a:lstStyle/>
          <a:p>
            <a:endParaRPr lang="nl-NL"/>
          </a:p>
        </p:txBody>
      </p:sp>
      <p:pic>
        <p:nvPicPr>
          <p:cNvPr id="16" name="!!chki1" descr="check_w"/>
          <p:cNvPicPr>
            <a:picLocks noChangeAspect="1"/>
          </p:cNvPicPr>
          <p:nvPr/>
        </p:nvPicPr>
        <p:blipFill>
          <a:blip r:embed="rId5"/>
          <a:stretch>
            <a:fillRect/>
          </a:stretch>
        </p:blipFill>
        <p:spPr>
          <a:xfrm>
            <a:off x="2459736" y="2110563"/>
            <a:ext cx="237744" cy="237744"/>
          </a:xfrm>
          <a:prstGeom prst="rect">
            <a:avLst/>
          </a:prstGeom>
        </p:spPr>
      </p:pic>
      <p:sp>
        <p:nvSpPr>
          <p:cNvPr id="17" name="!!tframe2"/>
          <p:cNvSpPr/>
          <p:nvPr/>
        </p:nvSpPr>
        <p:spPr>
          <a:xfrm>
            <a:off x="2734056"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18" name="!!tile2" descr="rotterdam_169">
            <a:hlinkClick r:id="rId6" action="ppaction://hlinksldjump" tooltip="Ga naar Wederopbouw"/>
          </p:cNvPr>
          <p:cNvPicPr>
            <a:picLocks noChangeAspect="1"/>
          </p:cNvPicPr>
          <p:nvPr/>
        </p:nvPicPr>
        <p:blipFill>
          <a:blip r:embed="rId7"/>
          <a:stretch>
            <a:fillRect/>
          </a:stretch>
        </p:blipFill>
        <p:spPr>
          <a:xfrm>
            <a:off x="2788920" y="3934778"/>
            <a:ext cx="2103120" cy="1183005"/>
          </a:xfrm>
          <a:prstGeom prst="rect">
            <a:avLst/>
          </a:prstGeom>
        </p:spPr>
      </p:pic>
      <p:sp>
        <p:nvSpPr>
          <p:cNvPr id="19" name="!!tnum2"/>
          <p:cNvSpPr/>
          <p:nvPr/>
        </p:nvSpPr>
        <p:spPr>
          <a:xfrm>
            <a:off x="2788920" y="5318951"/>
            <a:ext cx="384048" cy="384048"/>
          </a:xfrm>
          <a:prstGeom prst="ellipse">
            <a:avLst/>
          </a:prstGeom>
          <a:solidFill>
            <a:srgbClr val="2E8B74"/>
          </a:solidFill>
          <a:ln/>
        </p:spPr>
        <p:txBody>
          <a:bodyPr/>
          <a:lstStyle/>
          <a:p>
            <a:endParaRPr lang="nl-NL"/>
          </a:p>
        </p:txBody>
      </p:sp>
      <p:sp>
        <p:nvSpPr>
          <p:cNvPr id="20" name="!!tnumt2"/>
          <p:cNvSpPr txBox="1"/>
          <p:nvPr/>
        </p:nvSpPr>
        <p:spPr>
          <a:xfrm>
            <a:off x="2788920"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2</a:t>
            </a:r>
            <a:endParaRPr lang="nl-NL" sz="1600" dirty="0"/>
          </a:p>
        </p:txBody>
      </p:sp>
      <p:sp>
        <p:nvSpPr>
          <p:cNvPr id="21" name="!!tlbl2"/>
          <p:cNvSpPr txBox="1"/>
          <p:nvPr/>
        </p:nvSpPr>
        <p:spPr>
          <a:xfrm>
            <a:off x="3264408"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Wederopbouw</a:t>
            </a:r>
            <a:endParaRPr lang="nl-NL" sz="1700" dirty="0"/>
          </a:p>
        </p:txBody>
      </p:sp>
      <p:sp>
        <p:nvSpPr>
          <p:cNvPr id="22" name="!!tyr2"/>
          <p:cNvSpPr txBox="1"/>
          <p:nvPr/>
        </p:nvSpPr>
        <p:spPr>
          <a:xfrm>
            <a:off x="3264408"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23" name="!!chk2"/>
          <p:cNvSpPr/>
          <p:nvPr/>
        </p:nvSpPr>
        <p:spPr>
          <a:xfrm>
            <a:off x="4617720" y="3733610"/>
            <a:ext cx="457200" cy="457200"/>
          </a:xfrm>
          <a:prstGeom prst="ellipse">
            <a:avLst/>
          </a:prstGeom>
          <a:solidFill>
            <a:srgbClr val="2E8B74"/>
          </a:solidFill>
          <a:ln w="31750">
            <a:solidFill>
              <a:srgbClr val="FFFFFF"/>
            </a:solidFill>
            <a:prstDash val="solid"/>
          </a:ln>
        </p:spPr>
        <p:txBody>
          <a:bodyPr/>
          <a:lstStyle/>
          <a:p>
            <a:endParaRPr lang="nl-NL"/>
          </a:p>
        </p:txBody>
      </p:sp>
      <p:pic>
        <p:nvPicPr>
          <p:cNvPr id="24" name="!!chki2" descr="check_w"/>
          <p:cNvPicPr>
            <a:picLocks noChangeAspect="1"/>
          </p:cNvPicPr>
          <p:nvPr/>
        </p:nvPicPr>
        <p:blipFill>
          <a:blip r:embed="rId5"/>
          <a:stretch>
            <a:fillRect/>
          </a:stretch>
        </p:blipFill>
        <p:spPr>
          <a:xfrm>
            <a:off x="4727448" y="3843338"/>
            <a:ext cx="237744" cy="237744"/>
          </a:xfrm>
          <a:prstGeom prst="rect">
            <a:avLst/>
          </a:prstGeom>
        </p:spPr>
      </p:pic>
      <p:sp>
        <p:nvSpPr>
          <p:cNvPr id="25" name="!!tframe3"/>
          <p:cNvSpPr/>
          <p:nvPr/>
        </p:nvSpPr>
        <p:spPr>
          <a:xfrm>
            <a:off x="4992624"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26" name="!!tile3" descr="woonkamer_169">
            <a:hlinkClick r:id="rId8" action="ppaction://hlinksldjump" tooltip="Ga naar Welvaart"/>
          </p:cNvPr>
          <p:cNvPicPr>
            <a:picLocks noChangeAspect="1"/>
          </p:cNvPicPr>
          <p:nvPr/>
        </p:nvPicPr>
        <p:blipFill>
          <a:blip r:embed="rId9"/>
          <a:stretch>
            <a:fillRect/>
          </a:stretch>
        </p:blipFill>
        <p:spPr>
          <a:xfrm>
            <a:off x="5047488" y="2197417"/>
            <a:ext cx="2103120" cy="1183005"/>
          </a:xfrm>
          <a:prstGeom prst="rect">
            <a:avLst/>
          </a:prstGeom>
        </p:spPr>
      </p:pic>
      <p:sp>
        <p:nvSpPr>
          <p:cNvPr id="27" name="!!tnum3"/>
          <p:cNvSpPr/>
          <p:nvPr/>
        </p:nvSpPr>
        <p:spPr>
          <a:xfrm>
            <a:off x="5047488" y="1493330"/>
            <a:ext cx="384048" cy="384048"/>
          </a:xfrm>
          <a:prstGeom prst="ellipse">
            <a:avLst/>
          </a:prstGeom>
          <a:solidFill>
            <a:srgbClr val="E07A3F"/>
          </a:solidFill>
          <a:ln/>
        </p:spPr>
        <p:txBody>
          <a:bodyPr/>
          <a:lstStyle/>
          <a:p>
            <a:endParaRPr lang="nl-NL"/>
          </a:p>
        </p:txBody>
      </p:sp>
      <p:sp>
        <p:nvSpPr>
          <p:cNvPr id="28" name="!!tnumt3"/>
          <p:cNvSpPr txBox="1"/>
          <p:nvPr/>
        </p:nvSpPr>
        <p:spPr>
          <a:xfrm>
            <a:off x="5047488"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3</a:t>
            </a:r>
            <a:endParaRPr lang="nl-NL" sz="1600" dirty="0"/>
          </a:p>
        </p:txBody>
      </p:sp>
      <p:sp>
        <p:nvSpPr>
          <p:cNvPr id="29" name="!!tlbl3"/>
          <p:cNvSpPr txBox="1"/>
          <p:nvPr/>
        </p:nvSpPr>
        <p:spPr>
          <a:xfrm>
            <a:off x="5522976"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Welvaart</a:t>
            </a:r>
            <a:endParaRPr lang="nl-NL" sz="1700" dirty="0"/>
          </a:p>
        </p:txBody>
      </p:sp>
      <p:sp>
        <p:nvSpPr>
          <p:cNvPr id="30" name="!!tyr3"/>
          <p:cNvSpPr txBox="1"/>
          <p:nvPr/>
        </p:nvSpPr>
        <p:spPr>
          <a:xfrm>
            <a:off x="5522976"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31" name="!!chk3"/>
          <p:cNvSpPr/>
          <p:nvPr/>
        </p:nvSpPr>
        <p:spPr>
          <a:xfrm>
            <a:off x="6876288" y="1996249"/>
            <a:ext cx="457200" cy="457200"/>
          </a:xfrm>
          <a:prstGeom prst="ellipse">
            <a:avLst/>
          </a:prstGeom>
          <a:solidFill>
            <a:srgbClr val="2E8B74"/>
          </a:solidFill>
          <a:ln w="31750">
            <a:solidFill>
              <a:srgbClr val="FFFFFF"/>
            </a:solidFill>
            <a:prstDash val="solid"/>
          </a:ln>
        </p:spPr>
        <p:txBody>
          <a:bodyPr/>
          <a:lstStyle/>
          <a:p>
            <a:endParaRPr lang="nl-NL"/>
          </a:p>
        </p:txBody>
      </p:sp>
      <p:pic>
        <p:nvPicPr>
          <p:cNvPr id="32" name="!!chki3" descr="check_w"/>
          <p:cNvPicPr>
            <a:picLocks noChangeAspect="1"/>
          </p:cNvPicPr>
          <p:nvPr/>
        </p:nvPicPr>
        <p:blipFill>
          <a:blip r:embed="rId5"/>
          <a:stretch>
            <a:fillRect/>
          </a:stretch>
        </p:blipFill>
        <p:spPr>
          <a:xfrm>
            <a:off x="6986016" y="2105977"/>
            <a:ext cx="237744" cy="237744"/>
          </a:xfrm>
          <a:prstGeom prst="rect">
            <a:avLst/>
          </a:prstGeom>
        </p:spPr>
      </p:pic>
      <p:sp>
        <p:nvSpPr>
          <p:cNvPr id="33" name="!!tframe4"/>
          <p:cNvSpPr/>
          <p:nvPr/>
        </p:nvSpPr>
        <p:spPr>
          <a:xfrm>
            <a:off x="7251192" y="3879914"/>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34" name="!!tile4" descr="robots_169">
            <a:hlinkClick r:id="rId10" action="ppaction://hlinksldjump" tooltip="Ga naar Crisis"/>
          </p:cNvPr>
          <p:cNvPicPr>
            <a:picLocks noChangeAspect="1"/>
          </p:cNvPicPr>
          <p:nvPr/>
        </p:nvPicPr>
        <p:blipFill>
          <a:blip r:embed="rId11"/>
          <a:stretch>
            <a:fillRect/>
          </a:stretch>
        </p:blipFill>
        <p:spPr>
          <a:xfrm>
            <a:off x="7306056" y="3934778"/>
            <a:ext cx="2103120" cy="1183005"/>
          </a:xfrm>
          <a:prstGeom prst="rect">
            <a:avLst/>
          </a:prstGeom>
        </p:spPr>
      </p:pic>
      <p:sp>
        <p:nvSpPr>
          <p:cNvPr id="35" name="!!tnum4"/>
          <p:cNvSpPr/>
          <p:nvPr/>
        </p:nvSpPr>
        <p:spPr>
          <a:xfrm>
            <a:off x="7306056" y="5318951"/>
            <a:ext cx="384048" cy="384048"/>
          </a:xfrm>
          <a:prstGeom prst="ellipse">
            <a:avLst/>
          </a:prstGeom>
          <a:solidFill>
            <a:srgbClr val="8A5A83"/>
          </a:solidFill>
          <a:ln/>
        </p:spPr>
        <p:txBody>
          <a:bodyPr/>
          <a:lstStyle/>
          <a:p>
            <a:endParaRPr lang="nl-NL"/>
          </a:p>
        </p:txBody>
      </p:sp>
      <p:sp>
        <p:nvSpPr>
          <p:cNvPr id="36" name="!!tnumt4"/>
          <p:cNvSpPr txBox="1"/>
          <p:nvPr/>
        </p:nvSpPr>
        <p:spPr>
          <a:xfrm>
            <a:off x="7306056" y="5318951"/>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4</a:t>
            </a:r>
            <a:endParaRPr lang="nl-NL" sz="1600" dirty="0"/>
          </a:p>
        </p:txBody>
      </p:sp>
      <p:sp>
        <p:nvSpPr>
          <p:cNvPr id="37" name="!!tlbl4"/>
          <p:cNvSpPr txBox="1"/>
          <p:nvPr/>
        </p:nvSpPr>
        <p:spPr>
          <a:xfrm>
            <a:off x="7781544" y="5273231"/>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Crisis</a:t>
            </a:r>
            <a:endParaRPr lang="nl-NL" sz="1700" dirty="0"/>
          </a:p>
        </p:txBody>
      </p:sp>
      <p:sp>
        <p:nvSpPr>
          <p:cNvPr id="38" name="!!tyr4"/>
          <p:cNvSpPr txBox="1"/>
          <p:nvPr/>
        </p:nvSpPr>
        <p:spPr>
          <a:xfrm>
            <a:off x="7781544" y="5547551"/>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39" name="!!chk4"/>
          <p:cNvSpPr/>
          <p:nvPr/>
        </p:nvSpPr>
        <p:spPr>
          <a:xfrm>
            <a:off x="9134856" y="3733610"/>
            <a:ext cx="457200" cy="457200"/>
          </a:xfrm>
          <a:prstGeom prst="ellipse">
            <a:avLst/>
          </a:prstGeom>
          <a:solidFill>
            <a:srgbClr val="2E8B74"/>
          </a:solidFill>
          <a:ln w="31750">
            <a:solidFill>
              <a:srgbClr val="FFFFFF"/>
            </a:solidFill>
            <a:prstDash val="solid"/>
          </a:ln>
        </p:spPr>
        <p:txBody>
          <a:bodyPr/>
          <a:lstStyle/>
          <a:p>
            <a:endParaRPr lang="nl-NL"/>
          </a:p>
        </p:txBody>
      </p:sp>
      <p:pic>
        <p:nvPicPr>
          <p:cNvPr id="40" name="!!chki4" descr="check_w"/>
          <p:cNvPicPr>
            <a:picLocks noChangeAspect="1"/>
          </p:cNvPicPr>
          <p:nvPr/>
        </p:nvPicPr>
        <p:blipFill>
          <a:blip r:embed="rId5"/>
          <a:stretch>
            <a:fillRect/>
          </a:stretch>
        </p:blipFill>
        <p:spPr>
          <a:xfrm>
            <a:off x="9244584" y="3843338"/>
            <a:ext cx="237744" cy="237744"/>
          </a:xfrm>
          <a:prstGeom prst="rect">
            <a:avLst/>
          </a:prstGeom>
        </p:spPr>
      </p:pic>
      <p:sp>
        <p:nvSpPr>
          <p:cNvPr id="41" name="!!tframe5"/>
          <p:cNvSpPr/>
          <p:nvPr/>
        </p:nvSpPr>
        <p:spPr>
          <a:xfrm>
            <a:off x="9509760" y="2142553"/>
            <a:ext cx="2212848" cy="1292733"/>
          </a:xfrm>
          <a:prstGeom prst="roundRect">
            <a:avLst>
              <a:gd name="adj" fmla="val 4244"/>
            </a:avLst>
          </a:prstGeom>
          <a:solidFill>
            <a:srgbClr val="FFFFFF"/>
          </a:solidFill>
          <a:ln/>
          <a:effectLst>
            <a:outerShdw blurRad="127000" dist="38100" dir="5400000" algn="bl" rotWithShape="0">
              <a:srgbClr val="000000">
                <a:alpha val="20000"/>
              </a:srgbClr>
            </a:outerShdw>
          </a:effectLst>
        </p:spPr>
        <p:txBody>
          <a:bodyPr/>
          <a:lstStyle/>
          <a:p>
            <a:endParaRPr lang="nl-NL"/>
          </a:p>
        </p:txBody>
      </p:sp>
      <p:pic>
        <p:nvPicPr>
          <p:cNvPr id="42" name="!!tile5" descr="haven_169">
            <a:hlinkClick r:id="rId12" action="ppaction://hlinksldjump" tooltip="Ga naar Nederland nu"/>
          </p:cNvPr>
          <p:cNvPicPr>
            <a:picLocks noChangeAspect="1"/>
          </p:cNvPicPr>
          <p:nvPr/>
        </p:nvPicPr>
        <p:blipFill>
          <a:blip r:embed="rId13"/>
          <a:stretch>
            <a:fillRect/>
          </a:stretch>
        </p:blipFill>
        <p:spPr>
          <a:xfrm>
            <a:off x="9564624" y="2197417"/>
            <a:ext cx="2103120" cy="1183005"/>
          </a:xfrm>
          <a:prstGeom prst="rect">
            <a:avLst/>
          </a:prstGeom>
        </p:spPr>
      </p:pic>
      <p:sp>
        <p:nvSpPr>
          <p:cNvPr id="43" name="!!tnum5"/>
          <p:cNvSpPr/>
          <p:nvPr/>
        </p:nvSpPr>
        <p:spPr>
          <a:xfrm>
            <a:off x="9564624" y="1493330"/>
            <a:ext cx="384048" cy="384048"/>
          </a:xfrm>
          <a:prstGeom prst="ellipse">
            <a:avLst/>
          </a:prstGeom>
          <a:solidFill>
            <a:srgbClr val="2F7BB5"/>
          </a:solidFill>
          <a:ln/>
        </p:spPr>
        <p:txBody>
          <a:bodyPr/>
          <a:lstStyle/>
          <a:p>
            <a:endParaRPr lang="nl-NL"/>
          </a:p>
        </p:txBody>
      </p:sp>
      <p:sp>
        <p:nvSpPr>
          <p:cNvPr id="44" name="!!tnumt5"/>
          <p:cNvSpPr txBox="1"/>
          <p:nvPr/>
        </p:nvSpPr>
        <p:spPr>
          <a:xfrm>
            <a:off x="9564624" y="1493330"/>
            <a:ext cx="384048" cy="384048"/>
          </a:xfrm>
          <a:prstGeom prst="rect">
            <a:avLst/>
          </a:prstGeom>
          <a:noFill/>
          <a:ln/>
        </p:spPr>
        <p:txBody>
          <a:bodyPr wrap="square" lIns="0" tIns="0" rIns="0" bIns="0" rtlCol="0" anchor="ctr"/>
          <a:lstStyle/>
          <a:p>
            <a:pPr marL="0" indent="0" algn="ctr">
              <a:buNone/>
            </a:pPr>
            <a:r>
              <a:rPr lang="nl-NL" sz="1600" b="1" dirty="0">
                <a:solidFill>
                  <a:srgbClr val="FFFFFF"/>
                </a:solidFill>
                <a:latin typeface="Calibri" pitchFamily="34" charset="0"/>
                <a:ea typeface="Calibri" pitchFamily="34" charset="-122"/>
                <a:cs typeface="Calibri" pitchFamily="34" charset="-120"/>
              </a:rPr>
              <a:t>5</a:t>
            </a:r>
            <a:endParaRPr lang="nl-NL" sz="1600" dirty="0"/>
          </a:p>
        </p:txBody>
      </p:sp>
      <p:sp>
        <p:nvSpPr>
          <p:cNvPr id="45" name="!!tlbl5"/>
          <p:cNvSpPr txBox="1"/>
          <p:nvPr/>
        </p:nvSpPr>
        <p:spPr>
          <a:xfrm>
            <a:off x="10040112" y="1447610"/>
            <a:ext cx="1645920" cy="292608"/>
          </a:xfrm>
          <a:prstGeom prst="rect">
            <a:avLst/>
          </a:prstGeom>
          <a:noFill/>
          <a:ln/>
        </p:spPr>
        <p:txBody>
          <a:bodyPr wrap="square" lIns="0" tIns="0" rIns="0" bIns="0" rtlCol="0" anchor="t"/>
          <a:lstStyle/>
          <a:p>
            <a:pPr marL="0" indent="0" algn="l">
              <a:buNone/>
            </a:pPr>
            <a:r>
              <a:rPr lang="nl-NL" sz="1700" b="1" dirty="0">
                <a:solidFill>
                  <a:srgbClr val="1E2A3A"/>
                </a:solidFill>
                <a:latin typeface="Calibri" pitchFamily="34" charset="0"/>
                <a:ea typeface="Calibri" pitchFamily="34" charset="-122"/>
                <a:cs typeface="Calibri" pitchFamily="34" charset="-120"/>
              </a:rPr>
              <a:t>Nederland nu</a:t>
            </a:r>
            <a:endParaRPr lang="nl-NL" sz="1700" dirty="0"/>
          </a:p>
        </p:txBody>
      </p:sp>
      <p:sp>
        <p:nvSpPr>
          <p:cNvPr id="46" name="!!tyr5"/>
          <p:cNvSpPr txBox="1"/>
          <p:nvPr/>
        </p:nvSpPr>
        <p:spPr>
          <a:xfrm>
            <a:off x="10040112" y="1721930"/>
            <a:ext cx="1645920" cy="256032"/>
          </a:xfrm>
          <a:prstGeom prst="rect">
            <a:avLst/>
          </a:prstGeom>
          <a:noFill/>
          <a:ln/>
        </p:spPr>
        <p:txBody>
          <a:bodyPr wrap="square" lIns="0" tIns="0" rIns="0" bIns="0" rtlCol="0" anchor="t"/>
          <a:lstStyle/>
          <a:p>
            <a:pPr marL="0" indent="0" algn="l">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
        <p:nvSpPr>
          <p:cNvPr id="47" name="s40_next"/>
          <p:cNvSpPr/>
          <p:nvPr/>
        </p:nvSpPr>
        <p:spPr>
          <a:xfrm>
            <a:off x="9418320" y="2051113"/>
            <a:ext cx="2395728" cy="1475613"/>
          </a:xfrm>
          <a:prstGeom prst="roundRect">
            <a:avLst>
              <a:gd name="adj" fmla="val 4957"/>
            </a:avLst>
          </a:prstGeom>
          <a:ln w="50800">
            <a:solidFill>
              <a:srgbClr val="F28C38"/>
            </a:solidFill>
            <a:prstDash val="solid"/>
          </a:ln>
        </p:spPr>
        <p:txBody>
          <a:bodyPr/>
          <a:lstStyle/>
          <a:p>
            <a:endParaRPr lang="nl-NL"/>
          </a:p>
        </p:txBody>
      </p:sp>
      <p:sp>
        <p:nvSpPr>
          <p:cNvPr id="48" name="s40_nextchip"/>
          <p:cNvSpPr txBox="1"/>
          <p:nvPr/>
        </p:nvSpPr>
        <p:spPr>
          <a:xfrm>
            <a:off x="10049256" y="3618167"/>
            <a:ext cx="1003808" cy="274320"/>
          </a:xfrm>
          <a:prstGeom prst="roundRect">
            <a:avLst>
              <a:gd name="adj" fmla="val 50000"/>
            </a:avLst>
          </a:prstGeom>
          <a:solidFill>
            <a:srgbClr val="F28C38"/>
          </a:solidFill>
          <a:ln/>
        </p:spPr>
        <p:txBody>
          <a:bodyPr wrap="square" lIns="0" tIns="0" rIns="0" bIns="0" rtlCol="0" anchor="ctr"/>
          <a:lstStyle/>
          <a:p>
            <a:pPr marL="0" indent="0" algn="ctr">
              <a:buNone/>
            </a:pPr>
            <a:r>
              <a:rPr lang="nl-NL" sz="1100" b="1" kern="0" spc="100" dirty="0">
                <a:solidFill>
                  <a:srgbClr val="FFFFFF"/>
                </a:solidFill>
                <a:latin typeface="Calibri" pitchFamily="34" charset="0"/>
                <a:ea typeface="Calibri" pitchFamily="34" charset="-122"/>
                <a:cs typeface="Calibri" pitchFamily="34" charset="-120"/>
              </a:rPr>
              <a:t>VOLGENDE</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50" fill="hold"/>
                                        <p:tgtEl>
                                          <p:spTgt spid="3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3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39"/>
                                        </p:tgtEl>
                                      </p:cBhvr>
                                    </p:animEffect>
                                  </p:childTnLst>
                                </p:cTn>
                              </p:par>
                              <p:par>
                                <p:cTn id="10" presetID="53" presetClass="entr" presetSubtype="16" fill="hold" nodeType="with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50" fill="hold"/>
                                        <p:tgtEl>
                                          <p:spTgt spid="4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4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4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50" fill="hold"/>
                                        <p:tgtEl>
                                          <p:spTgt spid="4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0" dur="550" fill="hold"/>
                                        <p:tgtEl>
                                          <p:spTgt spid="4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1" dur="275"/>
                                        <p:tgtEl>
                                          <p:spTgt spid="4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 calcmode="lin" valueType="num">
                                      <p:cBhvr additive="base">
                                        <p:cTn id="24" dur="550" fill="hold"/>
                                        <p:tgtEl>
                                          <p:spTgt spid="4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550" fill="hold"/>
                                        <p:tgtEl>
                                          <p:spTgt spid="4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75"/>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7" grpId="0" animBg="1"/>
      <p:bldP spid="4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pic>
        <p:nvPicPr>
          <p:cNvPr id="2" name="!!tile5" descr="haven_169"/>
          <p:cNvPicPr>
            <a:picLocks noChangeAspect="1"/>
          </p:cNvPicPr>
          <p:nvPr/>
        </p:nvPicPr>
        <p:blipFill>
          <a:blip r:embed="rId3"/>
          <a:stretch>
            <a:fillRect/>
          </a:stretch>
        </p:blipFill>
        <p:spPr>
          <a:xfrm>
            <a:off x="0" y="0"/>
            <a:ext cx="12191695" cy="6858000"/>
          </a:xfrm>
          <a:prstGeom prst="rect">
            <a:avLst/>
          </a:prstGeom>
        </p:spPr>
      </p:pic>
      <p:sp>
        <p:nvSpPr>
          <p:cNvPr id="3" name="s41_bron"/>
          <p:cNvSpPr txBox="1"/>
          <p:nvPr/>
        </p:nvSpPr>
        <p:spPr>
          <a:xfrm>
            <a:off x="274320" y="6419088"/>
            <a:ext cx="3017520" cy="274320"/>
          </a:xfrm>
          <a:prstGeom prst="roundRect">
            <a:avLst>
              <a:gd name="adj" fmla="val 50000"/>
            </a:avLst>
          </a:prstGeom>
          <a:solidFill>
            <a:srgbClr val="1E2A3A">
              <a:alpha val="60000"/>
            </a:srgbClr>
          </a:solidFill>
          <a:ln/>
        </p:spPr>
        <p:txBody>
          <a:bodyPr wrap="square" lIns="0" tIns="0" rIns="0" bIns="0" rtlCol="0" anchor="ctr"/>
          <a:lstStyle/>
          <a:p>
            <a:pPr marL="0" indent="0" algn="ctr">
              <a:buNone/>
            </a:pPr>
            <a:r>
              <a:rPr lang="nl-NL" sz="1100" dirty="0">
                <a:solidFill>
                  <a:srgbClr val="FFFFFF"/>
                </a:solidFill>
                <a:latin typeface="Calibri" pitchFamily="34" charset="0"/>
                <a:ea typeface="Calibri" pitchFamily="34" charset="-122"/>
                <a:cs typeface="Calibri" pitchFamily="34" charset="-120"/>
              </a:rPr>
              <a:t>Bron 48 · Haven van Rotterdam, 2021</a:t>
            </a:r>
            <a:endParaRPr lang="nl-NL" sz="1100" dirty="0"/>
          </a:p>
        </p:txBody>
      </p:sp>
      <p:sp>
        <p:nvSpPr>
          <p:cNvPr id="4" name="!!card"/>
          <p:cNvSpPr/>
          <p:nvPr/>
        </p:nvSpPr>
        <p:spPr>
          <a:xfrm>
            <a:off x="7635240" y="384048"/>
            <a:ext cx="4224528" cy="5669280"/>
          </a:xfrm>
          <a:prstGeom prst="roundRect">
            <a:avLst>
              <a:gd name="adj" fmla="val 3030"/>
            </a:avLst>
          </a:prstGeom>
          <a:solidFill>
            <a:srgbClr val="FFFFFF"/>
          </a:solidFill>
          <a:ln/>
          <a:effectLst>
            <a:outerShdw blurRad="127000" dist="38100" dir="5400000" algn="bl" rotWithShape="0">
              <a:srgbClr val="000000">
                <a:alpha val="20000"/>
              </a:srgbClr>
            </a:outerShdw>
          </a:effectLst>
        </p:spPr>
        <p:txBody>
          <a:bodyPr/>
          <a:lstStyle/>
          <a:p>
            <a:endParaRPr lang="nl-NL"/>
          </a:p>
        </p:txBody>
      </p:sp>
      <p:sp>
        <p:nvSpPr>
          <p:cNvPr id="5" name="!!sectag"/>
          <p:cNvSpPr txBox="1"/>
          <p:nvPr/>
        </p:nvSpPr>
        <p:spPr>
          <a:xfrm>
            <a:off x="7927848" y="640080"/>
            <a:ext cx="3675888" cy="256032"/>
          </a:xfrm>
          <a:prstGeom prst="rect">
            <a:avLst/>
          </a:prstGeom>
          <a:noFill/>
          <a:ln/>
        </p:spPr>
        <p:txBody>
          <a:bodyPr wrap="square" lIns="0" tIns="0" rIns="0" bIns="0" rtlCol="0" anchor="t"/>
          <a:lstStyle/>
          <a:p>
            <a:pPr marL="0" indent="0" algn="l">
              <a:buNone/>
            </a:pPr>
            <a:r>
              <a:rPr lang="nl-NL" sz="1200" b="1" kern="0" spc="150" dirty="0">
                <a:solidFill>
                  <a:srgbClr val="2F7BB5"/>
                </a:solidFill>
                <a:latin typeface="Calibri" pitchFamily="34" charset="0"/>
                <a:ea typeface="Calibri" pitchFamily="34" charset="-122"/>
                <a:cs typeface="Calibri" pitchFamily="34" charset="-120"/>
              </a:rPr>
              <a:t>5 · NEDERLAND NU</a:t>
            </a:r>
            <a:endParaRPr lang="nl-NL" sz="1200" dirty="0"/>
          </a:p>
        </p:txBody>
      </p:sp>
      <p:sp>
        <p:nvSpPr>
          <p:cNvPr id="6" name="!!title"/>
          <p:cNvSpPr txBox="1"/>
          <p:nvPr/>
        </p:nvSpPr>
        <p:spPr>
          <a:xfrm>
            <a:off x="7927848" y="896112"/>
            <a:ext cx="3675888" cy="502920"/>
          </a:xfrm>
          <a:prstGeom prst="rect">
            <a:avLst/>
          </a:prstGeom>
          <a:noFill/>
          <a:ln/>
        </p:spPr>
        <p:txBody>
          <a:bodyPr wrap="square" lIns="0" tIns="0" rIns="0" bIns="0" rtlCol="0" anchor="t"/>
          <a:lstStyle/>
          <a:p>
            <a:pPr marL="0" indent="0" algn="l">
              <a:buNone/>
            </a:pPr>
            <a:r>
              <a:rPr lang="nl-NL" sz="2600" b="1" dirty="0">
                <a:solidFill>
                  <a:srgbClr val="1E2A3A"/>
                </a:solidFill>
                <a:latin typeface="Calibri" pitchFamily="34" charset="0"/>
                <a:ea typeface="Calibri" pitchFamily="34" charset="-122"/>
                <a:cs typeface="Calibri" pitchFamily="34" charset="-120"/>
              </a:rPr>
              <a:t>Handel en transport</a:t>
            </a:r>
            <a:endParaRPr lang="nl-NL" sz="2600" dirty="0"/>
          </a:p>
        </p:txBody>
      </p:sp>
      <p:sp>
        <p:nvSpPr>
          <p:cNvPr id="7" name="s41_bd0"/>
          <p:cNvSpPr/>
          <p:nvPr/>
        </p:nvSpPr>
        <p:spPr>
          <a:xfrm>
            <a:off x="7927848" y="1663446"/>
            <a:ext cx="118872" cy="118872"/>
          </a:xfrm>
          <a:prstGeom prst="ellipse">
            <a:avLst/>
          </a:prstGeom>
          <a:solidFill>
            <a:srgbClr val="F28C38"/>
          </a:solidFill>
          <a:ln/>
        </p:spPr>
        <p:txBody>
          <a:bodyPr/>
          <a:lstStyle/>
          <a:p>
            <a:endParaRPr lang="nl-NL"/>
          </a:p>
        </p:txBody>
      </p:sp>
      <p:sp>
        <p:nvSpPr>
          <p:cNvPr id="8" name="s41_b0"/>
          <p:cNvSpPr txBox="1"/>
          <p:nvPr/>
        </p:nvSpPr>
        <p:spPr>
          <a:xfrm>
            <a:off x="8202168" y="1572768"/>
            <a:ext cx="3364992"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Producten maken is in andere landen veel goedkoper</a:t>
            </a:r>
            <a:endParaRPr lang="nl-NL" sz="1700" dirty="0"/>
          </a:p>
        </p:txBody>
      </p:sp>
      <p:sp>
        <p:nvSpPr>
          <p:cNvPr id="9" name="s41_bd1"/>
          <p:cNvSpPr/>
          <p:nvPr/>
        </p:nvSpPr>
        <p:spPr>
          <a:xfrm>
            <a:off x="7927848" y="2382774"/>
            <a:ext cx="118872" cy="118872"/>
          </a:xfrm>
          <a:prstGeom prst="ellipse">
            <a:avLst/>
          </a:prstGeom>
          <a:solidFill>
            <a:srgbClr val="F28C38"/>
          </a:solidFill>
          <a:ln/>
        </p:spPr>
        <p:txBody>
          <a:bodyPr/>
          <a:lstStyle/>
          <a:p>
            <a:endParaRPr lang="nl-NL"/>
          </a:p>
        </p:txBody>
      </p:sp>
      <p:sp>
        <p:nvSpPr>
          <p:cNvPr id="10" name="s41_b1"/>
          <p:cNvSpPr txBox="1"/>
          <p:nvPr/>
        </p:nvSpPr>
        <p:spPr>
          <a:xfrm>
            <a:off x="8202168" y="2292096"/>
            <a:ext cx="3364992" cy="83210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Nederland richt zich op handel en transport, net als in de Gouden Eeuw</a:t>
            </a:r>
            <a:endParaRPr lang="nl-NL" sz="1700" dirty="0"/>
          </a:p>
        </p:txBody>
      </p:sp>
      <p:sp>
        <p:nvSpPr>
          <p:cNvPr id="11" name="s41_bd2"/>
          <p:cNvSpPr/>
          <p:nvPr/>
        </p:nvSpPr>
        <p:spPr>
          <a:xfrm>
            <a:off x="7927848" y="3361182"/>
            <a:ext cx="118872" cy="118872"/>
          </a:xfrm>
          <a:prstGeom prst="ellipse">
            <a:avLst/>
          </a:prstGeom>
          <a:solidFill>
            <a:srgbClr val="F28C38"/>
          </a:solidFill>
          <a:ln/>
        </p:spPr>
        <p:txBody>
          <a:bodyPr/>
          <a:lstStyle/>
          <a:p>
            <a:endParaRPr lang="nl-NL"/>
          </a:p>
        </p:txBody>
      </p:sp>
      <p:sp>
        <p:nvSpPr>
          <p:cNvPr id="12" name="s41_b2"/>
          <p:cNvSpPr txBox="1"/>
          <p:nvPr/>
        </p:nvSpPr>
        <p:spPr>
          <a:xfrm>
            <a:off x="8202168" y="3270504"/>
            <a:ext cx="3364992"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Heel belangrijk: de Rotterdamse haven en Schiphol</a:t>
            </a:r>
            <a:endParaRPr lang="nl-NL" sz="1700" dirty="0"/>
          </a:p>
        </p:txBody>
      </p:sp>
      <p:sp>
        <p:nvSpPr>
          <p:cNvPr id="13" name="s41_bd3"/>
          <p:cNvSpPr/>
          <p:nvPr/>
        </p:nvSpPr>
        <p:spPr>
          <a:xfrm>
            <a:off x="7927848" y="4080510"/>
            <a:ext cx="118872" cy="118872"/>
          </a:xfrm>
          <a:prstGeom prst="ellipse">
            <a:avLst/>
          </a:prstGeom>
          <a:solidFill>
            <a:srgbClr val="F28C38"/>
          </a:solidFill>
          <a:ln/>
        </p:spPr>
        <p:txBody>
          <a:bodyPr/>
          <a:lstStyle/>
          <a:p>
            <a:endParaRPr lang="nl-NL"/>
          </a:p>
        </p:txBody>
      </p:sp>
      <p:sp>
        <p:nvSpPr>
          <p:cNvPr id="14" name="s41_b3"/>
          <p:cNvSpPr txBox="1"/>
          <p:nvPr/>
        </p:nvSpPr>
        <p:spPr>
          <a:xfrm>
            <a:off x="8202168" y="3989832"/>
            <a:ext cx="3364992" cy="573024"/>
          </a:xfrm>
          <a:prstGeom prst="rect">
            <a:avLst/>
          </a:prstGeom>
          <a:noFill/>
          <a:ln/>
        </p:spPr>
        <p:txBody>
          <a:bodyPr wrap="square" lIns="0" tIns="0" rIns="0" bIns="0" rtlCol="0" anchor="t"/>
          <a:lstStyle/>
          <a:p>
            <a:pPr marL="0" indent="0" algn="l">
              <a:buNone/>
            </a:pPr>
            <a:r>
              <a:rPr lang="nl-NL" sz="1700" dirty="0">
                <a:solidFill>
                  <a:srgbClr val="1E2A3A"/>
                </a:solidFill>
                <a:latin typeface="Calibri" pitchFamily="34" charset="0"/>
                <a:ea typeface="Calibri" pitchFamily="34" charset="-122"/>
                <a:cs typeface="Calibri" pitchFamily="34" charset="-120"/>
              </a:rPr>
              <a:t>Banken en verzekeraars: sinds 1970 drie keer zoveel werknemers</a:t>
            </a:r>
            <a:endParaRPr lang="nl-NL" sz="1700" dirty="0"/>
          </a:p>
        </p:txBody>
      </p:sp>
      <p:sp>
        <p:nvSpPr>
          <p:cNvPr id="15"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16"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17" name="!!rd_d1"/>
          <p:cNvSpPr/>
          <p:nvPr/>
        </p:nvSpPr>
        <p:spPr>
          <a:xfrm>
            <a:off x="2944368" y="6437376"/>
            <a:ext cx="128016" cy="128016"/>
          </a:xfrm>
          <a:prstGeom prst="ellipse">
            <a:avLst/>
          </a:prstGeom>
          <a:solidFill>
            <a:srgbClr val="1E2A3A"/>
          </a:solidFill>
          <a:ln/>
        </p:spPr>
        <p:txBody>
          <a:bodyPr/>
          <a:lstStyle/>
          <a:p>
            <a:endParaRPr lang="nl-NL"/>
          </a:p>
        </p:txBody>
      </p:sp>
      <p:sp>
        <p:nvSpPr>
          <p:cNvPr id="18"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19" name="!!rd_d2"/>
          <p:cNvSpPr/>
          <p:nvPr/>
        </p:nvSpPr>
        <p:spPr>
          <a:xfrm>
            <a:off x="4078224" y="6437376"/>
            <a:ext cx="128016" cy="128016"/>
          </a:xfrm>
          <a:prstGeom prst="ellipse">
            <a:avLst/>
          </a:prstGeom>
          <a:solidFill>
            <a:srgbClr val="1E2A3A"/>
          </a:solidFill>
          <a:ln/>
        </p:spPr>
        <p:txBody>
          <a:bodyPr/>
          <a:lstStyle/>
          <a:p>
            <a:endParaRPr lang="nl-NL"/>
          </a:p>
        </p:txBody>
      </p:sp>
      <p:sp>
        <p:nvSpPr>
          <p:cNvPr id="20"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21" name="!!rd_d3"/>
          <p:cNvSpPr/>
          <p:nvPr/>
        </p:nvSpPr>
        <p:spPr>
          <a:xfrm>
            <a:off x="5212080" y="6437376"/>
            <a:ext cx="128016" cy="128016"/>
          </a:xfrm>
          <a:prstGeom prst="ellipse">
            <a:avLst/>
          </a:prstGeom>
          <a:solidFill>
            <a:srgbClr val="1E2A3A"/>
          </a:solidFill>
          <a:ln/>
        </p:spPr>
        <p:txBody>
          <a:bodyPr/>
          <a:lstStyle/>
          <a:p>
            <a:endParaRPr lang="nl-NL"/>
          </a:p>
        </p:txBody>
      </p:sp>
      <p:sp>
        <p:nvSpPr>
          <p:cNvPr id="22"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23" name="!!rd_d4"/>
          <p:cNvSpPr/>
          <p:nvPr/>
        </p:nvSpPr>
        <p:spPr>
          <a:xfrm>
            <a:off x="6345936" y="6437376"/>
            <a:ext cx="128016" cy="128016"/>
          </a:xfrm>
          <a:prstGeom prst="ellipse">
            <a:avLst/>
          </a:prstGeom>
          <a:solidFill>
            <a:srgbClr val="1E2A3A"/>
          </a:solidFill>
          <a:ln/>
        </p:spPr>
        <p:txBody>
          <a:bodyPr/>
          <a:lstStyle/>
          <a:p>
            <a:endParaRPr lang="nl-NL"/>
          </a:p>
        </p:txBody>
      </p:sp>
      <p:sp>
        <p:nvSpPr>
          <p:cNvPr id="24"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25" name="!!rd_d5"/>
          <p:cNvSpPr/>
          <p:nvPr/>
        </p:nvSpPr>
        <p:spPr>
          <a:xfrm>
            <a:off x="7479792" y="6437376"/>
            <a:ext cx="128016" cy="128016"/>
          </a:xfrm>
          <a:prstGeom prst="ellipse">
            <a:avLst/>
          </a:prstGeom>
          <a:solidFill>
            <a:srgbClr val="C9D1DA"/>
          </a:solidFill>
          <a:ln/>
        </p:spPr>
        <p:txBody>
          <a:bodyPr/>
          <a:lstStyle/>
          <a:p>
            <a:endParaRPr lang="nl-NL"/>
          </a:p>
        </p:txBody>
      </p:sp>
      <p:sp>
        <p:nvSpPr>
          <p:cNvPr id="26"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b="1" dirty="0">
                <a:solidFill>
                  <a:srgbClr val="2F7BB5"/>
                </a:solidFill>
                <a:latin typeface="Calibri" pitchFamily="34" charset="0"/>
                <a:ea typeface="Calibri" pitchFamily="34" charset="-122"/>
                <a:cs typeface="Calibri" pitchFamily="34" charset="-120"/>
              </a:rPr>
              <a:t>Nu</a:t>
            </a:r>
            <a:endParaRPr lang="nl-NL" sz="1000" dirty="0"/>
          </a:p>
        </p:txBody>
      </p:sp>
      <p:sp>
        <p:nvSpPr>
          <p:cNvPr id="27" name="!!rd_act"/>
          <p:cNvSpPr/>
          <p:nvPr/>
        </p:nvSpPr>
        <p:spPr>
          <a:xfrm>
            <a:off x="7434072" y="6391656"/>
            <a:ext cx="219456" cy="219456"/>
          </a:xfrm>
          <a:prstGeom prst="ellipse">
            <a:avLst/>
          </a:prstGeom>
          <a:solidFill>
            <a:srgbClr val="2F7BB5"/>
          </a:solidFill>
          <a:ln w="25400">
            <a:solidFill>
              <a:srgbClr val="FFFFFF"/>
            </a:solidFill>
            <a:prstDash val="solid"/>
          </a:ln>
        </p:spPr>
        <p:txBody>
          <a:bodyPr/>
          <a:lstStyle/>
          <a:p>
            <a:endParaRPr lang="nl-NL"/>
          </a:p>
        </p:txBody>
      </p:sp>
      <p:sp>
        <p:nvSpPr>
          <p:cNvPr id="28" name="s41_tv_bg"/>
          <p:cNvSpPr/>
          <p:nvPr/>
        </p:nvSpPr>
        <p:spPr>
          <a:xfrm>
            <a:off x="8915400" y="6327648"/>
            <a:ext cx="3044952" cy="347472"/>
          </a:xfrm>
          <a:prstGeom prst="roundRect">
            <a:avLst>
              <a:gd name="adj" fmla="val 50000"/>
            </a:avLst>
          </a:prstGeom>
          <a:solidFill>
            <a:srgbClr val="FFFFFF">
              <a:alpha val="94000"/>
            </a:srgbClr>
          </a:solidFill>
          <a:ln w="9525">
            <a:solidFill>
              <a:srgbClr val="C9D1DA"/>
            </a:solidFill>
            <a:prstDash val="solid"/>
          </a:ln>
          <a:effectLst>
            <a:outerShdw blurRad="127000" dist="38100" dir="5400000" algn="bl" rotWithShape="0">
              <a:srgbClr val="000000">
                <a:alpha val="12000"/>
              </a:srgbClr>
            </a:outerShdw>
          </a:effectLst>
        </p:spPr>
        <p:txBody>
          <a:bodyPr/>
          <a:lstStyle/>
          <a:p>
            <a:endParaRPr lang="nl-NL"/>
          </a:p>
        </p:txBody>
      </p:sp>
      <p:sp>
        <p:nvSpPr>
          <p:cNvPr id="29" name="s41_tv_dot"/>
          <p:cNvSpPr/>
          <p:nvPr/>
        </p:nvSpPr>
        <p:spPr>
          <a:xfrm>
            <a:off x="8979408" y="6373368"/>
            <a:ext cx="256032" cy="256032"/>
          </a:xfrm>
          <a:prstGeom prst="ellipse">
            <a:avLst/>
          </a:prstGeom>
          <a:solidFill>
            <a:srgbClr val="2F7BB5"/>
          </a:solidFill>
          <a:ln/>
        </p:spPr>
        <p:txBody>
          <a:bodyPr/>
          <a:lstStyle/>
          <a:p>
            <a:endParaRPr lang="nl-NL"/>
          </a:p>
        </p:txBody>
      </p:sp>
      <p:pic>
        <p:nvPicPr>
          <p:cNvPr id="30" name="s41_tv_play" descr="play_w">
            <a:hlinkClick r:id="rId4" tooltip="Open op Schooltv"/>
          </p:cNvPr>
          <p:cNvPicPr>
            <a:picLocks noChangeAspect="1"/>
          </p:cNvPicPr>
          <p:nvPr/>
        </p:nvPicPr>
        <p:blipFill>
          <a:blip r:embed="rId5"/>
          <a:stretch>
            <a:fillRect/>
          </a:stretch>
        </p:blipFill>
        <p:spPr>
          <a:xfrm>
            <a:off x="9052560" y="6437376"/>
            <a:ext cx="128016" cy="128016"/>
          </a:xfrm>
          <a:prstGeom prst="rect">
            <a:avLst/>
          </a:prstGeom>
        </p:spPr>
      </p:pic>
      <p:sp>
        <p:nvSpPr>
          <p:cNvPr id="31" name="s41_tv_txt"/>
          <p:cNvSpPr txBox="1"/>
          <p:nvPr/>
        </p:nvSpPr>
        <p:spPr>
          <a:xfrm>
            <a:off x="9299448" y="6364224"/>
            <a:ext cx="2587752" cy="274320"/>
          </a:xfrm>
          <a:prstGeom prst="rect">
            <a:avLst/>
          </a:prstGeom>
          <a:noFill/>
          <a:ln/>
        </p:spPr>
        <p:txBody>
          <a:bodyPr wrap="square" lIns="0" tIns="0" rIns="0" bIns="0" rtlCol="0" anchor="ctr"/>
          <a:lstStyle/>
          <a:p>
            <a:pPr marL="0" indent="0">
              <a:buNone/>
            </a:pPr>
            <a:r>
              <a:rPr lang="nl-NL" sz="1100" b="1" u="sng" dirty="0">
                <a:solidFill>
                  <a:srgbClr val="2F7BB5"/>
                </a:solidFill>
                <a:latin typeface="Calibri" pitchFamily="34" charset="0"/>
                <a:ea typeface="Calibri" pitchFamily="34" charset="-122"/>
                <a:cs typeface="Calibri" pitchFamily="34" charset="-120"/>
                <a:hlinkClick r:id="rId4" tooltip="Open op Schooltv">
                  <a:extLst>
                    <a:ext uri="{A12FA001-AC4F-418D-AE19-62706E023703}">
                      <ahyp:hlinkClr xmlns:ahyp="http://schemas.microsoft.com/office/drawing/2018/hyperlinkcolor" val="tx"/>
                    </a:ext>
                  </a:extLst>
                </a:hlinkClick>
              </a:rPr>
              <a:t>Schooltv: Haven van Rotterdam</a:t>
            </a:r>
            <a:endParaRPr lang="nl-NL"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decel="100000" fill="hold"/>
                                        <p:tgtEl>
                                          <p:spTgt spid="7"/>
                                        </p:tgtEl>
                                        <p:attrNameLst>
                                          <p:attrName>ppt_x</p:attrName>
                                        </p:attrNameLst>
                                      </p:cBhvr>
                                      <p:tavLst>
                                        <p:tav tm="0">
                                          <p:val>
                                            <p:strVal val="#ppt_x"/>
                                          </p:val>
                                        </p:tav>
                                        <p:tav tm="100000">
                                          <p:val>
                                            <p:strVal val="#ppt_x"/>
                                          </p:val>
                                        </p:tav>
                                      </p:tavLst>
                                    </p:anim>
                                    <p:anim calcmode="lin" valueType="num">
                                      <p:cBhvr additive="base">
                                        <p:cTn id="9" dur="650" decel="100000" fill="hold"/>
                                        <p:tgtEl>
                                          <p:spTgt spid="7"/>
                                        </p:tgtEl>
                                        <p:attrNameLst>
                                          <p:attrName>ppt_y</p:attrName>
                                        </p:attrNameLst>
                                      </p:cBhvr>
                                      <p:tavLst>
                                        <p:tav tm="0">
                                          <p:val>
                                            <p:strVal val="#ppt_y+0.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50"/>
                                        <p:tgtEl>
                                          <p:spTgt spid="8"/>
                                        </p:tgtEl>
                                      </p:cBhvr>
                                    </p:animEffect>
                                    <p:anim calcmode="lin" valueType="num">
                                      <p:cBhvr additive="base">
                                        <p:cTn id="13" dur="650" decel="100000" fill="hold"/>
                                        <p:tgtEl>
                                          <p:spTgt spid="8"/>
                                        </p:tgtEl>
                                        <p:attrNameLst>
                                          <p:attrName>ppt_x</p:attrName>
                                        </p:attrNameLst>
                                      </p:cBhvr>
                                      <p:tavLst>
                                        <p:tav tm="0">
                                          <p:val>
                                            <p:strVal val="#ppt_x"/>
                                          </p:val>
                                        </p:tav>
                                        <p:tav tm="100000">
                                          <p:val>
                                            <p:strVal val="#ppt_x"/>
                                          </p:val>
                                        </p:tav>
                                      </p:tavLst>
                                    </p:anim>
                                    <p:anim calcmode="lin" valueType="num">
                                      <p:cBhvr additive="base">
                                        <p:cTn id="14" dur="6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50"/>
                                        <p:tgtEl>
                                          <p:spTgt spid="9"/>
                                        </p:tgtEl>
                                      </p:cBhvr>
                                    </p:animEffect>
                                    <p:anim calcmode="lin" valueType="num">
                                      <p:cBhvr additive="base">
                                        <p:cTn id="20" dur="650" decel="100000" fill="hold"/>
                                        <p:tgtEl>
                                          <p:spTgt spid="9"/>
                                        </p:tgtEl>
                                        <p:attrNameLst>
                                          <p:attrName>ppt_x</p:attrName>
                                        </p:attrNameLst>
                                      </p:cBhvr>
                                      <p:tavLst>
                                        <p:tav tm="0">
                                          <p:val>
                                            <p:strVal val="#ppt_x"/>
                                          </p:val>
                                        </p:tav>
                                        <p:tav tm="100000">
                                          <p:val>
                                            <p:strVal val="#ppt_x"/>
                                          </p:val>
                                        </p:tav>
                                      </p:tavLst>
                                    </p:anim>
                                    <p:anim calcmode="lin" valueType="num">
                                      <p:cBhvr additive="base">
                                        <p:cTn id="21" dur="650" decel="100000" fill="hold"/>
                                        <p:tgtEl>
                                          <p:spTgt spid="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50"/>
                                        <p:tgtEl>
                                          <p:spTgt spid="10"/>
                                        </p:tgtEl>
                                      </p:cBhvr>
                                    </p:animEffect>
                                    <p:anim calcmode="lin" valueType="num">
                                      <p:cBhvr additive="base">
                                        <p:cTn id="25" dur="650" decel="100000" fill="hold"/>
                                        <p:tgtEl>
                                          <p:spTgt spid="10"/>
                                        </p:tgtEl>
                                        <p:attrNameLst>
                                          <p:attrName>ppt_x</p:attrName>
                                        </p:attrNameLst>
                                      </p:cBhvr>
                                      <p:tavLst>
                                        <p:tav tm="0">
                                          <p:val>
                                            <p:strVal val="#ppt_x"/>
                                          </p:val>
                                        </p:tav>
                                        <p:tav tm="100000">
                                          <p:val>
                                            <p:strVal val="#ppt_x"/>
                                          </p:val>
                                        </p:tav>
                                      </p:tavLst>
                                    </p:anim>
                                    <p:anim calcmode="lin" valueType="num">
                                      <p:cBhvr additive="base">
                                        <p:cTn id="26" dur="650" decel="10000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decel="100000" fill="hold"/>
                                        <p:tgtEl>
                                          <p:spTgt spid="11"/>
                                        </p:tgtEl>
                                        <p:attrNameLst>
                                          <p:attrName>ppt_x</p:attrName>
                                        </p:attrNameLst>
                                      </p:cBhvr>
                                      <p:tavLst>
                                        <p:tav tm="0">
                                          <p:val>
                                            <p:strVal val="#ppt_x"/>
                                          </p:val>
                                        </p:tav>
                                        <p:tav tm="100000">
                                          <p:val>
                                            <p:strVal val="#ppt_x"/>
                                          </p:val>
                                        </p:tav>
                                      </p:tavLst>
                                    </p:anim>
                                    <p:anim calcmode="lin" valueType="num">
                                      <p:cBhvr additive="base">
                                        <p:cTn id="33" dur="650" decel="100000" fill="hold"/>
                                        <p:tgtEl>
                                          <p:spTgt spid="11"/>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p:tgtEl>
                                          <p:spTgt spid="12"/>
                                        </p:tgtEl>
                                      </p:cBhvr>
                                    </p:animEffect>
                                    <p:anim calcmode="lin" valueType="num">
                                      <p:cBhvr additive="base">
                                        <p:cTn id="37"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38" dur="650" decel="10000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50"/>
                                        <p:tgtEl>
                                          <p:spTgt spid="13"/>
                                        </p:tgtEl>
                                      </p:cBhvr>
                                    </p:animEffect>
                                    <p:anim calcmode="lin" valueType="num">
                                      <p:cBhvr additive="base">
                                        <p:cTn id="44"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45" dur="650" decel="100000" fill="hold"/>
                                        <p:tgtEl>
                                          <p:spTgt spid="13"/>
                                        </p:tgtEl>
                                        <p:attrNameLst>
                                          <p:attrName>ppt_y</p:attrName>
                                        </p:attrNameLst>
                                      </p:cBhvr>
                                      <p:tavLst>
                                        <p:tav tm="0">
                                          <p:val>
                                            <p:strVal val="#ppt_y+0.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50"/>
                                        <p:tgtEl>
                                          <p:spTgt spid="14"/>
                                        </p:tgtEl>
                                      </p:cBhvr>
                                    </p:animEffect>
                                    <p:anim calcmode="lin" valueType="num">
                                      <p:cBhvr additive="base">
                                        <p:cTn id="49"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50" dur="650" decel="10000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F7BB5"/>
                </a:solidFill>
                <a:latin typeface="Calibri" pitchFamily="34" charset="0"/>
                <a:ea typeface="Calibri" pitchFamily="34" charset="-122"/>
                <a:cs typeface="Calibri" pitchFamily="34" charset="-120"/>
              </a:rPr>
              <a:t>5 · NEDERLAND NU</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Handel en transport</a:t>
            </a:r>
            <a:endParaRPr lang="nl-NL" sz="3400" dirty="0"/>
          </a:p>
        </p:txBody>
      </p:sp>
      <p:sp>
        <p:nvSpPr>
          <p:cNvPr id="4" name="!!hv"/>
          <p:cNvSpPr txBox="1"/>
          <p:nvPr/>
        </p:nvSpPr>
        <p:spPr>
          <a:xfrm>
            <a:off x="566928" y="1024128"/>
            <a:ext cx="8229600" cy="411480"/>
          </a:xfrm>
          <a:prstGeom prst="rect">
            <a:avLst/>
          </a:prstGeom>
          <a:noFill/>
          <a:ln/>
        </p:spPr>
        <p:txBody>
          <a:bodyPr wrap="square" lIns="0" tIns="0" rIns="0" bIns="0" rtlCol="0" anchor="t"/>
          <a:lstStyle/>
          <a:p>
            <a:pPr marL="0" indent="0" algn="l">
              <a:buNone/>
            </a:pPr>
            <a:r>
              <a:rPr lang="nl-NL" sz="2200" b="1" dirty="0">
                <a:solidFill>
                  <a:srgbClr val="F28C38"/>
                </a:solidFill>
                <a:latin typeface="Calibri" pitchFamily="34" charset="0"/>
                <a:ea typeface="Calibri" pitchFamily="34" charset="-122"/>
                <a:cs typeface="Calibri" pitchFamily="34" charset="-120"/>
              </a:rPr>
              <a:t>Het nadeel: Nederland is kwetsbaar</a:t>
            </a:r>
            <a:endParaRPr lang="nl-NL" sz="2200" dirty="0"/>
          </a:p>
        </p:txBody>
      </p:sp>
      <p:sp>
        <p:nvSpPr>
          <p:cNvPr id="5" name="s42_kb0"/>
          <p:cNvSpPr/>
          <p:nvPr/>
        </p:nvSpPr>
        <p:spPr>
          <a:xfrm>
            <a:off x="548640" y="1691640"/>
            <a:ext cx="2514600" cy="2011680"/>
          </a:xfrm>
          <a:prstGeom prst="roundRect">
            <a:avLst>
              <a:gd name="adj" fmla="val 5455"/>
            </a:avLst>
          </a:prstGeom>
          <a:solidFill>
            <a:srgbClr val="E6F0F8"/>
          </a:solidFill>
          <a:ln/>
        </p:spPr>
        <p:txBody>
          <a:bodyPr/>
          <a:lstStyle/>
          <a:p>
            <a:endParaRPr lang="nl-NL"/>
          </a:p>
        </p:txBody>
      </p:sp>
      <p:pic>
        <p:nvPicPr>
          <p:cNvPr id="6" name="s42_ki0" descr="globe_s5"/>
          <p:cNvPicPr>
            <a:picLocks noChangeAspect="1"/>
          </p:cNvPicPr>
          <p:nvPr/>
        </p:nvPicPr>
        <p:blipFill>
          <a:blip r:embed="rId3"/>
          <a:stretch>
            <a:fillRect/>
          </a:stretch>
        </p:blipFill>
        <p:spPr>
          <a:xfrm>
            <a:off x="1485900" y="1920240"/>
            <a:ext cx="640080" cy="640080"/>
          </a:xfrm>
          <a:prstGeom prst="rect">
            <a:avLst/>
          </a:prstGeom>
        </p:spPr>
      </p:pic>
      <p:sp>
        <p:nvSpPr>
          <p:cNvPr id="7" name="s42_kt0"/>
          <p:cNvSpPr txBox="1"/>
          <p:nvPr/>
        </p:nvSpPr>
        <p:spPr>
          <a:xfrm>
            <a:off x="685800" y="2651760"/>
            <a:ext cx="2240280" cy="960120"/>
          </a:xfrm>
          <a:prstGeom prst="rect">
            <a:avLst/>
          </a:prstGeom>
          <a:noFill/>
          <a:ln/>
        </p:spPr>
        <p:txBody>
          <a:bodyPr wrap="square" lIns="0" tIns="0" rIns="0" bIns="0" rtlCol="0" anchor="t"/>
          <a:lstStyle/>
          <a:p>
            <a:pPr marL="0" indent="0" algn="ctr">
              <a:buNone/>
            </a:pPr>
            <a:r>
              <a:rPr lang="nl-NL" sz="1700" b="1" dirty="0">
                <a:solidFill>
                  <a:srgbClr val="1E2A3A"/>
                </a:solidFill>
                <a:latin typeface="Calibri" pitchFamily="34" charset="0"/>
                <a:ea typeface="Calibri" pitchFamily="34" charset="-122"/>
                <a:cs typeface="Calibri" pitchFamily="34" charset="-120"/>
              </a:rPr>
              <a:t>Crisis in het buitenland</a:t>
            </a:r>
            <a:endParaRPr lang="nl-NL" sz="1700" dirty="0"/>
          </a:p>
        </p:txBody>
      </p:sp>
      <p:sp>
        <p:nvSpPr>
          <p:cNvPr id="8" name="s42_kb1"/>
          <p:cNvSpPr/>
          <p:nvPr/>
        </p:nvSpPr>
        <p:spPr>
          <a:xfrm>
            <a:off x="3429000" y="1691640"/>
            <a:ext cx="2514600" cy="2011680"/>
          </a:xfrm>
          <a:prstGeom prst="roundRect">
            <a:avLst>
              <a:gd name="adj" fmla="val 5455"/>
            </a:avLst>
          </a:prstGeom>
          <a:solidFill>
            <a:srgbClr val="E6F0F8"/>
          </a:solidFill>
          <a:ln/>
        </p:spPr>
        <p:txBody>
          <a:bodyPr/>
          <a:lstStyle/>
          <a:p>
            <a:endParaRPr lang="nl-NL"/>
          </a:p>
        </p:txBody>
      </p:sp>
      <p:pic>
        <p:nvPicPr>
          <p:cNvPr id="9" name="s42_ki1" descr="box_s5"/>
          <p:cNvPicPr>
            <a:picLocks noChangeAspect="1"/>
          </p:cNvPicPr>
          <p:nvPr/>
        </p:nvPicPr>
        <p:blipFill>
          <a:blip r:embed="rId4"/>
          <a:stretch>
            <a:fillRect/>
          </a:stretch>
        </p:blipFill>
        <p:spPr>
          <a:xfrm>
            <a:off x="4366260" y="1920240"/>
            <a:ext cx="640080" cy="640080"/>
          </a:xfrm>
          <a:prstGeom prst="rect">
            <a:avLst/>
          </a:prstGeom>
        </p:spPr>
      </p:pic>
      <p:sp>
        <p:nvSpPr>
          <p:cNvPr id="10" name="s42_kt1"/>
          <p:cNvSpPr txBox="1"/>
          <p:nvPr/>
        </p:nvSpPr>
        <p:spPr>
          <a:xfrm>
            <a:off x="3566160" y="2651760"/>
            <a:ext cx="2240280" cy="960120"/>
          </a:xfrm>
          <a:prstGeom prst="rect">
            <a:avLst/>
          </a:prstGeom>
          <a:noFill/>
          <a:ln/>
        </p:spPr>
        <p:txBody>
          <a:bodyPr wrap="square" lIns="0" tIns="0" rIns="0" bIns="0" rtlCol="0" anchor="t"/>
          <a:lstStyle/>
          <a:p>
            <a:pPr marL="0" indent="0" algn="ctr">
              <a:buNone/>
            </a:pPr>
            <a:r>
              <a:rPr lang="nl-NL" sz="1700" b="1" dirty="0">
                <a:solidFill>
                  <a:srgbClr val="1E2A3A"/>
                </a:solidFill>
                <a:latin typeface="Calibri" pitchFamily="34" charset="0"/>
                <a:ea typeface="Calibri" pitchFamily="34" charset="-122"/>
                <a:cs typeface="Calibri" pitchFamily="34" charset="-120"/>
              </a:rPr>
              <a:t>Er wordt minder gehandeld</a:t>
            </a:r>
            <a:endParaRPr lang="nl-NL" sz="1700" dirty="0"/>
          </a:p>
        </p:txBody>
      </p:sp>
      <p:sp>
        <p:nvSpPr>
          <p:cNvPr id="11" name="s42_ka1"/>
          <p:cNvSpPr/>
          <p:nvPr/>
        </p:nvSpPr>
        <p:spPr>
          <a:xfrm>
            <a:off x="3099816" y="2514600"/>
            <a:ext cx="292608" cy="329184"/>
          </a:xfrm>
          <a:prstGeom prst="rightArrow">
            <a:avLst/>
          </a:prstGeom>
          <a:solidFill>
            <a:srgbClr val="F28C38"/>
          </a:solidFill>
          <a:ln/>
        </p:spPr>
        <p:txBody>
          <a:bodyPr/>
          <a:lstStyle/>
          <a:p>
            <a:endParaRPr lang="nl-NL"/>
          </a:p>
        </p:txBody>
      </p:sp>
      <p:sp>
        <p:nvSpPr>
          <p:cNvPr id="12" name="s42_kb2"/>
          <p:cNvSpPr/>
          <p:nvPr/>
        </p:nvSpPr>
        <p:spPr>
          <a:xfrm>
            <a:off x="6309360" y="1691640"/>
            <a:ext cx="2514600" cy="2011680"/>
          </a:xfrm>
          <a:prstGeom prst="roundRect">
            <a:avLst>
              <a:gd name="adj" fmla="val 5455"/>
            </a:avLst>
          </a:prstGeom>
          <a:solidFill>
            <a:srgbClr val="E6F0F8"/>
          </a:solidFill>
          <a:ln/>
        </p:spPr>
        <p:txBody>
          <a:bodyPr/>
          <a:lstStyle/>
          <a:p>
            <a:endParaRPr lang="nl-NL"/>
          </a:p>
        </p:txBody>
      </p:sp>
      <p:pic>
        <p:nvPicPr>
          <p:cNvPr id="13" name="s42_ki2" descr="ship_s5"/>
          <p:cNvPicPr>
            <a:picLocks noChangeAspect="1"/>
          </p:cNvPicPr>
          <p:nvPr/>
        </p:nvPicPr>
        <p:blipFill>
          <a:blip r:embed="rId5"/>
          <a:stretch>
            <a:fillRect/>
          </a:stretch>
        </p:blipFill>
        <p:spPr>
          <a:xfrm>
            <a:off x="7246620" y="1920240"/>
            <a:ext cx="640080" cy="640080"/>
          </a:xfrm>
          <a:prstGeom prst="rect">
            <a:avLst/>
          </a:prstGeom>
        </p:spPr>
      </p:pic>
      <p:sp>
        <p:nvSpPr>
          <p:cNvPr id="14" name="s42_kt2"/>
          <p:cNvSpPr txBox="1"/>
          <p:nvPr/>
        </p:nvSpPr>
        <p:spPr>
          <a:xfrm>
            <a:off x="6446520" y="2651760"/>
            <a:ext cx="2240280" cy="960120"/>
          </a:xfrm>
          <a:prstGeom prst="rect">
            <a:avLst/>
          </a:prstGeom>
          <a:noFill/>
          <a:ln/>
        </p:spPr>
        <p:txBody>
          <a:bodyPr wrap="square" lIns="0" tIns="0" rIns="0" bIns="0" rtlCol="0" anchor="t"/>
          <a:lstStyle/>
          <a:p>
            <a:pPr marL="0" indent="0" algn="ctr">
              <a:buNone/>
            </a:pPr>
            <a:r>
              <a:rPr lang="nl-NL" sz="1700" b="1" dirty="0">
                <a:solidFill>
                  <a:srgbClr val="1E2A3A"/>
                </a:solidFill>
                <a:latin typeface="Calibri" pitchFamily="34" charset="0"/>
                <a:ea typeface="Calibri" pitchFamily="34" charset="-122"/>
                <a:cs typeface="Calibri" pitchFamily="34" charset="-120"/>
              </a:rPr>
              <a:t>Haven, Schiphol en banken merken het direct</a:t>
            </a:r>
            <a:endParaRPr lang="nl-NL" sz="1700" dirty="0"/>
          </a:p>
        </p:txBody>
      </p:sp>
      <p:sp>
        <p:nvSpPr>
          <p:cNvPr id="15" name="s42_ka2"/>
          <p:cNvSpPr/>
          <p:nvPr/>
        </p:nvSpPr>
        <p:spPr>
          <a:xfrm>
            <a:off x="5980176" y="2514600"/>
            <a:ext cx="292608" cy="329184"/>
          </a:xfrm>
          <a:prstGeom prst="rightArrow">
            <a:avLst/>
          </a:prstGeom>
          <a:solidFill>
            <a:srgbClr val="F28C38"/>
          </a:solidFill>
          <a:ln/>
        </p:spPr>
        <p:txBody>
          <a:bodyPr/>
          <a:lstStyle/>
          <a:p>
            <a:endParaRPr lang="nl-NL"/>
          </a:p>
        </p:txBody>
      </p:sp>
      <p:sp>
        <p:nvSpPr>
          <p:cNvPr id="16" name="s42_kb3"/>
          <p:cNvSpPr/>
          <p:nvPr/>
        </p:nvSpPr>
        <p:spPr>
          <a:xfrm>
            <a:off x="9189720" y="1691640"/>
            <a:ext cx="2514600" cy="2011680"/>
          </a:xfrm>
          <a:prstGeom prst="roundRect">
            <a:avLst>
              <a:gd name="adj" fmla="val 5455"/>
            </a:avLst>
          </a:prstGeom>
          <a:solidFill>
            <a:srgbClr val="FDEEE2"/>
          </a:solidFill>
          <a:ln/>
        </p:spPr>
        <p:txBody>
          <a:bodyPr/>
          <a:lstStyle/>
          <a:p>
            <a:endParaRPr lang="nl-NL"/>
          </a:p>
        </p:txBody>
      </p:sp>
      <p:pic>
        <p:nvPicPr>
          <p:cNvPr id="17" name="s42_ki3" descr="warn_acc"/>
          <p:cNvPicPr>
            <a:picLocks noChangeAspect="1"/>
          </p:cNvPicPr>
          <p:nvPr/>
        </p:nvPicPr>
        <p:blipFill>
          <a:blip r:embed="rId6"/>
          <a:stretch>
            <a:fillRect/>
          </a:stretch>
        </p:blipFill>
        <p:spPr>
          <a:xfrm>
            <a:off x="10126980" y="1920240"/>
            <a:ext cx="640080" cy="640080"/>
          </a:xfrm>
          <a:prstGeom prst="rect">
            <a:avLst/>
          </a:prstGeom>
        </p:spPr>
      </p:pic>
      <p:sp>
        <p:nvSpPr>
          <p:cNvPr id="18" name="s42_kt3"/>
          <p:cNvSpPr txBox="1"/>
          <p:nvPr/>
        </p:nvSpPr>
        <p:spPr>
          <a:xfrm>
            <a:off x="9326880" y="2651760"/>
            <a:ext cx="2240280" cy="960120"/>
          </a:xfrm>
          <a:prstGeom prst="rect">
            <a:avLst/>
          </a:prstGeom>
          <a:noFill/>
          <a:ln/>
        </p:spPr>
        <p:txBody>
          <a:bodyPr wrap="square" lIns="0" tIns="0" rIns="0" bIns="0" rtlCol="0" anchor="t"/>
          <a:lstStyle/>
          <a:p>
            <a:pPr marL="0" indent="0" algn="ctr">
              <a:buNone/>
            </a:pPr>
            <a:r>
              <a:rPr lang="nl-NL" sz="1700" b="1" dirty="0">
                <a:solidFill>
                  <a:srgbClr val="1E2A3A"/>
                </a:solidFill>
                <a:latin typeface="Calibri" pitchFamily="34" charset="0"/>
                <a:ea typeface="Calibri" pitchFamily="34" charset="-122"/>
                <a:cs typeface="Calibri" pitchFamily="34" charset="-120"/>
              </a:rPr>
              <a:t>Nederland krijgt ook problemen, zoals in 2008</a:t>
            </a:r>
            <a:endParaRPr lang="nl-NL" sz="1700" dirty="0"/>
          </a:p>
        </p:txBody>
      </p:sp>
      <p:sp>
        <p:nvSpPr>
          <p:cNvPr id="19" name="s42_ka3"/>
          <p:cNvSpPr/>
          <p:nvPr/>
        </p:nvSpPr>
        <p:spPr>
          <a:xfrm>
            <a:off x="8860536" y="2514600"/>
            <a:ext cx="292608" cy="329184"/>
          </a:xfrm>
          <a:prstGeom prst="rightArrow">
            <a:avLst/>
          </a:prstGeom>
          <a:solidFill>
            <a:srgbClr val="F28C38"/>
          </a:solidFill>
          <a:ln/>
        </p:spPr>
        <p:txBody>
          <a:bodyPr/>
          <a:lstStyle/>
          <a:p>
            <a:endParaRPr lang="nl-NL"/>
          </a:p>
        </p:txBody>
      </p:sp>
      <p:sp>
        <p:nvSpPr>
          <p:cNvPr id="20" name="s42_q_bg"/>
          <p:cNvSpPr/>
          <p:nvPr/>
        </p:nvSpPr>
        <p:spPr>
          <a:xfrm>
            <a:off x="548640" y="4023360"/>
            <a:ext cx="11109960" cy="862584"/>
          </a:xfrm>
          <a:prstGeom prst="roundRect">
            <a:avLst>
              <a:gd name="adj" fmla="val 10601"/>
            </a:avLst>
          </a:prstGeom>
          <a:solidFill>
            <a:srgbClr val="E6F0F8"/>
          </a:solidFill>
          <a:ln/>
        </p:spPr>
        <p:txBody>
          <a:bodyPr/>
          <a:lstStyle/>
          <a:p>
            <a:endParaRPr lang="nl-NL"/>
          </a:p>
        </p:txBody>
      </p:sp>
      <p:sp>
        <p:nvSpPr>
          <p:cNvPr id="21" name="s42_q_circ"/>
          <p:cNvSpPr/>
          <p:nvPr/>
        </p:nvSpPr>
        <p:spPr>
          <a:xfrm>
            <a:off x="749808" y="4224528"/>
            <a:ext cx="457200" cy="457200"/>
          </a:xfrm>
          <a:prstGeom prst="ellipse">
            <a:avLst/>
          </a:prstGeom>
          <a:solidFill>
            <a:srgbClr val="2F7BB5"/>
          </a:solidFill>
          <a:ln/>
        </p:spPr>
        <p:txBody>
          <a:bodyPr/>
          <a:lstStyle/>
          <a:p>
            <a:endParaRPr lang="nl-NL"/>
          </a:p>
        </p:txBody>
      </p:sp>
      <p:pic>
        <p:nvPicPr>
          <p:cNvPr id="22" name="s42_q_ico" descr="question_w"/>
          <p:cNvPicPr>
            <a:picLocks noChangeAspect="1"/>
          </p:cNvPicPr>
          <p:nvPr/>
        </p:nvPicPr>
        <p:blipFill>
          <a:blip r:embed="rId7"/>
          <a:stretch>
            <a:fillRect/>
          </a:stretch>
        </p:blipFill>
        <p:spPr>
          <a:xfrm>
            <a:off x="859536" y="4334256"/>
            <a:ext cx="237744" cy="237744"/>
          </a:xfrm>
          <a:prstGeom prst="rect">
            <a:avLst/>
          </a:prstGeom>
        </p:spPr>
      </p:pic>
      <p:sp>
        <p:nvSpPr>
          <p:cNvPr id="23" name="s42_q_lbl"/>
          <p:cNvSpPr txBox="1"/>
          <p:nvPr/>
        </p:nvSpPr>
        <p:spPr>
          <a:xfrm>
            <a:off x="1353312" y="4206240"/>
            <a:ext cx="10104120" cy="237744"/>
          </a:xfrm>
          <a:prstGeom prst="rect">
            <a:avLst/>
          </a:prstGeom>
          <a:noFill/>
          <a:ln/>
        </p:spPr>
        <p:txBody>
          <a:bodyPr wrap="square" lIns="0" tIns="0" rIns="0" bIns="0" rtlCol="0" anchor="t"/>
          <a:lstStyle/>
          <a:p>
            <a:pPr marL="0" indent="0" algn="l">
              <a:buNone/>
            </a:pPr>
            <a:r>
              <a:rPr lang="nl-NL" sz="1100" b="1" kern="0" spc="150" dirty="0">
                <a:solidFill>
                  <a:srgbClr val="2F7BB5"/>
                </a:solidFill>
                <a:latin typeface="Calibri" pitchFamily="34" charset="0"/>
                <a:ea typeface="Calibri" pitchFamily="34" charset="-122"/>
                <a:cs typeface="Calibri" pitchFamily="34" charset="-120"/>
              </a:rPr>
              <a:t>VRAAG AAN DE KLAS</a:t>
            </a:r>
            <a:endParaRPr lang="nl-NL" sz="1100" dirty="0"/>
          </a:p>
        </p:txBody>
      </p:sp>
      <p:sp>
        <p:nvSpPr>
          <p:cNvPr id="24" name="s42_q_txt"/>
          <p:cNvSpPr txBox="1"/>
          <p:nvPr/>
        </p:nvSpPr>
        <p:spPr>
          <a:xfrm>
            <a:off x="1353312" y="4462272"/>
            <a:ext cx="10104120" cy="359664"/>
          </a:xfrm>
          <a:prstGeom prst="rect">
            <a:avLst/>
          </a:prstGeom>
          <a:noFill/>
          <a:ln/>
        </p:spPr>
        <p:txBody>
          <a:bodyPr wrap="square" lIns="0" tIns="0" rIns="0" bIns="0" rtlCol="0" anchor="t"/>
          <a:lstStyle/>
          <a:p>
            <a:pPr marL="0" indent="0" algn="l">
              <a:buNone/>
            </a:pPr>
            <a:r>
              <a:rPr lang="nl-NL" sz="2000" b="1" dirty="0">
                <a:solidFill>
                  <a:srgbClr val="1E2A3A"/>
                </a:solidFill>
                <a:latin typeface="Calibri" pitchFamily="34" charset="0"/>
                <a:ea typeface="Calibri" pitchFamily="34" charset="-122"/>
                <a:cs typeface="Calibri" pitchFamily="34" charset="-120"/>
              </a:rPr>
              <a:t>Waarom is een land dat vooral handelt kwetsbaar?</a:t>
            </a:r>
            <a:endParaRPr lang="nl-NL" sz="2000" dirty="0"/>
          </a:p>
        </p:txBody>
      </p:sp>
      <p:sp>
        <p:nvSpPr>
          <p:cNvPr id="25" name="s42_a_bg"/>
          <p:cNvSpPr/>
          <p:nvPr/>
        </p:nvSpPr>
        <p:spPr>
          <a:xfrm>
            <a:off x="548640" y="5050536"/>
            <a:ext cx="11109960" cy="877824"/>
          </a:xfrm>
          <a:prstGeom prst="roundRect">
            <a:avLst>
              <a:gd name="adj" fmla="val 10417"/>
            </a:avLst>
          </a:prstGeom>
          <a:solidFill>
            <a:srgbClr val="FFFFFF"/>
          </a:solidFill>
          <a:ln w="25400">
            <a:solidFill>
              <a:srgbClr val="F28C38"/>
            </a:solidFill>
            <a:prstDash val="solid"/>
          </a:ln>
          <a:effectLst>
            <a:outerShdw blurRad="127000" dist="38100" dir="5400000" algn="bl" rotWithShape="0">
              <a:srgbClr val="000000">
                <a:alpha val="12000"/>
              </a:srgbClr>
            </a:outerShdw>
          </a:effectLst>
        </p:spPr>
        <p:txBody>
          <a:bodyPr/>
          <a:lstStyle/>
          <a:p>
            <a:endParaRPr lang="nl-NL"/>
          </a:p>
        </p:txBody>
      </p:sp>
      <p:pic>
        <p:nvPicPr>
          <p:cNvPr id="26" name="s42_a_ico" descr="bulb_acc"/>
          <p:cNvPicPr>
            <a:picLocks noChangeAspect="1"/>
          </p:cNvPicPr>
          <p:nvPr/>
        </p:nvPicPr>
        <p:blipFill>
          <a:blip r:embed="rId8"/>
          <a:stretch>
            <a:fillRect/>
          </a:stretch>
        </p:blipFill>
        <p:spPr>
          <a:xfrm>
            <a:off x="777240" y="5306568"/>
            <a:ext cx="365760" cy="365760"/>
          </a:xfrm>
          <a:prstGeom prst="rect">
            <a:avLst/>
          </a:prstGeom>
        </p:spPr>
      </p:pic>
      <p:sp>
        <p:nvSpPr>
          <p:cNvPr id="27" name="s42_a_txt"/>
          <p:cNvSpPr txBox="1"/>
          <p:nvPr/>
        </p:nvSpPr>
        <p:spPr>
          <a:xfrm>
            <a:off x="1353312" y="5187696"/>
            <a:ext cx="10104120" cy="603504"/>
          </a:xfrm>
          <a:prstGeom prst="rect">
            <a:avLst/>
          </a:prstGeom>
          <a:noFill/>
          <a:ln/>
        </p:spPr>
        <p:txBody>
          <a:bodyPr wrap="square" lIns="0" tIns="0" rIns="0" bIns="0" rtlCol="0" anchor="ctr"/>
          <a:lstStyle/>
          <a:p>
            <a:pPr marL="0" indent="0" algn="l">
              <a:buNone/>
            </a:pPr>
            <a:r>
              <a:rPr lang="nl-NL" sz="1800" dirty="0">
                <a:solidFill>
                  <a:srgbClr val="1E2A3A"/>
                </a:solidFill>
                <a:latin typeface="Calibri" pitchFamily="34" charset="0"/>
                <a:ea typeface="Calibri" pitchFamily="34" charset="-122"/>
                <a:cs typeface="Calibri" pitchFamily="34" charset="-120"/>
              </a:rPr>
              <a:t>Het verdient geld aan andere landen. Gaat het daar slecht, dan wordt er minder gekocht en vervoerd, en merkt Nederland dat meteen.</a:t>
            </a:r>
            <a:endParaRPr lang="nl-NL" sz="1800" dirty="0"/>
          </a:p>
        </p:txBody>
      </p:sp>
      <p:sp>
        <p:nvSpPr>
          <p:cNvPr id="28" name="!!rd_bg"/>
          <p:cNvSpPr/>
          <p:nvPr/>
        </p:nvSpPr>
        <p:spPr>
          <a:xfrm>
            <a:off x="2788920" y="6327648"/>
            <a:ext cx="5943600" cy="347472"/>
          </a:xfrm>
          <a:prstGeom prst="roundRect">
            <a:avLst>
              <a:gd name="adj" fmla="val 50000"/>
            </a:avLst>
          </a:prstGeom>
          <a:solidFill>
            <a:srgbClr val="FFFFFF">
              <a:alpha val="94000"/>
            </a:srgbClr>
          </a:solidFill>
          <a:ln/>
          <a:effectLst>
            <a:outerShdw blurRad="127000" dist="38100" dir="5400000" algn="bl" rotWithShape="0">
              <a:srgbClr val="000000">
                <a:alpha val="12000"/>
              </a:srgbClr>
            </a:outerShdw>
          </a:effectLst>
        </p:spPr>
        <p:txBody>
          <a:bodyPr/>
          <a:lstStyle/>
          <a:p>
            <a:endParaRPr lang="nl-NL"/>
          </a:p>
        </p:txBody>
      </p:sp>
      <p:sp>
        <p:nvSpPr>
          <p:cNvPr id="29" name="!!rd_line"/>
          <p:cNvSpPr/>
          <p:nvPr/>
        </p:nvSpPr>
        <p:spPr>
          <a:xfrm>
            <a:off x="3008376" y="6501384"/>
            <a:ext cx="4553712" cy="0"/>
          </a:xfrm>
          <a:prstGeom prst="line">
            <a:avLst/>
          </a:prstGeom>
          <a:noFill/>
          <a:ln w="19050">
            <a:solidFill>
              <a:srgbClr val="D3DAE2"/>
            </a:solidFill>
            <a:prstDash val="solid"/>
          </a:ln>
        </p:spPr>
        <p:txBody>
          <a:bodyPr/>
          <a:lstStyle/>
          <a:p>
            <a:endParaRPr lang="nl-NL"/>
          </a:p>
        </p:txBody>
      </p:sp>
      <p:sp>
        <p:nvSpPr>
          <p:cNvPr id="30" name="!!rd_d1"/>
          <p:cNvSpPr/>
          <p:nvPr/>
        </p:nvSpPr>
        <p:spPr>
          <a:xfrm>
            <a:off x="2944368" y="6437376"/>
            <a:ext cx="128016" cy="128016"/>
          </a:xfrm>
          <a:prstGeom prst="ellipse">
            <a:avLst/>
          </a:prstGeom>
          <a:solidFill>
            <a:srgbClr val="1E2A3A"/>
          </a:solidFill>
          <a:ln/>
        </p:spPr>
        <p:txBody>
          <a:bodyPr/>
          <a:lstStyle/>
          <a:p>
            <a:endParaRPr lang="nl-NL"/>
          </a:p>
        </p:txBody>
      </p:sp>
      <p:sp>
        <p:nvSpPr>
          <p:cNvPr id="31" name="!!rd_t1"/>
          <p:cNvSpPr txBox="1"/>
          <p:nvPr/>
        </p:nvSpPr>
        <p:spPr>
          <a:xfrm>
            <a:off x="3118104"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Oorlog</a:t>
            </a:r>
            <a:endParaRPr lang="nl-NL" sz="1000" dirty="0"/>
          </a:p>
        </p:txBody>
      </p:sp>
      <p:sp>
        <p:nvSpPr>
          <p:cNvPr id="32" name="!!rd_d2"/>
          <p:cNvSpPr/>
          <p:nvPr/>
        </p:nvSpPr>
        <p:spPr>
          <a:xfrm>
            <a:off x="4078224" y="6437376"/>
            <a:ext cx="128016" cy="128016"/>
          </a:xfrm>
          <a:prstGeom prst="ellipse">
            <a:avLst/>
          </a:prstGeom>
          <a:solidFill>
            <a:srgbClr val="1E2A3A"/>
          </a:solidFill>
          <a:ln/>
        </p:spPr>
        <p:txBody>
          <a:bodyPr/>
          <a:lstStyle/>
          <a:p>
            <a:endParaRPr lang="nl-NL"/>
          </a:p>
        </p:txBody>
      </p:sp>
      <p:sp>
        <p:nvSpPr>
          <p:cNvPr id="33" name="!!rd_t2"/>
          <p:cNvSpPr txBox="1"/>
          <p:nvPr/>
        </p:nvSpPr>
        <p:spPr>
          <a:xfrm>
            <a:off x="4251960"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Wederopbouw</a:t>
            </a:r>
            <a:endParaRPr lang="nl-NL" sz="1000" dirty="0"/>
          </a:p>
        </p:txBody>
      </p:sp>
      <p:sp>
        <p:nvSpPr>
          <p:cNvPr id="34" name="!!rd_d3"/>
          <p:cNvSpPr/>
          <p:nvPr/>
        </p:nvSpPr>
        <p:spPr>
          <a:xfrm>
            <a:off x="5212080" y="6437376"/>
            <a:ext cx="128016" cy="128016"/>
          </a:xfrm>
          <a:prstGeom prst="ellipse">
            <a:avLst/>
          </a:prstGeom>
          <a:solidFill>
            <a:srgbClr val="1E2A3A"/>
          </a:solidFill>
          <a:ln/>
        </p:spPr>
        <p:txBody>
          <a:bodyPr/>
          <a:lstStyle/>
          <a:p>
            <a:endParaRPr lang="nl-NL"/>
          </a:p>
        </p:txBody>
      </p:sp>
      <p:sp>
        <p:nvSpPr>
          <p:cNvPr id="35" name="!!rd_t3"/>
          <p:cNvSpPr txBox="1"/>
          <p:nvPr/>
        </p:nvSpPr>
        <p:spPr>
          <a:xfrm>
            <a:off x="5385816"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Welvaart</a:t>
            </a:r>
            <a:endParaRPr lang="nl-NL" sz="1000" dirty="0"/>
          </a:p>
        </p:txBody>
      </p:sp>
      <p:sp>
        <p:nvSpPr>
          <p:cNvPr id="36" name="!!rd_d4"/>
          <p:cNvSpPr/>
          <p:nvPr/>
        </p:nvSpPr>
        <p:spPr>
          <a:xfrm>
            <a:off x="6345936" y="6437376"/>
            <a:ext cx="128016" cy="128016"/>
          </a:xfrm>
          <a:prstGeom prst="ellipse">
            <a:avLst/>
          </a:prstGeom>
          <a:solidFill>
            <a:srgbClr val="1E2A3A"/>
          </a:solidFill>
          <a:ln/>
        </p:spPr>
        <p:txBody>
          <a:bodyPr/>
          <a:lstStyle/>
          <a:p>
            <a:endParaRPr lang="nl-NL"/>
          </a:p>
        </p:txBody>
      </p:sp>
      <p:sp>
        <p:nvSpPr>
          <p:cNvPr id="37" name="!!rd_t4"/>
          <p:cNvSpPr txBox="1"/>
          <p:nvPr/>
        </p:nvSpPr>
        <p:spPr>
          <a:xfrm>
            <a:off x="6519672" y="6391656"/>
            <a:ext cx="950976" cy="219456"/>
          </a:xfrm>
          <a:prstGeom prst="rect">
            <a:avLst/>
          </a:prstGeom>
          <a:noFill/>
          <a:ln/>
        </p:spPr>
        <p:txBody>
          <a:bodyPr wrap="square" lIns="0" tIns="0" rIns="0" bIns="0" rtlCol="0" anchor="t"/>
          <a:lstStyle/>
          <a:p>
            <a:pPr marL="0" indent="0" algn="l">
              <a:buNone/>
            </a:pPr>
            <a:r>
              <a:rPr lang="nl-NL" sz="1000" dirty="0">
                <a:solidFill>
                  <a:srgbClr val="5B6B7B"/>
                </a:solidFill>
                <a:latin typeface="Calibri" pitchFamily="34" charset="0"/>
                <a:ea typeface="Calibri" pitchFamily="34" charset="-122"/>
                <a:cs typeface="Calibri" pitchFamily="34" charset="-120"/>
              </a:rPr>
              <a:t>Crisis</a:t>
            </a:r>
            <a:endParaRPr lang="nl-NL" sz="1000" dirty="0"/>
          </a:p>
        </p:txBody>
      </p:sp>
      <p:sp>
        <p:nvSpPr>
          <p:cNvPr id="38" name="!!rd_d5"/>
          <p:cNvSpPr/>
          <p:nvPr/>
        </p:nvSpPr>
        <p:spPr>
          <a:xfrm>
            <a:off x="7479792" y="6437376"/>
            <a:ext cx="128016" cy="128016"/>
          </a:xfrm>
          <a:prstGeom prst="ellipse">
            <a:avLst/>
          </a:prstGeom>
          <a:solidFill>
            <a:srgbClr val="C9D1DA"/>
          </a:solidFill>
          <a:ln/>
        </p:spPr>
        <p:txBody>
          <a:bodyPr/>
          <a:lstStyle/>
          <a:p>
            <a:endParaRPr lang="nl-NL"/>
          </a:p>
        </p:txBody>
      </p:sp>
      <p:sp>
        <p:nvSpPr>
          <p:cNvPr id="39" name="!!rd_t5"/>
          <p:cNvSpPr txBox="1"/>
          <p:nvPr/>
        </p:nvSpPr>
        <p:spPr>
          <a:xfrm>
            <a:off x="7653528" y="6391656"/>
            <a:ext cx="950976" cy="219456"/>
          </a:xfrm>
          <a:prstGeom prst="rect">
            <a:avLst/>
          </a:prstGeom>
          <a:noFill/>
          <a:ln/>
        </p:spPr>
        <p:txBody>
          <a:bodyPr wrap="square" lIns="0" tIns="0" rIns="0" bIns="0" rtlCol="0" anchor="t"/>
          <a:lstStyle/>
          <a:p>
            <a:pPr marL="0" indent="0" algn="l">
              <a:buNone/>
            </a:pPr>
            <a:r>
              <a:rPr lang="nl-NL" sz="1000" b="1" dirty="0">
                <a:solidFill>
                  <a:srgbClr val="2F7BB5"/>
                </a:solidFill>
                <a:latin typeface="Calibri" pitchFamily="34" charset="0"/>
                <a:ea typeface="Calibri" pitchFamily="34" charset="-122"/>
                <a:cs typeface="Calibri" pitchFamily="34" charset="-120"/>
              </a:rPr>
              <a:t>Nu</a:t>
            </a:r>
            <a:endParaRPr lang="nl-NL" sz="1000" dirty="0"/>
          </a:p>
        </p:txBody>
      </p:sp>
      <p:sp>
        <p:nvSpPr>
          <p:cNvPr id="40" name="!!rd_act"/>
          <p:cNvSpPr/>
          <p:nvPr/>
        </p:nvSpPr>
        <p:spPr>
          <a:xfrm>
            <a:off x="7434072" y="6391656"/>
            <a:ext cx="219456" cy="219456"/>
          </a:xfrm>
          <a:prstGeom prst="ellipse">
            <a:avLst/>
          </a:prstGeom>
          <a:solidFill>
            <a:srgbClr val="2F7BB5"/>
          </a:solidFill>
          <a:ln w="25400">
            <a:solidFill>
              <a:srgbClr val="FFFFFF"/>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50" fill="hold"/>
                                        <p:tgtEl>
                                          <p:spTgt spid="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5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8" dur="55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9" dur="275"/>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650"/>
                                        <p:tgtEl>
                                          <p:spTgt spid="11"/>
                                        </p:tgtEl>
                                      </p:cBhvr>
                                    </p:animEffect>
                                  </p:childTnLst>
                                </p:cTn>
                              </p:par>
                            </p:childTnLst>
                          </p:cTn>
                        </p:par>
                        <p:par>
                          <p:cTn id="25" fill="hold">
                            <p:stCondLst>
                              <p:cond delay="650"/>
                            </p:stCondLst>
                            <p:childTnLst>
                              <p:par>
                                <p:cTn id="26" presetID="53" presetClass="entr" presetSubtype="16"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9" dur="55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0" dur="275"/>
                                        <p:tgtEl>
                                          <p:spTgt spid="8"/>
                                        </p:tgtEl>
                                      </p:cBhvr>
                                    </p:animEffect>
                                  </p:childTnLst>
                                </p:cTn>
                              </p:par>
                              <p:par>
                                <p:cTn id="31" presetID="53" presetClass="entr" presetSubtype="16"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4"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5" dur="275"/>
                                        <p:tgtEl>
                                          <p:spTgt spid="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9"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0" dur="275"/>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650"/>
                                        <p:tgtEl>
                                          <p:spTgt spid="15"/>
                                        </p:tgtEl>
                                      </p:cBhvr>
                                    </p:animEffect>
                                  </p:childTnLst>
                                </p:cTn>
                              </p:par>
                            </p:childTnLst>
                          </p:cTn>
                        </p:par>
                        <p:par>
                          <p:cTn id="46" fill="hold">
                            <p:stCondLst>
                              <p:cond delay="650"/>
                            </p:stCondLst>
                            <p:childTnLst>
                              <p:par>
                                <p:cTn id="47" presetID="53" presetClass="entr" presetSubtype="16"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5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0" dur="55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1" dur="275"/>
                                        <p:tgtEl>
                                          <p:spTgt spid="12"/>
                                        </p:tgtEl>
                                      </p:cBhvr>
                                    </p:animEffect>
                                  </p:childTnLst>
                                </p:cTn>
                              </p:par>
                              <p:par>
                                <p:cTn id="52" presetID="53" presetClass="entr" presetSubtype="16"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5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5" dur="55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6" dur="275"/>
                                        <p:tgtEl>
                                          <p:spTgt spid="13"/>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550" fill="hold"/>
                                        <p:tgtEl>
                                          <p:spTgt spid="1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60" dur="550" fill="hold"/>
                                        <p:tgtEl>
                                          <p:spTgt spid="1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61" dur="275"/>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650"/>
                                        <p:tgtEl>
                                          <p:spTgt spid="19"/>
                                        </p:tgtEl>
                                      </p:cBhvr>
                                    </p:animEffect>
                                  </p:childTnLst>
                                </p:cTn>
                              </p:par>
                            </p:childTnLst>
                          </p:cTn>
                        </p:par>
                        <p:par>
                          <p:cTn id="67" fill="hold">
                            <p:stCondLst>
                              <p:cond delay="650"/>
                            </p:stCondLst>
                            <p:childTnLst>
                              <p:par>
                                <p:cTn id="68" presetID="53" presetClass="entr" presetSubtype="16" fill="hold" grpId="0" nodeType="after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71"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2" dur="275"/>
                                        <p:tgtEl>
                                          <p:spTgt spid="16"/>
                                        </p:tgtEl>
                                      </p:cBhvr>
                                    </p:animEffect>
                                  </p:childTnLst>
                                </p:cTn>
                              </p:par>
                              <p:par>
                                <p:cTn id="73" presetID="53" presetClass="entr" presetSubtype="16"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76"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77" dur="275"/>
                                        <p:tgtEl>
                                          <p:spTgt spid="17"/>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50" fill="hold"/>
                                        <p:tgtEl>
                                          <p:spTgt spid="1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1" dur="550" fill="hold"/>
                                        <p:tgtEl>
                                          <p:spTgt spid="1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2" dur="275"/>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2"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600" decel="100000" fill="hold"/>
                                        <p:tgtEl>
                                          <p:spTgt spid="20"/>
                                        </p:tgtEl>
                                        <p:attrNameLst>
                                          <p:attrName>ppt_x</p:attrName>
                                        </p:attrNameLst>
                                      </p:cBhvr>
                                      <p:tavLst>
                                        <p:tav tm="0">
                                          <p:val>
                                            <p:strVal val="#ppt_x+0.35"/>
                                          </p:val>
                                        </p:tav>
                                        <p:tav tm="100000">
                                          <p:val>
                                            <p:strVal val="#ppt_x"/>
                                          </p:val>
                                        </p:tav>
                                      </p:tavLst>
                                    </p:anim>
                                    <p:anim calcmode="lin" valueType="num">
                                      <p:cBhvr additive="base">
                                        <p:cTn id="88" dur="600" decel="100000" fill="hold"/>
                                        <p:tgtEl>
                                          <p:spTgt spid="20"/>
                                        </p:tgtEl>
                                        <p:attrNameLst>
                                          <p:attrName>ppt_y</p:attrName>
                                        </p:attrNameLst>
                                      </p:cBhvr>
                                      <p:tavLst>
                                        <p:tav tm="0">
                                          <p:val>
                                            <p:strVal val="#ppt_y"/>
                                          </p:val>
                                        </p:tav>
                                        <p:tav tm="100000">
                                          <p:val>
                                            <p:strVal val="#ppt_y"/>
                                          </p:val>
                                        </p:tav>
                                      </p:tavLst>
                                    </p:anim>
                                    <p:animEffect transition="in" filter="fade">
                                      <p:cBhvr>
                                        <p:cTn id="89" dur="420"/>
                                        <p:tgtEl>
                                          <p:spTgt spid="20"/>
                                        </p:tgtEl>
                                      </p:cBhvr>
                                    </p:animEffect>
                                  </p:childTnLst>
                                </p:cTn>
                              </p:par>
                              <p:par>
                                <p:cTn id="90" presetID="2" presetClass="entr" presetSubtype="2"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600" decel="100000" fill="hold"/>
                                        <p:tgtEl>
                                          <p:spTgt spid="21"/>
                                        </p:tgtEl>
                                        <p:attrNameLst>
                                          <p:attrName>ppt_x</p:attrName>
                                        </p:attrNameLst>
                                      </p:cBhvr>
                                      <p:tavLst>
                                        <p:tav tm="0">
                                          <p:val>
                                            <p:strVal val="#ppt_x+0.35"/>
                                          </p:val>
                                        </p:tav>
                                        <p:tav tm="100000">
                                          <p:val>
                                            <p:strVal val="#ppt_x"/>
                                          </p:val>
                                        </p:tav>
                                      </p:tavLst>
                                    </p:anim>
                                    <p:anim calcmode="lin" valueType="num">
                                      <p:cBhvr additive="base">
                                        <p:cTn id="93" dur="600" decel="100000" fill="hold"/>
                                        <p:tgtEl>
                                          <p:spTgt spid="21"/>
                                        </p:tgtEl>
                                        <p:attrNameLst>
                                          <p:attrName>ppt_y</p:attrName>
                                        </p:attrNameLst>
                                      </p:cBhvr>
                                      <p:tavLst>
                                        <p:tav tm="0">
                                          <p:val>
                                            <p:strVal val="#ppt_y"/>
                                          </p:val>
                                        </p:tav>
                                        <p:tav tm="100000">
                                          <p:val>
                                            <p:strVal val="#ppt_y"/>
                                          </p:val>
                                        </p:tav>
                                      </p:tavLst>
                                    </p:anim>
                                    <p:animEffect transition="in" filter="fade">
                                      <p:cBhvr>
                                        <p:cTn id="94" dur="420"/>
                                        <p:tgtEl>
                                          <p:spTgt spid="21"/>
                                        </p:tgtEl>
                                      </p:cBhvr>
                                    </p:animEffect>
                                  </p:childTnLst>
                                </p:cTn>
                              </p:par>
                              <p:par>
                                <p:cTn id="95" presetID="2" presetClass="entr" presetSubtype="2"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600" decel="100000" fill="hold"/>
                                        <p:tgtEl>
                                          <p:spTgt spid="22"/>
                                        </p:tgtEl>
                                        <p:attrNameLst>
                                          <p:attrName>ppt_x</p:attrName>
                                        </p:attrNameLst>
                                      </p:cBhvr>
                                      <p:tavLst>
                                        <p:tav tm="0">
                                          <p:val>
                                            <p:strVal val="#ppt_x+0.35"/>
                                          </p:val>
                                        </p:tav>
                                        <p:tav tm="100000">
                                          <p:val>
                                            <p:strVal val="#ppt_x"/>
                                          </p:val>
                                        </p:tav>
                                      </p:tavLst>
                                    </p:anim>
                                    <p:anim calcmode="lin" valueType="num">
                                      <p:cBhvr additive="base">
                                        <p:cTn id="98" dur="600" decel="100000" fill="hold"/>
                                        <p:tgtEl>
                                          <p:spTgt spid="22"/>
                                        </p:tgtEl>
                                        <p:attrNameLst>
                                          <p:attrName>ppt_y</p:attrName>
                                        </p:attrNameLst>
                                      </p:cBhvr>
                                      <p:tavLst>
                                        <p:tav tm="0">
                                          <p:val>
                                            <p:strVal val="#ppt_y"/>
                                          </p:val>
                                        </p:tav>
                                        <p:tav tm="100000">
                                          <p:val>
                                            <p:strVal val="#ppt_y"/>
                                          </p:val>
                                        </p:tav>
                                      </p:tavLst>
                                    </p:anim>
                                    <p:animEffect transition="in" filter="fade">
                                      <p:cBhvr>
                                        <p:cTn id="99" dur="420"/>
                                        <p:tgtEl>
                                          <p:spTgt spid="22"/>
                                        </p:tgtEl>
                                      </p:cBhvr>
                                    </p:animEffect>
                                  </p:childTnLst>
                                </p:cTn>
                              </p:par>
                              <p:par>
                                <p:cTn id="100" presetID="2" presetClass="entr" presetSubtype="2"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600" decel="100000" fill="hold"/>
                                        <p:tgtEl>
                                          <p:spTgt spid="23"/>
                                        </p:tgtEl>
                                        <p:attrNameLst>
                                          <p:attrName>ppt_x</p:attrName>
                                        </p:attrNameLst>
                                      </p:cBhvr>
                                      <p:tavLst>
                                        <p:tav tm="0">
                                          <p:val>
                                            <p:strVal val="#ppt_x+0.35"/>
                                          </p:val>
                                        </p:tav>
                                        <p:tav tm="100000">
                                          <p:val>
                                            <p:strVal val="#ppt_x"/>
                                          </p:val>
                                        </p:tav>
                                      </p:tavLst>
                                    </p:anim>
                                    <p:anim calcmode="lin" valueType="num">
                                      <p:cBhvr additive="base">
                                        <p:cTn id="103" dur="600" decel="100000" fill="hold"/>
                                        <p:tgtEl>
                                          <p:spTgt spid="23"/>
                                        </p:tgtEl>
                                        <p:attrNameLst>
                                          <p:attrName>ppt_y</p:attrName>
                                        </p:attrNameLst>
                                      </p:cBhvr>
                                      <p:tavLst>
                                        <p:tav tm="0">
                                          <p:val>
                                            <p:strVal val="#ppt_y"/>
                                          </p:val>
                                        </p:tav>
                                        <p:tav tm="100000">
                                          <p:val>
                                            <p:strVal val="#ppt_y"/>
                                          </p:val>
                                        </p:tav>
                                      </p:tavLst>
                                    </p:anim>
                                    <p:animEffect transition="in" filter="fade">
                                      <p:cBhvr>
                                        <p:cTn id="104" dur="420"/>
                                        <p:tgtEl>
                                          <p:spTgt spid="23"/>
                                        </p:tgtEl>
                                      </p:cBhvr>
                                    </p:animEffect>
                                  </p:childTnLst>
                                </p:cTn>
                              </p:par>
                              <p:par>
                                <p:cTn id="105" presetID="2" presetClass="entr" presetSubtype="2"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600" decel="100000" fill="hold"/>
                                        <p:tgtEl>
                                          <p:spTgt spid="24"/>
                                        </p:tgtEl>
                                        <p:attrNameLst>
                                          <p:attrName>ppt_x</p:attrName>
                                        </p:attrNameLst>
                                      </p:cBhvr>
                                      <p:tavLst>
                                        <p:tav tm="0">
                                          <p:val>
                                            <p:strVal val="#ppt_x+0.35"/>
                                          </p:val>
                                        </p:tav>
                                        <p:tav tm="100000">
                                          <p:val>
                                            <p:strVal val="#ppt_x"/>
                                          </p:val>
                                        </p:tav>
                                      </p:tavLst>
                                    </p:anim>
                                    <p:anim calcmode="lin" valueType="num">
                                      <p:cBhvr additive="base">
                                        <p:cTn id="108" dur="600" decel="100000" fill="hold"/>
                                        <p:tgtEl>
                                          <p:spTgt spid="24"/>
                                        </p:tgtEl>
                                        <p:attrNameLst>
                                          <p:attrName>ppt_y</p:attrName>
                                        </p:attrNameLst>
                                      </p:cBhvr>
                                      <p:tavLst>
                                        <p:tav tm="0">
                                          <p:val>
                                            <p:strVal val="#ppt_y"/>
                                          </p:val>
                                        </p:tav>
                                        <p:tav tm="100000">
                                          <p:val>
                                            <p:strVal val="#ppt_y"/>
                                          </p:val>
                                        </p:tav>
                                      </p:tavLst>
                                    </p:anim>
                                    <p:animEffect transition="in" filter="fade">
                                      <p:cBhvr>
                                        <p:cTn id="109" dur="420"/>
                                        <p:tgtEl>
                                          <p:spTgt spid="24"/>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additive="base">
                                        <p:cTn id="114" dur="550" fill="hold"/>
                                        <p:tgtEl>
                                          <p:spTgt spid="2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15" dur="550" fill="hold"/>
                                        <p:tgtEl>
                                          <p:spTgt spid="2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16" dur="275"/>
                                        <p:tgtEl>
                                          <p:spTgt spid="25"/>
                                        </p:tgtEl>
                                      </p:cBhvr>
                                    </p:animEffect>
                                  </p:childTnLst>
                                </p:cTn>
                              </p:par>
                              <p:par>
                                <p:cTn id="117" presetID="53" presetClass="entr" presetSubtype="16" fill="hold" nodeType="withEffect">
                                  <p:stCondLst>
                                    <p:cond delay="0"/>
                                  </p:stCondLst>
                                  <p:childTnLst>
                                    <p:set>
                                      <p:cBhvr>
                                        <p:cTn id="118" dur="1" fill="hold">
                                          <p:stCondLst>
                                            <p:cond delay="0"/>
                                          </p:stCondLst>
                                        </p:cTn>
                                        <p:tgtEl>
                                          <p:spTgt spid="26"/>
                                        </p:tgtEl>
                                        <p:attrNameLst>
                                          <p:attrName>style.visibility</p:attrName>
                                        </p:attrNameLst>
                                      </p:cBhvr>
                                      <p:to>
                                        <p:strVal val="visible"/>
                                      </p:to>
                                    </p:set>
                                    <p:anim calcmode="lin" valueType="num">
                                      <p:cBhvr additive="base">
                                        <p:cTn id="119" dur="550" fill="hold"/>
                                        <p:tgtEl>
                                          <p:spTgt spid="2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0" dur="550" fill="hold"/>
                                        <p:tgtEl>
                                          <p:spTgt spid="2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1" dur="275"/>
                                        <p:tgtEl>
                                          <p:spTgt spid="26"/>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27"/>
                                        </p:tgtEl>
                                        <p:attrNameLst>
                                          <p:attrName>style.visibility</p:attrName>
                                        </p:attrNameLst>
                                      </p:cBhvr>
                                      <p:to>
                                        <p:strVal val="visible"/>
                                      </p:to>
                                    </p:set>
                                    <p:anim calcmode="lin" valueType="num">
                                      <p:cBhvr additive="base">
                                        <p:cTn id="124" dur="550" fill="hold"/>
                                        <p:tgtEl>
                                          <p:spTgt spid="2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25" dur="550" fill="hold"/>
                                        <p:tgtEl>
                                          <p:spTgt spid="2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26" dur="275"/>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SAMENVATTING</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Welvaart voor iedereen: samengevat</a:t>
            </a:r>
            <a:endParaRPr lang="nl-NL" sz="3400" dirty="0"/>
          </a:p>
        </p:txBody>
      </p:sp>
      <p:sp>
        <p:nvSpPr>
          <p:cNvPr id="4" name="s43_h0"/>
          <p:cNvSpPr txBox="1"/>
          <p:nvPr/>
        </p:nvSpPr>
        <p:spPr>
          <a:xfrm>
            <a:off x="548640" y="1188720"/>
            <a:ext cx="2103120" cy="502920"/>
          </a:xfrm>
          <a:prstGeom prst="roundRect">
            <a:avLst>
              <a:gd name="adj" fmla="val 18182"/>
            </a:avLst>
          </a:prstGeom>
          <a:solidFill>
            <a:srgbClr val="5B6B82"/>
          </a:solidFill>
          <a:ln/>
        </p:spPr>
        <p:txBody>
          <a:bodyPr wrap="square" lIns="0" tIns="0" rIns="0" bIns="0" rtlCol="0" anchor="ctr"/>
          <a:lstStyle/>
          <a:p>
            <a:pPr marL="0" indent="0" algn="ctr">
              <a:buNone/>
            </a:pPr>
            <a:r>
              <a:rPr lang="nl-NL" sz="1900" b="1" dirty="0">
                <a:solidFill>
                  <a:srgbClr val="FFFFFF"/>
                </a:solidFill>
                <a:latin typeface="Calibri" pitchFamily="34" charset="0"/>
                <a:ea typeface="Calibri" pitchFamily="34" charset="-122"/>
                <a:cs typeface="Calibri" pitchFamily="34" charset="-120"/>
              </a:rPr>
              <a:t>Oorlog</a:t>
            </a:r>
            <a:endParaRPr lang="nl-NL" sz="1900" dirty="0"/>
          </a:p>
        </p:txBody>
      </p:sp>
      <p:sp>
        <p:nvSpPr>
          <p:cNvPr id="5" name="s43_y0"/>
          <p:cNvSpPr txBox="1"/>
          <p:nvPr/>
        </p:nvSpPr>
        <p:spPr>
          <a:xfrm>
            <a:off x="548640" y="1737360"/>
            <a:ext cx="2103120" cy="274320"/>
          </a:xfrm>
          <a:prstGeom prst="rect">
            <a:avLst/>
          </a:prstGeom>
          <a:noFill/>
          <a:ln/>
        </p:spPr>
        <p:txBody>
          <a:bodyPr wrap="square" lIns="0" tIns="0" rIns="0" bIns="0" rtlCol="0" anchor="t"/>
          <a:lstStyle/>
          <a:p>
            <a:pPr marL="0" indent="0" algn="ctr">
              <a:buNone/>
            </a:pPr>
            <a:r>
              <a:rPr lang="nl-NL" sz="1300" dirty="0">
                <a:solidFill>
                  <a:srgbClr val="5B6B7B"/>
                </a:solidFill>
                <a:latin typeface="Calibri" pitchFamily="34" charset="0"/>
                <a:ea typeface="Calibri" pitchFamily="34" charset="-122"/>
                <a:cs typeface="Calibri" pitchFamily="34" charset="-120"/>
              </a:rPr>
              <a:t>1940 – 1945</a:t>
            </a:r>
            <a:endParaRPr lang="nl-NL" sz="1300" dirty="0"/>
          </a:p>
        </p:txBody>
      </p:sp>
      <p:sp>
        <p:nvSpPr>
          <p:cNvPr id="6" name="s43_i0_0"/>
          <p:cNvSpPr txBox="1"/>
          <p:nvPr/>
        </p:nvSpPr>
        <p:spPr>
          <a:xfrm>
            <a:off x="548640" y="2148840"/>
            <a:ext cx="2103120" cy="658368"/>
          </a:xfrm>
          <a:prstGeom prst="roundRect">
            <a:avLst>
              <a:gd name="adj" fmla="val 13889"/>
            </a:avLst>
          </a:prstGeom>
          <a:solidFill>
            <a:srgbClr val="EDF0F4"/>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Arbeitseinsatz</a:t>
            </a:r>
            <a:endParaRPr lang="nl-NL" sz="1500" dirty="0"/>
          </a:p>
        </p:txBody>
      </p:sp>
      <p:sp>
        <p:nvSpPr>
          <p:cNvPr id="7" name="s43_i0_1"/>
          <p:cNvSpPr txBox="1"/>
          <p:nvPr/>
        </p:nvSpPr>
        <p:spPr>
          <a:xfrm>
            <a:off x="548640" y="2926080"/>
            <a:ext cx="2103120" cy="658368"/>
          </a:xfrm>
          <a:prstGeom prst="roundRect">
            <a:avLst>
              <a:gd name="adj" fmla="val 13889"/>
            </a:avLst>
          </a:prstGeom>
          <a:solidFill>
            <a:srgbClr val="EDF0F4"/>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Hongerwinter</a:t>
            </a:r>
            <a:endParaRPr lang="nl-NL" sz="1500" dirty="0"/>
          </a:p>
        </p:txBody>
      </p:sp>
      <p:sp>
        <p:nvSpPr>
          <p:cNvPr id="8" name="s43_i0_2"/>
          <p:cNvSpPr txBox="1"/>
          <p:nvPr/>
        </p:nvSpPr>
        <p:spPr>
          <a:xfrm>
            <a:off x="548640" y="3703320"/>
            <a:ext cx="2103120" cy="658368"/>
          </a:xfrm>
          <a:prstGeom prst="roundRect">
            <a:avLst>
              <a:gd name="adj" fmla="val 13889"/>
            </a:avLst>
          </a:prstGeom>
          <a:solidFill>
            <a:srgbClr val="EDF0F4"/>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Distributie</a:t>
            </a:r>
            <a:endParaRPr lang="nl-NL" sz="1500" dirty="0"/>
          </a:p>
        </p:txBody>
      </p:sp>
      <p:sp>
        <p:nvSpPr>
          <p:cNvPr id="9" name="s43_h1"/>
          <p:cNvSpPr txBox="1"/>
          <p:nvPr/>
        </p:nvSpPr>
        <p:spPr>
          <a:xfrm>
            <a:off x="2798064" y="1188720"/>
            <a:ext cx="2103120" cy="502920"/>
          </a:xfrm>
          <a:prstGeom prst="roundRect">
            <a:avLst>
              <a:gd name="adj" fmla="val 18182"/>
            </a:avLst>
          </a:prstGeom>
          <a:solidFill>
            <a:srgbClr val="2E8B74"/>
          </a:solidFill>
          <a:ln/>
        </p:spPr>
        <p:txBody>
          <a:bodyPr wrap="square" lIns="0" tIns="0" rIns="0" bIns="0" rtlCol="0" anchor="ctr"/>
          <a:lstStyle/>
          <a:p>
            <a:pPr marL="0" indent="0" algn="ctr">
              <a:buNone/>
            </a:pPr>
            <a:r>
              <a:rPr lang="nl-NL" sz="1900" b="1" dirty="0">
                <a:solidFill>
                  <a:srgbClr val="FFFFFF"/>
                </a:solidFill>
                <a:latin typeface="Calibri" pitchFamily="34" charset="0"/>
                <a:ea typeface="Calibri" pitchFamily="34" charset="-122"/>
                <a:cs typeface="Calibri" pitchFamily="34" charset="-120"/>
              </a:rPr>
              <a:t>Wederopbouw</a:t>
            </a:r>
            <a:endParaRPr lang="nl-NL" sz="1900" dirty="0"/>
          </a:p>
        </p:txBody>
      </p:sp>
      <p:sp>
        <p:nvSpPr>
          <p:cNvPr id="10" name="s43_y1"/>
          <p:cNvSpPr txBox="1"/>
          <p:nvPr/>
        </p:nvSpPr>
        <p:spPr>
          <a:xfrm>
            <a:off x="2798064" y="1737360"/>
            <a:ext cx="2103120" cy="274320"/>
          </a:xfrm>
          <a:prstGeom prst="rect">
            <a:avLst/>
          </a:prstGeom>
          <a:noFill/>
          <a:ln/>
        </p:spPr>
        <p:txBody>
          <a:bodyPr wrap="square" lIns="0" tIns="0" rIns="0" bIns="0" rtlCol="0" anchor="t"/>
          <a:lstStyle/>
          <a:p>
            <a:pPr marL="0" indent="0" algn="ctr">
              <a:buNone/>
            </a:pPr>
            <a:r>
              <a:rPr lang="nl-NL" sz="1300" dirty="0">
                <a:solidFill>
                  <a:srgbClr val="5B6B7B"/>
                </a:solidFill>
                <a:latin typeface="Calibri" pitchFamily="34" charset="0"/>
                <a:ea typeface="Calibri" pitchFamily="34" charset="-122"/>
                <a:cs typeface="Calibri" pitchFamily="34" charset="-120"/>
              </a:rPr>
              <a:t>1945 – 1960</a:t>
            </a:r>
            <a:endParaRPr lang="nl-NL" sz="1300" dirty="0"/>
          </a:p>
        </p:txBody>
      </p:sp>
      <p:sp>
        <p:nvSpPr>
          <p:cNvPr id="11" name="s43_i1_0"/>
          <p:cNvSpPr txBox="1"/>
          <p:nvPr/>
        </p:nvSpPr>
        <p:spPr>
          <a:xfrm>
            <a:off x="2798064" y="2148840"/>
            <a:ext cx="2103120" cy="658368"/>
          </a:xfrm>
          <a:prstGeom prst="roundRect">
            <a:avLst>
              <a:gd name="adj" fmla="val 13889"/>
            </a:avLst>
          </a:prstGeom>
          <a:solidFill>
            <a:srgbClr val="E5F3EE"/>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Marshallhulp</a:t>
            </a:r>
            <a:endParaRPr lang="nl-NL" sz="1500" dirty="0"/>
          </a:p>
        </p:txBody>
      </p:sp>
      <p:sp>
        <p:nvSpPr>
          <p:cNvPr id="12" name="s43_i1_1"/>
          <p:cNvSpPr txBox="1"/>
          <p:nvPr/>
        </p:nvSpPr>
        <p:spPr>
          <a:xfrm>
            <a:off x="2798064" y="2926080"/>
            <a:ext cx="2103120" cy="658368"/>
          </a:xfrm>
          <a:prstGeom prst="roundRect">
            <a:avLst>
              <a:gd name="adj" fmla="val 13889"/>
            </a:avLst>
          </a:prstGeom>
          <a:solidFill>
            <a:srgbClr val="E5F3EE"/>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Harmoniemodel</a:t>
            </a:r>
            <a:endParaRPr lang="nl-NL" sz="1500" dirty="0"/>
          </a:p>
        </p:txBody>
      </p:sp>
      <p:sp>
        <p:nvSpPr>
          <p:cNvPr id="13" name="s43_i1_2"/>
          <p:cNvSpPr txBox="1"/>
          <p:nvPr/>
        </p:nvSpPr>
        <p:spPr>
          <a:xfrm>
            <a:off x="2798064" y="3703320"/>
            <a:ext cx="2103120" cy="658368"/>
          </a:xfrm>
          <a:prstGeom prst="roundRect">
            <a:avLst>
              <a:gd name="adj" fmla="val 13889"/>
            </a:avLst>
          </a:prstGeom>
          <a:solidFill>
            <a:srgbClr val="E5F3EE"/>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Geleide loonpolitiek</a:t>
            </a:r>
            <a:endParaRPr lang="nl-NL" sz="1500" dirty="0"/>
          </a:p>
        </p:txBody>
      </p:sp>
      <p:sp>
        <p:nvSpPr>
          <p:cNvPr id="14" name="s43_i1_3"/>
          <p:cNvSpPr txBox="1"/>
          <p:nvPr/>
        </p:nvSpPr>
        <p:spPr>
          <a:xfrm>
            <a:off x="2798064" y="4480560"/>
            <a:ext cx="2103120" cy="658368"/>
          </a:xfrm>
          <a:prstGeom prst="roundRect">
            <a:avLst>
              <a:gd name="adj" fmla="val 13889"/>
            </a:avLst>
          </a:prstGeom>
          <a:solidFill>
            <a:srgbClr val="E5F3EE"/>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Mechanisatie</a:t>
            </a:r>
            <a:endParaRPr lang="nl-NL" sz="1500" dirty="0"/>
          </a:p>
        </p:txBody>
      </p:sp>
      <p:sp>
        <p:nvSpPr>
          <p:cNvPr id="15" name="s43_i1_4"/>
          <p:cNvSpPr txBox="1"/>
          <p:nvPr/>
        </p:nvSpPr>
        <p:spPr>
          <a:xfrm>
            <a:off x="2798064" y="5257800"/>
            <a:ext cx="2103120" cy="658368"/>
          </a:xfrm>
          <a:prstGeom prst="roundRect">
            <a:avLst>
              <a:gd name="adj" fmla="val 13889"/>
            </a:avLst>
          </a:prstGeom>
          <a:solidFill>
            <a:srgbClr val="E5F3EE"/>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Gastarbeiders</a:t>
            </a:r>
            <a:endParaRPr lang="nl-NL" sz="1500" dirty="0"/>
          </a:p>
        </p:txBody>
      </p:sp>
      <p:sp>
        <p:nvSpPr>
          <p:cNvPr id="16" name="s43_h2"/>
          <p:cNvSpPr txBox="1"/>
          <p:nvPr/>
        </p:nvSpPr>
        <p:spPr>
          <a:xfrm>
            <a:off x="5047488" y="1188720"/>
            <a:ext cx="2103120" cy="502920"/>
          </a:xfrm>
          <a:prstGeom prst="roundRect">
            <a:avLst>
              <a:gd name="adj" fmla="val 18182"/>
            </a:avLst>
          </a:prstGeom>
          <a:solidFill>
            <a:srgbClr val="E07A3F"/>
          </a:solidFill>
          <a:ln/>
        </p:spPr>
        <p:txBody>
          <a:bodyPr wrap="square" lIns="0" tIns="0" rIns="0" bIns="0" rtlCol="0" anchor="ctr"/>
          <a:lstStyle/>
          <a:p>
            <a:pPr marL="0" indent="0" algn="ctr">
              <a:buNone/>
            </a:pPr>
            <a:r>
              <a:rPr lang="nl-NL" sz="1900" b="1" dirty="0">
                <a:solidFill>
                  <a:srgbClr val="FFFFFF"/>
                </a:solidFill>
                <a:latin typeface="Calibri" pitchFamily="34" charset="0"/>
                <a:ea typeface="Calibri" pitchFamily="34" charset="-122"/>
                <a:cs typeface="Calibri" pitchFamily="34" charset="-120"/>
              </a:rPr>
              <a:t>Welvaart</a:t>
            </a:r>
            <a:endParaRPr lang="nl-NL" sz="1900" dirty="0"/>
          </a:p>
        </p:txBody>
      </p:sp>
      <p:sp>
        <p:nvSpPr>
          <p:cNvPr id="17" name="s43_y2"/>
          <p:cNvSpPr txBox="1"/>
          <p:nvPr/>
        </p:nvSpPr>
        <p:spPr>
          <a:xfrm>
            <a:off x="5047488" y="1737360"/>
            <a:ext cx="2103120" cy="274320"/>
          </a:xfrm>
          <a:prstGeom prst="rect">
            <a:avLst/>
          </a:prstGeom>
          <a:noFill/>
          <a:ln/>
        </p:spPr>
        <p:txBody>
          <a:bodyPr wrap="square" lIns="0" tIns="0" rIns="0" bIns="0" rtlCol="0" anchor="t"/>
          <a:lstStyle/>
          <a:p>
            <a:pPr marL="0" indent="0" algn="ctr">
              <a:buNone/>
            </a:pPr>
            <a:r>
              <a:rPr lang="nl-NL" sz="1300" dirty="0">
                <a:solidFill>
                  <a:srgbClr val="5B6B7B"/>
                </a:solidFill>
                <a:latin typeface="Calibri" pitchFamily="34" charset="0"/>
                <a:ea typeface="Calibri" pitchFamily="34" charset="-122"/>
                <a:cs typeface="Calibri" pitchFamily="34" charset="-120"/>
              </a:rPr>
              <a:t>jaren 60</a:t>
            </a:r>
            <a:endParaRPr lang="nl-NL" sz="1300" dirty="0"/>
          </a:p>
        </p:txBody>
      </p:sp>
      <p:sp>
        <p:nvSpPr>
          <p:cNvPr id="18" name="s43_i2_0"/>
          <p:cNvSpPr txBox="1"/>
          <p:nvPr/>
        </p:nvSpPr>
        <p:spPr>
          <a:xfrm>
            <a:off x="5047488" y="2148840"/>
            <a:ext cx="2103120" cy="658368"/>
          </a:xfrm>
          <a:prstGeom prst="roundRect">
            <a:avLst>
              <a:gd name="adj" fmla="val 13889"/>
            </a:avLst>
          </a:prstGeom>
          <a:solidFill>
            <a:srgbClr val="FCEDE3"/>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Consumptie-maatschappij</a:t>
            </a:r>
            <a:endParaRPr lang="nl-NL" sz="1500" dirty="0"/>
          </a:p>
        </p:txBody>
      </p:sp>
      <p:sp>
        <p:nvSpPr>
          <p:cNvPr id="19" name="s43_i2_1"/>
          <p:cNvSpPr txBox="1"/>
          <p:nvPr/>
        </p:nvSpPr>
        <p:spPr>
          <a:xfrm>
            <a:off x="5047488" y="2926080"/>
            <a:ext cx="2103120" cy="658368"/>
          </a:xfrm>
          <a:prstGeom prst="roundRect">
            <a:avLst>
              <a:gd name="adj" fmla="val 13889"/>
            </a:avLst>
          </a:prstGeom>
          <a:solidFill>
            <a:srgbClr val="FCEDE3"/>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Luxeproducten</a:t>
            </a:r>
            <a:endParaRPr lang="nl-NL" sz="1500" dirty="0"/>
          </a:p>
        </p:txBody>
      </p:sp>
      <p:sp>
        <p:nvSpPr>
          <p:cNvPr id="20" name="s43_h3"/>
          <p:cNvSpPr txBox="1"/>
          <p:nvPr/>
        </p:nvSpPr>
        <p:spPr>
          <a:xfrm>
            <a:off x="7296912" y="1188720"/>
            <a:ext cx="2103120" cy="502920"/>
          </a:xfrm>
          <a:prstGeom prst="roundRect">
            <a:avLst>
              <a:gd name="adj" fmla="val 18182"/>
            </a:avLst>
          </a:prstGeom>
          <a:solidFill>
            <a:srgbClr val="8A5A83"/>
          </a:solidFill>
          <a:ln/>
        </p:spPr>
        <p:txBody>
          <a:bodyPr wrap="square" lIns="0" tIns="0" rIns="0" bIns="0" rtlCol="0" anchor="ctr"/>
          <a:lstStyle/>
          <a:p>
            <a:pPr marL="0" indent="0" algn="ctr">
              <a:buNone/>
            </a:pPr>
            <a:r>
              <a:rPr lang="nl-NL" sz="1900" b="1" dirty="0">
                <a:solidFill>
                  <a:srgbClr val="FFFFFF"/>
                </a:solidFill>
                <a:latin typeface="Calibri" pitchFamily="34" charset="0"/>
                <a:ea typeface="Calibri" pitchFamily="34" charset="-122"/>
                <a:cs typeface="Calibri" pitchFamily="34" charset="-120"/>
              </a:rPr>
              <a:t>Crisis</a:t>
            </a:r>
            <a:endParaRPr lang="nl-NL" sz="1900" dirty="0"/>
          </a:p>
        </p:txBody>
      </p:sp>
      <p:sp>
        <p:nvSpPr>
          <p:cNvPr id="21" name="s43_y3"/>
          <p:cNvSpPr txBox="1"/>
          <p:nvPr/>
        </p:nvSpPr>
        <p:spPr>
          <a:xfrm>
            <a:off x="7296912" y="1737360"/>
            <a:ext cx="2103120" cy="274320"/>
          </a:xfrm>
          <a:prstGeom prst="rect">
            <a:avLst/>
          </a:prstGeom>
          <a:noFill/>
          <a:ln/>
        </p:spPr>
        <p:txBody>
          <a:bodyPr wrap="square" lIns="0" tIns="0" rIns="0" bIns="0" rtlCol="0" anchor="t"/>
          <a:lstStyle/>
          <a:p>
            <a:pPr marL="0" indent="0" algn="ctr">
              <a:buNone/>
            </a:pPr>
            <a:r>
              <a:rPr lang="nl-NL" sz="1300" dirty="0">
                <a:solidFill>
                  <a:srgbClr val="5B6B7B"/>
                </a:solidFill>
                <a:latin typeface="Calibri" pitchFamily="34" charset="0"/>
                <a:ea typeface="Calibri" pitchFamily="34" charset="-122"/>
                <a:cs typeface="Calibri" pitchFamily="34" charset="-120"/>
              </a:rPr>
              <a:t>jaren 70</a:t>
            </a:r>
            <a:endParaRPr lang="nl-NL" sz="1300" dirty="0"/>
          </a:p>
        </p:txBody>
      </p:sp>
      <p:sp>
        <p:nvSpPr>
          <p:cNvPr id="22" name="s43_i3_0"/>
          <p:cNvSpPr txBox="1"/>
          <p:nvPr/>
        </p:nvSpPr>
        <p:spPr>
          <a:xfrm>
            <a:off x="7296912" y="2148840"/>
            <a:ext cx="2103120" cy="658368"/>
          </a:xfrm>
          <a:prstGeom prst="roundRect">
            <a:avLst>
              <a:gd name="adj" fmla="val 13889"/>
            </a:avLst>
          </a:prstGeom>
          <a:solidFill>
            <a:srgbClr val="F2EAF1"/>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Oliecrisis</a:t>
            </a:r>
            <a:endParaRPr lang="nl-NL" sz="1500" dirty="0"/>
          </a:p>
        </p:txBody>
      </p:sp>
      <p:sp>
        <p:nvSpPr>
          <p:cNvPr id="23" name="s43_i3_1"/>
          <p:cNvSpPr txBox="1"/>
          <p:nvPr/>
        </p:nvSpPr>
        <p:spPr>
          <a:xfrm>
            <a:off x="7296912" y="2926080"/>
            <a:ext cx="2103120" cy="658368"/>
          </a:xfrm>
          <a:prstGeom prst="roundRect">
            <a:avLst>
              <a:gd name="adj" fmla="val 13889"/>
            </a:avLst>
          </a:prstGeom>
          <a:solidFill>
            <a:srgbClr val="F2EAF1"/>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Concurrentie</a:t>
            </a:r>
            <a:endParaRPr lang="nl-NL" sz="1500" dirty="0"/>
          </a:p>
        </p:txBody>
      </p:sp>
      <p:sp>
        <p:nvSpPr>
          <p:cNvPr id="24" name="s43_i3_2"/>
          <p:cNvSpPr txBox="1"/>
          <p:nvPr/>
        </p:nvSpPr>
        <p:spPr>
          <a:xfrm>
            <a:off x="7296912" y="3703320"/>
            <a:ext cx="2103120" cy="658368"/>
          </a:xfrm>
          <a:prstGeom prst="roundRect">
            <a:avLst>
              <a:gd name="adj" fmla="val 13889"/>
            </a:avLst>
          </a:prstGeom>
          <a:solidFill>
            <a:srgbClr val="F2EAF1"/>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Robots</a:t>
            </a:r>
            <a:endParaRPr lang="nl-NL" sz="1500" dirty="0"/>
          </a:p>
        </p:txBody>
      </p:sp>
      <p:sp>
        <p:nvSpPr>
          <p:cNvPr id="25" name="s43_h4"/>
          <p:cNvSpPr txBox="1"/>
          <p:nvPr/>
        </p:nvSpPr>
        <p:spPr>
          <a:xfrm>
            <a:off x="9546336" y="1188720"/>
            <a:ext cx="2103120" cy="502920"/>
          </a:xfrm>
          <a:prstGeom prst="roundRect">
            <a:avLst>
              <a:gd name="adj" fmla="val 18182"/>
            </a:avLst>
          </a:prstGeom>
          <a:solidFill>
            <a:srgbClr val="2F7BB5"/>
          </a:solidFill>
          <a:ln/>
        </p:spPr>
        <p:txBody>
          <a:bodyPr wrap="square" lIns="0" tIns="0" rIns="0" bIns="0" rtlCol="0" anchor="ctr"/>
          <a:lstStyle/>
          <a:p>
            <a:pPr marL="0" indent="0" algn="ctr">
              <a:buNone/>
            </a:pPr>
            <a:r>
              <a:rPr lang="nl-NL" sz="1900" b="1" dirty="0">
                <a:solidFill>
                  <a:srgbClr val="FFFFFF"/>
                </a:solidFill>
                <a:latin typeface="Calibri" pitchFamily="34" charset="0"/>
                <a:ea typeface="Calibri" pitchFamily="34" charset="-122"/>
                <a:cs typeface="Calibri" pitchFamily="34" charset="-120"/>
              </a:rPr>
              <a:t>Nu</a:t>
            </a:r>
            <a:endParaRPr lang="nl-NL" sz="1900" dirty="0"/>
          </a:p>
        </p:txBody>
      </p:sp>
      <p:sp>
        <p:nvSpPr>
          <p:cNvPr id="26" name="s43_y4"/>
          <p:cNvSpPr txBox="1"/>
          <p:nvPr/>
        </p:nvSpPr>
        <p:spPr>
          <a:xfrm>
            <a:off x="9546336" y="1737360"/>
            <a:ext cx="2103120" cy="274320"/>
          </a:xfrm>
          <a:prstGeom prst="rect">
            <a:avLst/>
          </a:prstGeom>
          <a:noFill/>
          <a:ln/>
        </p:spPr>
        <p:txBody>
          <a:bodyPr wrap="square" lIns="0" tIns="0" rIns="0" bIns="0" rtlCol="0" anchor="t"/>
          <a:lstStyle/>
          <a:p>
            <a:pPr marL="0" indent="0" algn="ctr">
              <a:buNone/>
            </a:pPr>
            <a:r>
              <a:rPr lang="nl-NL" sz="1300" dirty="0">
                <a:solidFill>
                  <a:srgbClr val="5B6B7B"/>
                </a:solidFill>
                <a:latin typeface="Calibri" pitchFamily="34" charset="0"/>
                <a:ea typeface="Calibri" pitchFamily="34" charset="-122"/>
                <a:cs typeface="Calibri" pitchFamily="34" charset="-120"/>
              </a:rPr>
              <a:t>handel &amp; diensten</a:t>
            </a:r>
            <a:endParaRPr lang="nl-NL" sz="1300" dirty="0"/>
          </a:p>
        </p:txBody>
      </p:sp>
      <p:sp>
        <p:nvSpPr>
          <p:cNvPr id="27" name="s43_i4_0"/>
          <p:cNvSpPr txBox="1"/>
          <p:nvPr/>
        </p:nvSpPr>
        <p:spPr>
          <a:xfrm>
            <a:off x="9546336" y="2148840"/>
            <a:ext cx="2103120" cy="658368"/>
          </a:xfrm>
          <a:prstGeom prst="roundRect">
            <a:avLst>
              <a:gd name="adj" fmla="val 13889"/>
            </a:avLst>
          </a:prstGeom>
          <a:solidFill>
            <a:srgbClr val="E6F0F8"/>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Haven &amp; Schiphol</a:t>
            </a:r>
            <a:endParaRPr lang="nl-NL" sz="1500" dirty="0"/>
          </a:p>
        </p:txBody>
      </p:sp>
      <p:sp>
        <p:nvSpPr>
          <p:cNvPr id="28" name="s43_i4_1"/>
          <p:cNvSpPr txBox="1"/>
          <p:nvPr/>
        </p:nvSpPr>
        <p:spPr>
          <a:xfrm>
            <a:off x="9546336" y="2926080"/>
            <a:ext cx="2103120" cy="658368"/>
          </a:xfrm>
          <a:prstGeom prst="roundRect">
            <a:avLst>
              <a:gd name="adj" fmla="val 13889"/>
            </a:avLst>
          </a:prstGeom>
          <a:solidFill>
            <a:srgbClr val="E6F0F8"/>
          </a:solidFill>
          <a:ln/>
        </p:spPr>
        <p:txBody>
          <a:bodyPr wrap="square" lIns="0" tIns="0" rIns="0" bIns="0" rtlCol="0" anchor="ctr"/>
          <a:lstStyle/>
          <a:p>
            <a:pPr marL="0" indent="0" algn="ctr">
              <a:buNone/>
            </a:pPr>
            <a:r>
              <a:rPr lang="nl-NL" sz="1500" b="1" dirty="0">
                <a:solidFill>
                  <a:srgbClr val="1E2A3A"/>
                </a:solidFill>
                <a:latin typeface="Calibri" pitchFamily="34" charset="0"/>
                <a:ea typeface="Calibri" pitchFamily="34" charset="-122"/>
                <a:cs typeface="Calibri" pitchFamily="34" charset="-120"/>
              </a:rPr>
              <a:t>Kwetsbaar</a:t>
            </a:r>
            <a:endParaRPr lang="nl-NL"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50" fill="hold"/>
                                        <p:tgtEl>
                                          <p:spTgt spid="4"/>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4"/>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 dur="275"/>
                                        <p:tgtEl>
                                          <p:spTgt spid="5"/>
                                        </p:tgtEl>
                                      </p:cBhvr>
                                    </p:animEffect>
                                  </p:childTnLst>
                                </p:cTn>
                              </p:par>
                            </p:childTnLst>
                          </p:cTn>
                        </p:par>
                        <p:par>
                          <p:cTn id="15" fill="hold">
                            <p:stCondLst>
                              <p:cond delay="550"/>
                            </p:stCondLst>
                            <p:childTnLst>
                              <p:par>
                                <p:cTn id="16" presetID="42"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anim calcmode="lin" valueType="num">
                                      <p:cBhvr additive="base">
                                        <p:cTn id="19" dur="350" decel="100000" fill="hold"/>
                                        <p:tgtEl>
                                          <p:spTgt spid="6"/>
                                        </p:tgtEl>
                                        <p:attrNameLst>
                                          <p:attrName>ppt_x</p:attrName>
                                        </p:attrNameLst>
                                      </p:cBhvr>
                                      <p:tavLst>
                                        <p:tav tm="0">
                                          <p:val>
                                            <p:strVal val="#ppt_x"/>
                                          </p:val>
                                        </p:tav>
                                        <p:tav tm="100000">
                                          <p:val>
                                            <p:strVal val="#ppt_x"/>
                                          </p:val>
                                        </p:tav>
                                      </p:tavLst>
                                    </p:anim>
                                    <p:anim calcmode="lin" valueType="num">
                                      <p:cBhvr additive="base">
                                        <p:cTn id="20" dur="350" decel="100000" fill="hold"/>
                                        <p:tgtEl>
                                          <p:spTgt spid="6"/>
                                        </p:tgtEl>
                                        <p:attrNameLst>
                                          <p:attrName>ppt_y</p:attrName>
                                        </p:attrNameLst>
                                      </p:cBhvr>
                                      <p:tavLst>
                                        <p:tav tm="0">
                                          <p:val>
                                            <p:strVal val="#ppt_y+0.06"/>
                                          </p:val>
                                        </p:tav>
                                        <p:tav tm="100000">
                                          <p:val>
                                            <p:strVal val="#ppt_y"/>
                                          </p:val>
                                        </p:tav>
                                      </p:tavLst>
                                    </p:anim>
                                  </p:childTnLst>
                                </p:cTn>
                              </p:par>
                            </p:childTnLst>
                          </p:cTn>
                        </p:par>
                        <p:par>
                          <p:cTn id="21" fill="hold">
                            <p:stCondLst>
                              <p:cond delay="900"/>
                            </p:stCondLst>
                            <p:childTnLst>
                              <p:par>
                                <p:cTn id="22" presetID="42"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50"/>
                                        <p:tgtEl>
                                          <p:spTgt spid="7"/>
                                        </p:tgtEl>
                                      </p:cBhvr>
                                    </p:animEffect>
                                    <p:anim calcmode="lin" valueType="num">
                                      <p:cBhvr additive="base">
                                        <p:cTn id="25" dur="350" decel="100000" fill="hold"/>
                                        <p:tgtEl>
                                          <p:spTgt spid="7"/>
                                        </p:tgtEl>
                                        <p:attrNameLst>
                                          <p:attrName>ppt_x</p:attrName>
                                        </p:attrNameLst>
                                      </p:cBhvr>
                                      <p:tavLst>
                                        <p:tav tm="0">
                                          <p:val>
                                            <p:strVal val="#ppt_x"/>
                                          </p:val>
                                        </p:tav>
                                        <p:tav tm="100000">
                                          <p:val>
                                            <p:strVal val="#ppt_x"/>
                                          </p:val>
                                        </p:tav>
                                      </p:tavLst>
                                    </p:anim>
                                    <p:anim calcmode="lin" valueType="num">
                                      <p:cBhvr additive="base">
                                        <p:cTn id="26" dur="350" decel="100000" fill="hold"/>
                                        <p:tgtEl>
                                          <p:spTgt spid="7"/>
                                        </p:tgtEl>
                                        <p:attrNameLst>
                                          <p:attrName>ppt_y</p:attrName>
                                        </p:attrNameLst>
                                      </p:cBhvr>
                                      <p:tavLst>
                                        <p:tav tm="0">
                                          <p:val>
                                            <p:strVal val="#ppt_y+0.06"/>
                                          </p:val>
                                        </p:tav>
                                        <p:tav tm="100000">
                                          <p:val>
                                            <p:strVal val="#ppt_y"/>
                                          </p:val>
                                        </p:tav>
                                      </p:tavLst>
                                    </p:anim>
                                  </p:childTnLst>
                                </p:cTn>
                              </p:par>
                            </p:childTnLst>
                          </p:cTn>
                        </p:par>
                        <p:par>
                          <p:cTn id="27" fill="hold">
                            <p:stCondLst>
                              <p:cond delay="1250"/>
                            </p:stCondLst>
                            <p:childTnLst>
                              <p:par>
                                <p:cTn id="28" presetID="42"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350"/>
                                        <p:tgtEl>
                                          <p:spTgt spid="8"/>
                                        </p:tgtEl>
                                      </p:cBhvr>
                                    </p:animEffect>
                                    <p:anim calcmode="lin" valueType="num">
                                      <p:cBhvr additive="base">
                                        <p:cTn id="31" dur="350" decel="100000" fill="hold"/>
                                        <p:tgtEl>
                                          <p:spTgt spid="8"/>
                                        </p:tgtEl>
                                        <p:attrNameLst>
                                          <p:attrName>ppt_x</p:attrName>
                                        </p:attrNameLst>
                                      </p:cBhvr>
                                      <p:tavLst>
                                        <p:tav tm="0">
                                          <p:val>
                                            <p:strVal val="#ppt_x"/>
                                          </p:val>
                                        </p:tav>
                                        <p:tav tm="100000">
                                          <p:val>
                                            <p:strVal val="#ppt_x"/>
                                          </p:val>
                                        </p:tav>
                                      </p:tavLst>
                                    </p:anim>
                                    <p:anim calcmode="lin" valueType="num">
                                      <p:cBhvr additive="base">
                                        <p:cTn id="32" dur="350" decel="10000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5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8" dur="55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9" dur="275"/>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5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3" dur="55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4" dur="275"/>
                                        <p:tgtEl>
                                          <p:spTgt spid="10"/>
                                        </p:tgtEl>
                                      </p:cBhvr>
                                    </p:animEffect>
                                  </p:childTnLst>
                                </p:cTn>
                              </p:par>
                            </p:childTnLst>
                          </p:cTn>
                        </p:par>
                        <p:par>
                          <p:cTn id="45" fill="hold">
                            <p:stCondLst>
                              <p:cond delay="550"/>
                            </p:stCondLst>
                            <p:childTnLst>
                              <p:par>
                                <p:cTn id="46" presetID="42"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350"/>
                                        <p:tgtEl>
                                          <p:spTgt spid="11"/>
                                        </p:tgtEl>
                                      </p:cBhvr>
                                    </p:animEffect>
                                    <p:anim calcmode="lin" valueType="num">
                                      <p:cBhvr additive="base">
                                        <p:cTn id="49" dur="350" decel="100000" fill="hold"/>
                                        <p:tgtEl>
                                          <p:spTgt spid="11"/>
                                        </p:tgtEl>
                                        <p:attrNameLst>
                                          <p:attrName>ppt_x</p:attrName>
                                        </p:attrNameLst>
                                      </p:cBhvr>
                                      <p:tavLst>
                                        <p:tav tm="0">
                                          <p:val>
                                            <p:strVal val="#ppt_x"/>
                                          </p:val>
                                        </p:tav>
                                        <p:tav tm="100000">
                                          <p:val>
                                            <p:strVal val="#ppt_x"/>
                                          </p:val>
                                        </p:tav>
                                      </p:tavLst>
                                    </p:anim>
                                    <p:anim calcmode="lin" valueType="num">
                                      <p:cBhvr additive="base">
                                        <p:cTn id="50" dur="350" decel="100000" fill="hold"/>
                                        <p:tgtEl>
                                          <p:spTgt spid="11"/>
                                        </p:tgtEl>
                                        <p:attrNameLst>
                                          <p:attrName>ppt_y</p:attrName>
                                        </p:attrNameLst>
                                      </p:cBhvr>
                                      <p:tavLst>
                                        <p:tav tm="0">
                                          <p:val>
                                            <p:strVal val="#ppt_y+0.06"/>
                                          </p:val>
                                        </p:tav>
                                        <p:tav tm="100000">
                                          <p:val>
                                            <p:strVal val="#ppt_y"/>
                                          </p:val>
                                        </p:tav>
                                      </p:tavLst>
                                    </p:anim>
                                  </p:childTnLst>
                                </p:cTn>
                              </p:par>
                            </p:childTnLst>
                          </p:cTn>
                        </p:par>
                        <p:par>
                          <p:cTn id="51" fill="hold">
                            <p:stCondLst>
                              <p:cond delay="900"/>
                            </p:stCondLst>
                            <p:childTnLst>
                              <p:par>
                                <p:cTn id="52" presetID="42"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350"/>
                                        <p:tgtEl>
                                          <p:spTgt spid="12"/>
                                        </p:tgtEl>
                                      </p:cBhvr>
                                    </p:animEffect>
                                    <p:anim calcmode="lin" valueType="num">
                                      <p:cBhvr additive="base">
                                        <p:cTn id="55" dur="350" decel="100000" fill="hold"/>
                                        <p:tgtEl>
                                          <p:spTgt spid="12"/>
                                        </p:tgtEl>
                                        <p:attrNameLst>
                                          <p:attrName>ppt_x</p:attrName>
                                        </p:attrNameLst>
                                      </p:cBhvr>
                                      <p:tavLst>
                                        <p:tav tm="0">
                                          <p:val>
                                            <p:strVal val="#ppt_x"/>
                                          </p:val>
                                        </p:tav>
                                        <p:tav tm="100000">
                                          <p:val>
                                            <p:strVal val="#ppt_x"/>
                                          </p:val>
                                        </p:tav>
                                      </p:tavLst>
                                    </p:anim>
                                    <p:anim calcmode="lin" valueType="num">
                                      <p:cBhvr additive="base">
                                        <p:cTn id="56" dur="350" decel="100000" fill="hold"/>
                                        <p:tgtEl>
                                          <p:spTgt spid="12"/>
                                        </p:tgtEl>
                                        <p:attrNameLst>
                                          <p:attrName>ppt_y</p:attrName>
                                        </p:attrNameLst>
                                      </p:cBhvr>
                                      <p:tavLst>
                                        <p:tav tm="0">
                                          <p:val>
                                            <p:strVal val="#ppt_y+0.06"/>
                                          </p:val>
                                        </p:tav>
                                        <p:tav tm="100000">
                                          <p:val>
                                            <p:strVal val="#ppt_y"/>
                                          </p:val>
                                        </p:tav>
                                      </p:tavLst>
                                    </p:anim>
                                  </p:childTnLst>
                                </p:cTn>
                              </p:par>
                            </p:childTnLst>
                          </p:cTn>
                        </p:par>
                        <p:par>
                          <p:cTn id="57" fill="hold">
                            <p:stCondLst>
                              <p:cond delay="1250"/>
                            </p:stCondLst>
                            <p:childTnLst>
                              <p:par>
                                <p:cTn id="58" presetID="42" presetClass="entr" presetSubtype="0"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350"/>
                                        <p:tgtEl>
                                          <p:spTgt spid="13"/>
                                        </p:tgtEl>
                                      </p:cBhvr>
                                    </p:animEffect>
                                    <p:anim calcmode="lin" valueType="num">
                                      <p:cBhvr additive="base">
                                        <p:cTn id="61" dur="350" decel="100000" fill="hold"/>
                                        <p:tgtEl>
                                          <p:spTgt spid="13"/>
                                        </p:tgtEl>
                                        <p:attrNameLst>
                                          <p:attrName>ppt_x</p:attrName>
                                        </p:attrNameLst>
                                      </p:cBhvr>
                                      <p:tavLst>
                                        <p:tav tm="0">
                                          <p:val>
                                            <p:strVal val="#ppt_x"/>
                                          </p:val>
                                        </p:tav>
                                        <p:tav tm="100000">
                                          <p:val>
                                            <p:strVal val="#ppt_x"/>
                                          </p:val>
                                        </p:tav>
                                      </p:tavLst>
                                    </p:anim>
                                    <p:anim calcmode="lin" valueType="num">
                                      <p:cBhvr additive="base">
                                        <p:cTn id="62" dur="350" decel="100000" fill="hold"/>
                                        <p:tgtEl>
                                          <p:spTgt spid="13"/>
                                        </p:tgtEl>
                                        <p:attrNameLst>
                                          <p:attrName>ppt_y</p:attrName>
                                        </p:attrNameLst>
                                      </p:cBhvr>
                                      <p:tavLst>
                                        <p:tav tm="0">
                                          <p:val>
                                            <p:strVal val="#ppt_y+0.06"/>
                                          </p:val>
                                        </p:tav>
                                        <p:tav tm="100000">
                                          <p:val>
                                            <p:strVal val="#ppt_y"/>
                                          </p:val>
                                        </p:tav>
                                      </p:tavLst>
                                    </p:anim>
                                  </p:childTnLst>
                                </p:cTn>
                              </p:par>
                            </p:childTnLst>
                          </p:cTn>
                        </p:par>
                        <p:par>
                          <p:cTn id="63" fill="hold">
                            <p:stCondLst>
                              <p:cond delay="1600"/>
                            </p:stCondLst>
                            <p:childTnLst>
                              <p:par>
                                <p:cTn id="64" presetID="42" presetClass="entr" presetSubtype="0"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350"/>
                                        <p:tgtEl>
                                          <p:spTgt spid="14"/>
                                        </p:tgtEl>
                                      </p:cBhvr>
                                    </p:animEffect>
                                    <p:anim calcmode="lin" valueType="num">
                                      <p:cBhvr additive="base">
                                        <p:cTn id="67" dur="350" decel="100000" fill="hold"/>
                                        <p:tgtEl>
                                          <p:spTgt spid="14"/>
                                        </p:tgtEl>
                                        <p:attrNameLst>
                                          <p:attrName>ppt_x</p:attrName>
                                        </p:attrNameLst>
                                      </p:cBhvr>
                                      <p:tavLst>
                                        <p:tav tm="0">
                                          <p:val>
                                            <p:strVal val="#ppt_x"/>
                                          </p:val>
                                        </p:tav>
                                        <p:tav tm="100000">
                                          <p:val>
                                            <p:strVal val="#ppt_x"/>
                                          </p:val>
                                        </p:tav>
                                      </p:tavLst>
                                    </p:anim>
                                    <p:anim calcmode="lin" valueType="num">
                                      <p:cBhvr additive="base">
                                        <p:cTn id="68" dur="350" decel="100000" fill="hold"/>
                                        <p:tgtEl>
                                          <p:spTgt spid="14"/>
                                        </p:tgtEl>
                                        <p:attrNameLst>
                                          <p:attrName>ppt_y</p:attrName>
                                        </p:attrNameLst>
                                      </p:cBhvr>
                                      <p:tavLst>
                                        <p:tav tm="0">
                                          <p:val>
                                            <p:strVal val="#ppt_y+0.06"/>
                                          </p:val>
                                        </p:tav>
                                        <p:tav tm="100000">
                                          <p:val>
                                            <p:strVal val="#ppt_y"/>
                                          </p:val>
                                        </p:tav>
                                      </p:tavLst>
                                    </p:anim>
                                  </p:childTnLst>
                                </p:cTn>
                              </p:par>
                            </p:childTnLst>
                          </p:cTn>
                        </p:par>
                        <p:par>
                          <p:cTn id="69" fill="hold">
                            <p:stCondLst>
                              <p:cond delay="1950"/>
                            </p:stCondLst>
                            <p:childTnLst>
                              <p:par>
                                <p:cTn id="70" presetID="42" presetClass="entr" presetSubtype="0" fill="hold" grpId="0" nodeType="after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350"/>
                                        <p:tgtEl>
                                          <p:spTgt spid="15"/>
                                        </p:tgtEl>
                                      </p:cBhvr>
                                    </p:animEffect>
                                    <p:anim calcmode="lin" valueType="num">
                                      <p:cBhvr additive="base">
                                        <p:cTn id="73" dur="350" decel="100000" fill="hold"/>
                                        <p:tgtEl>
                                          <p:spTgt spid="15"/>
                                        </p:tgtEl>
                                        <p:attrNameLst>
                                          <p:attrName>ppt_x</p:attrName>
                                        </p:attrNameLst>
                                      </p:cBhvr>
                                      <p:tavLst>
                                        <p:tav tm="0">
                                          <p:val>
                                            <p:strVal val="#ppt_x"/>
                                          </p:val>
                                        </p:tav>
                                        <p:tav tm="100000">
                                          <p:val>
                                            <p:strVal val="#ppt_x"/>
                                          </p:val>
                                        </p:tav>
                                      </p:tavLst>
                                    </p:anim>
                                    <p:anim calcmode="lin" valueType="num">
                                      <p:cBhvr additive="base">
                                        <p:cTn id="74" dur="350" decel="100000" fill="hold"/>
                                        <p:tgtEl>
                                          <p:spTgt spid="15"/>
                                        </p:tgtEl>
                                        <p:attrNameLst>
                                          <p:attrName>ppt_y</p:attrName>
                                        </p:attrNameLst>
                                      </p:cBhvr>
                                      <p:tavLst>
                                        <p:tav tm="0">
                                          <p:val>
                                            <p:strVal val="#ppt_y+0.06"/>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50" fill="hold"/>
                                        <p:tgtEl>
                                          <p:spTgt spid="1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0" dur="550" fill="hold"/>
                                        <p:tgtEl>
                                          <p:spTgt spid="1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1" dur="275"/>
                                        <p:tgtEl>
                                          <p:spTgt spid="16"/>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additive="base">
                                        <p:cTn id="84" dur="550" fill="hold"/>
                                        <p:tgtEl>
                                          <p:spTgt spid="1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5" dur="550" fill="hold"/>
                                        <p:tgtEl>
                                          <p:spTgt spid="1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86" dur="275"/>
                                        <p:tgtEl>
                                          <p:spTgt spid="17"/>
                                        </p:tgtEl>
                                      </p:cBhvr>
                                    </p:animEffect>
                                  </p:childTnLst>
                                </p:cTn>
                              </p:par>
                            </p:childTnLst>
                          </p:cTn>
                        </p:par>
                        <p:par>
                          <p:cTn id="87" fill="hold">
                            <p:stCondLst>
                              <p:cond delay="550"/>
                            </p:stCondLst>
                            <p:childTnLst>
                              <p:par>
                                <p:cTn id="88" presetID="42" presetClass="entr" presetSubtype="0"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350"/>
                                        <p:tgtEl>
                                          <p:spTgt spid="18"/>
                                        </p:tgtEl>
                                      </p:cBhvr>
                                    </p:animEffect>
                                    <p:anim calcmode="lin" valueType="num">
                                      <p:cBhvr additive="base">
                                        <p:cTn id="91" dur="350" decel="100000" fill="hold"/>
                                        <p:tgtEl>
                                          <p:spTgt spid="18"/>
                                        </p:tgtEl>
                                        <p:attrNameLst>
                                          <p:attrName>ppt_x</p:attrName>
                                        </p:attrNameLst>
                                      </p:cBhvr>
                                      <p:tavLst>
                                        <p:tav tm="0">
                                          <p:val>
                                            <p:strVal val="#ppt_x"/>
                                          </p:val>
                                        </p:tav>
                                        <p:tav tm="100000">
                                          <p:val>
                                            <p:strVal val="#ppt_x"/>
                                          </p:val>
                                        </p:tav>
                                      </p:tavLst>
                                    </p:anim>
                                    <p:anim calcmode="lin" valueType="num">
                                      <p:cBhvr additive="base">
                                        <p:cTn id="92" dur="350" decel="100000" fill="hold"/>
                                        <p:tgtEl>
                                          <p:spTgt spid="18"/>
                                        </p:tgtEl>
                                        <p:attrNameLst>
                                          <p:attrName>ppt_y</p:attrName>
                                        </p:attrNameLst>
                                      </p:cBhvr>
                                      <p:tavLst>
                                        <p:tav tm="0">
                                          <p:val>
                                            <p:strVal val="#ppt_y+0.06"/>
                                          </p:val>
                                        </p:tav>
                                        <p:tav tm="100000">
                                          <p:val>
                                            <p:strVal val="#ppt_y"/>
                                          </p:val>
                                        </p:tav>
                                      </p:tavLst>
                                    </p:anim>
                                  </p:childTnLst>
                                </p:cTn>
                              </p:par>
                            </p:childTnLst>
                          </p:cTn>
                        </p:par>
                        <p:par>
                          <p:cTn id="93" fill="hold">
                            <p:stCondLst>
                              <p:cond delay="900"/>
                            </p:stCondLst>
                            <p:childTnLst>
                              <p:par>
                                <p:cTn id="94" presetID="42" presetClass="entr" presetSubtype="0"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350"/>
                                        <p:tgtEl>
                                          <p:spTgt spid="19"/>
                                        </p:tgtEl>
                                      </p:cBhvr>
                                    </p:animEffect>
                                    <p:anim calcmode="lin" valueType="num">
                                      <p:cBhvr additive="base">
                                        <p:cTn id="97" dur="350" decel="100000" fill="hold"/>
                                        <p:tgtEl>
                                          <p:spTgt spid="19"/>
                                        </p:tgtEl>
                                        <p:attrNameLst>
                                          <p:attrName>ppt_x</p:attrName>
                                        </p:attrNameLst>
                                      </p:cBhvr>
                                      <p:tavLst>
                                        <p:tav tm="0">
                                          <p:val>
                                            <p:strVal val="#ppt_x"/>
                                          </p:val>
                                        </p:tav>
                                        <p:tav tm="100000">
                                          <p:val>
                                            <p:strVal val="#ppt_x"/>
                                          </p:val>
                                        </p:tav>
                                      </p:tavLst>
                                    </p:anim>
                                    <p:anim calcmode="lin" valueType="num">
                                      <p:cBhvr additive="base">
                                        <p:cTn id="98" dur="350" decel="100000" fill="hold"/>
                                        <p:tgtEl>
                                          <p:spTgt spid="19"/>
                                        </p:tgtEl>
                                        <p:attrNameLst>
                                          <p:attrName>ppt_y</p:attrName>
                                        </p:attrNameLst>
                                      </p:cBhvr>
                                      <p:tavLst>
                                        <p:tav tm="0">
                                          <p:val>
                                            <p:strVal val="#ppt_y+0.06"/>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50" fill="hold"/>
                                        <p:tgtEl>
                                          <p:spTgt spid="2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4" dur="550" fill="hold"/>
                                        <p:tgtEl>
                                          <p:spTgt spid="2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05" dur="275"/>
                                        <p:tgtEl>
                                          <p:spTgt spid="20"/>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1"/>
                                        </p:tgtEl>
                                        <p:attrNameLst>
                                          <p:attrName>style.visibility</p:attrName>
                                        </p:attrNameLst>
                                      </p:cBhvr>
                                      <p:to>
                                        <p:strVal val="visible"/>
                                      </p:to>
                                    </p:set>
                                    <p:anim calcmode="lin" valueType="num">
                                      <p:cBhvr additive="base">
                                        <p:cTn id="108" dur="550" fill="hold"/>
                                        <p:tgtEl>
                                          <p:spTgt spid="2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09" dur="550" fill="hold"/>
                                        <p:tgtEl>
                                          <p:spTgt spid="2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10" dur="275"/>
                                        <p:tgtEl>
                                          <p:spTgt spid="21"/>
                                        </p:tgtEl>
                                      </p:cBhvr>
                                    </p:animEffect>
                                  </p:childTnLst>
                                </p:cTn>
                              </p:par>
                            </p:childTnLst>
                          </p:cTn>
                        </p:par>
                        <p:par>
                          <p:cTn id="111" fill="hold">
                            <p:stCondLst>
                              <p:cond delay="550"/>
                            </p:stCondLst>
                            <p:childTnLst>
                              <p:par>
                                <p:cTn id="112" presetID="42" presetClass="entr" presetSubtype="0" fill="hold" grpId="0" nodeType="after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350"/>
                                        <p:tgtEl>
                                          <p:spTgt spid="22"/>
                                        </p:tgtEl>
                                      </p:cBhvr>
                                    </p:animEffect>
                                    <p:anim calcmode="lin" valueType="num">
                                      <p:cBhvr additive="base">
                                        <p:cTn id="115" dur="350" decel="100000" fill="hold"/>
                                        <p:tgtEl>
                                          <p:spTgt spid="22"/>
                                        </p:tgtEl>
                                        <p:attrNameLst>
                                          <p:attrName>ppt_x</p:attrName>
                                        </p:attrNameLst>
                                      </p:cBhvr>
                                      <p:tavLst>
                                        <p:tav tm="0">
                                          <p:val>
                                            <p:strVal val="#ppt_x"/>
                                          </p:val>
                                        </p:tav>
                                        <p:tav tm="100000">
                                          <p:val>
                                            <p:strVal val="#ppt_x"/>
                                          </p:val>
                                        </p:tav>
                                      </p:tavLst>
                                    </p:anim>
                                    <p:anim calcmode="lin" valueType="num">
                                      <p:cBhvr additive="base">
                                        <p:cTn id="116" dur="350" decel="100000" fill="hold"/>
                                        <p:tgtEl>
                                          <p:spTgt spid="22"/>
                                        </p:tgtEl>
                                        <p:attrNameLst>
                                          <p:attrName>ppt_y</p:attrName>
                                        </p:attrNameLst>
                                      </p:cBhvr>
                                      <p:tavLst>
                                        <p:tav tm="0">
                                          <p:val>
                                            <p:strVal val="#ppt_y+0.06"/>
                                          </p:val>
                                        </p:tav>
                                        <p:tav tm="100000">
                                          <p:val>
                                            <p:strVal val="#ppt_y"/>
                                          </p:val>
                                        </p:tav>
                                      </p:tavLst>
                                    </p:anim>
                                  </p:childTnLst>
                                </p:cTn>
                              </p:par>
                            </p:childTnLst>
                          </p:cTn>
                        </p:par>
                        <p:par>
                          <p:cTn id="117" fill="hold">
                            <p:stCondLst>
                              <p:cond delay="900"/>
                            </p:stCondLst>
                            <p:childTnLst>
                              <p:par>
                                <p:cTn id="118" presetID="42" presetClass="entr" presetSubtype="0" fill="hold" grpId="0" nodeType="afterEffect">
                                  <p:stCondLst>
                                    <p:cond delay="0"/>
                                  </p:stCondLst>
                                  <p:childTnLst>
                                    <p:set>
                                      <p:cBhvr>
                                        <p:cTn id="119" dur="1" fill="hold">
                                          <p:stCondLst>
                                            <p:cond delay="0"/>
                                          </p:stCondLst>
                                        </p:cTn>
                                        <p:tgtEl>
                                          <p:spTgt spid="23"/>
                                        </p:tgtEl>
                                        <p:attrNameLst>
                                          <p:attrName>style.visibility</p:attrName>
                                        </p:attrNameLst>
                                      </p:cBhvr>
                                      <p:to>
                                        <p:strVal val="visible"/>
                                      </p:to>
                                    </p:set>
                                    <p:animEffect transition="in" filter="fade">
                                      <p:cBhvr>
                                        <p:cTn id="120" dur="350"/>
                                        <p:tgtEl>
                                          <p:spTgt spid="23"/>
                                        </p:tgtEl>
                                      </p:cBhvr>
                                    </p:animEffect>
                                    <p:anim calcmode="lin" valueType="num">
                                      <p:cBhvr additive="base">
                                        <p:cTn id="121" dur="350" decel="100000" fill="hold"/>
                                        <p:tgtEl>
                                          <p:spTgt spid="23"/>
                                        </p:tgtEl>
                                        <p:attrNameLst>
                                          <p:attrName>ppt_x</p:attrName>
                                        </p:attrNameLst>
                                      </p:cBhvr>
                                      <p:tavLst>
                                        <p:tav tm="0">
                                          <p:val>
                                            <p:strVal val="#ppt_x"/>
                                          </p:val>
                                        </p:tav>
                                        <p:tav tm="100000">
                                          <p:val>
                                            <p:strVal val="#ppt_x"/>
                                          </p:val>
                                        </p:tav>
                                      </p:tavLst>
                                    </p:anim>
                                    <p:anim calcmode="lin" valueType="num">
                                      <p:cBhvr additive="base">
                                        <p:cTn id="122" dur="350" decel="100000" fill="hold"/>
                                        <p:tgtEl>
                                          <p:spTgt spid="23"/>
                                        </p:tgtEl>
                                        <p:attrNameLst>
                                          <p:attrName>ppt_y</p:attrName>
                                        </p:attrNameLst>
                                      </p:cBhvr>
                                      <p:tavLst>
                                        <p:tav tm="0">
                                          <p:val>
                                            <p:strVal val="#ppt_y+0.06"/>
                                          </p:val>
                                        </p:tav>
                                        <p:tav tm="100000">
                                          <p:val>
                                            <p:strVal val="#ppt_y"/>
                                          </p:val>
                                        </p:tav>
                                      </p:tavLst>
                                    </p:anim>
                                  </p:childTnLst>
                                </p:cTn>
                              </p:par>
                            </p:childTnLst>
                          </p:cTn>
                        </p:par>
                        <p:par>
                          <p:cTn id="123" fill="hold">
                            <p:stCondLst>
                              <p:cond delay="1250"/>
                            </p:stCondLst>
                            <p:childTnLst>
                              <p:par>
                                <p:cTn id="124" presetID="42" presetClass="entr" presetSubtype="0" fill="hold" grpId="0" nodeType="afterEffect">
                                  <p:stCondLst>
                                    <p:cond delay="0"/>
                                  </p:stCondLst>
                                  <p:childTnLst>
                                    <p:set>
                                      <p:cBhvr>
                                        <p:cTn id="125" dur="1" fill="hold">
                                          <p:stCondLst>
                                            <p:cond delay="0"/>
                                          </p:stCondLst>
                                        </p:cTn>
                                        <p:tgtEl>
                                          <p:spTgt spid="24"/>
                                        </p:tgtEl>
                                        <p:attrNameLst>
                                          <p:attrName>style.visibility</p:attrName>
                                        </p:attrNameLst>
                                      </p:cBhvr>
                                      <p:to>
                                        <p:strVal val="visible"/>
                                      </p:to>
                                    </p:set>
                                    <p:animEffect transition="in" filter="fade">
                                      <p:cBhvr>
                                        <p:cTn id="126" dur="350"/>
                                        <p:tgtEl>
                                          <p:spTgt spid="24"/>
                                        </p:tgtEl>
                                      </p:cBhvr>
                                    </p:animEffect>
                                    <p:anim calcmode="lin" valueType="num">
                                      <p:cBhvr additive="base">
                                        <p:cTn id="127" dur="350" decel="100000" fill="hold"/>
                                        <p:tgtEl>
                                          <p:spTgt spid="24"/>
                                        </p:tgtEl>
                                        <p:attrNameLst>
                                          <p:attrName>ppt_x</p:attrName>
                                        </p:attrNameLst>
                                      </p:cBhvr>
                                      <p:tavLst>
                                        <p:tav tm="0">
                                          <p:val>
                                            <p:strVal val="#ppt_x"/>
                                          </p:val>
                                        </p:tav>
                                        <p:tav tm="100000">
                                          <p:val>
                                            <p:strVal val="#ppt_x"/>
                                          </p:val>
                                        </p:tav>
                                      </p:tavLst>
                                    </p:anim>
                                    <p:anim calcmode="lin" valueType="num">
                                      <p:cBhvr additive="base">
                                        <p:cTn id="128" dur="350" decel="100000" fill="hold"/>
                                        <p:tgtEl>
                                          <p:spTgt spid="24"/>
                                        </p:tgtEl>
                                        <p:attrNameLst>
                                          <p:attrName>ppt_y</p:attrName>
                                        </p:attrNameLst>
                                      </p:cBhvr>
                                      <p:tavLst>
                                        <p:tav tm="0">
                                          <p:val>
                                            <p:strVal val="#ppt_y+0.06"/>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additive="base">
                                        <p:cTn id="133" dur="550" fill="hold"/>
                                        <p:tgtEl>
                                          <p:spTgt spid="2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4" dur="550" fill="hold"/>
                                        <p:tgtEl>
                                          <p:spTgt spid="2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35" dur="275"/>
                                        <p:tgtEl>
                                          <p:spTgt spid="25"/>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6"/>
                                        </p:tgtEl>
                                        <p:attrNameLst>
                                          <p:attrName>style.visibility</p:attrName>
                                        </p:attrNameLst>
                                      </p:cBhvr>
                                      <p:to>
                                        <p:strVal val="visible"/>
                                      </p:to>
                                    </p:set>
                                    <p:anim calcmode="lin" valueType="num">
                                      <p:cBhvr additive="base">
                                        <p:cTn id="138" dur="550" fill="hold"/>
                                        <p:tgtEl>
                                          <p:spTgt spid="26"/>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39" dur="550" fill="hold"/>
                                        <p:tgtEl>
                                          <p:spTgt spid="26"/>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140" dur="275"/>
                                        <p:tgtEl>
                                          <p:spTgt spid="26"/>
                                        </p:tgtEl>
                                      </p:cBhvr>
                                    </p:animEffect>
                                  </p:childTnLst>
                                </p:cTn>
                              </p:par>
                            </p:childTnLst>
                          </p:cTn>
                        </p:par>
                        <p:par>
                          <p:cTn id="141" fill="hold">
                            <p:stCondLst>
                              <p:cond delay="550"/>
                            </p:stCondLst>
                            <p:childTnLst>
                              <p:par>
                                <p:cTn id="142" presetID="42" presetClass="entr" presetSubtype="0" fill="hold" grpId="0" nodeType="afterEffect">
                                  <p:stCondLst>
                                    <p:cond delay="0"/>
                                  </p:stCondLst>
                                  <p:childTnLst>
                                    <p:set>
                                      <p:cBhvr>
                                        <p:cTn id="143" dur="1" fill="hold">
                                          <p:stCondLst>
                                            <p:cond delay="0"/>
                                          </p:stCondLst>
                                        </p:cTn>
                                        <p:tgtEl>
                                          <p:spTgt spid="27"/>
                                        </p:tgtEl>
                                        <p:attrNameLst>
                                          <p:attrName>style.visibility</p:attrName>
                                        </p:attrNameLst>
                                      </p:cBhvr>
                                      <p:to>
                                        <p:strVal val="visible"/>
                                      </p:to>
                                    </p:set>
                                    <p:animEffect transition="in" filter="fade">
                                      <p:cBhvr>
                                        <p:cTn id="144" dur="350"/>
                                        <p:tgtEl>
                                          <p:spTgt spid="27"/>
                                        </p:tgtEl>
                                      </p:cBhvr>
                                    </p:animEffect>
                                    <p:anim calcmode="lin" valueType="num">
                                      <p:cBhvr additive="base">
                                        <p:cTn id="145" dur="350" decel="100000" fill="hold"/>
                                        <p:tgtEl>
                                          <p:spTgt spid="27"/>
                                        </p:tgtEl>
                                        <p:attrNameLst>
                                          <p:attrName>ppt_x</p:attrName>
                                        </p:attrNameLst>
                                      </p:cBhvr>
                                      <p:tavLst>
                                        <p:tav tm="0">
                                          <p:val>
                                            <p:strVal val="#ppt_x"/>
                                          </p:val>
                                        </p:tav>
                                        <p:tav tm="100000">
                                          <p:val>
                                            <p:strVal val="#ppt_x"/>
                                          </p:val>
                                        </p:tav>
                                      </p:tavLst>
                                    </p:anim>
                                    <p:anim calcmode="lin" valueType="num">
                                      <p:cBhvr additive="base">
                                        <p:cTn id="146" dur="350" decel="100000" fill="hold"/>
                                        <p:tgtEl>
                                          <p:spTgt spid="27"/>
                                        </p:tgtEl>
                                        <p:attrNameLst>
                                          <p:attrName>ppt_y</p:attrName>
                                        </p:attrNameLst>
                                      </p:cBhvr>
                                      <p:tavLst>
                                        <p:tav tm="0">
                                          <p:val>
                                            <p:strVal val="#ppt_y+0.06"/>
                                          </p:val>
                                        </p:tav>
                                        <p:tav tm="100000">
                                          <p:val>
                                            <p:strVal val="#ppt_y"/>
                                          </p:val>
                                        </p:tav>
                                      </p:tavLst>
                                    </p:anim>
                                  </p:childTnLst>
                                </p:cTn>
                              </p:par>
                            </p:childTnLst>
                          </p:cTn>
                        </p:par>
                        <p:par>
                          <p:cTn id="147" fill="hold">
                            <p:stCondLst>
                              <p:cond delay="900"/>
                            </p:stCondLst>
                            <p:childTnLst>
                              <p:par>
                                <p:cTn id="148" presetID="42" presetClass="entr" presetSubtype="0" fill="hold" grpId="0" nodeType="afterEffect">
                                  <p:stCondLst>
                                    <p:cond delay="0"/>
                                  </p:stCondLst>
                                  <p:childTnLst>
                                    <p:set>
                                      <p:cBhvr>
                                        <p:cTn id="149" dur="1" fill="hold">
                                          <p:stCondLst>
                                            <p:cond delay="0"/>
                                          </p:stCondLst>
                                        </p:cTn>
                                        <p:tgtEl>
                                          <p:spTgt spid="28"/>
                                        </p:tgtEl>
                                        <p:attrNameLst>
                                          <p:attrName>style.visibility</p:attrName>
                                        </p:attrNameLst>
                                      </p:cBhvr>
                                      <p:to>
                                        <p:strVal val="visible"/>
                                      </p:to>
                                    </p:set>
                                    <p:animEffect transition="in" filter="fade">
                                      <p:cBhvr>
                                        <p:cTn id="150" dur="350"/>
                                        <p:tgtEl>
                                          <p:spTgt spid="28"/>
                                        </p:tgtEl>
                                      </p:cBhvr>
                                    </p:animEffect>
                                    <p:anim calcmode="lin" valueType="num">
                                      <p:cBhvr additive="base">
                                        <p:cTn id="151" dur="350" decel="100000" fill="hold"/>
                                        <p:tgtEl>
                                          <p:spTgt spid="28"/>
                                        </p:tgtEl>
                                        <p:attrNameLst>
                                          <p:attrName>ppt_x</p:attrName>
                                        </p:attrNameLst>
                                      </p:cBhvr>
                                      <p:tavLst>
                                        <p:tav tm="0">
                                          <p:val>
                                            <p:strVal val="#ppt_x"/>
                                          </p:val>
                                        </p:tav>
                                        <p:tav tm="100000">
                                          <p:val>
                                            <p:strVal val="#ppt_x"/>
                                          </p:val>
                                        </p:tav>
                                      </p:tavLst>
                                    </p:anim>
                                    <p:anim calcmode="lin" valueType="num">
                                      <p:cBhvr additive="base">
                                        <p:cTn id="152" dur="350" decel="100000" fill="hold"/>
                                        <p:tgtEl>
                                          <p:spTgt spid="28"/>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ectag"/>
          <p:cNvSpPr txBox="1"/>
          <p:nvPr/>
        </p:nvSpPr>
        <p:spPr>
          <a:xfrm>
            <a:off x="566928" y="164592"/>
            <a:ext cx="5486400" cy="256032"/>
          </a:xfrm>
          <a:prstGeom prst="rect">
            <a:avLst/>
          </a:prstGeom>
          <a:noFill/>
          <a:ln/>
        </p:spPr>
        <p:txBody>
          <a:bodyPr wrap="square" lIns="0" tIns="0" rIns="0" bIns="0" rtlCol="0" anchor="t"/>
          <a:lstStyle/>
          <a:p>
            <a:pPr marL="0" indent="0" algn="l">
              <a:buNone/>
            </a:pPr>
            <a:r>
              <a:rPr lang="nl-NL" sz="1200" b="1" kern="0" spc="150" dirty="0">
                <a:solidFill>
                  <a:srgbClr val="2E8B74"/>
                </a:solidFill>
                <a:latin typeface="Calibri" pitchFamily="34" charset="0"/>
                <a:ea typeface="Calibri" pitchFamily="34" charset="-122"/>
                <a:cs typeface="Calibri" pitchFamily="34" charset="-120"/>
              </a:rPr>
              <a:t>EXIT-TICKET</a:t>
            </a:r>
            <a:endParaRPr lang="nl-NL" sz="1200" dirty="0"/>
          </a:p>
        </p:txBody>
      </p:sp>
      <p:sp>
        <p:nvSpPr>
          <p:cNvPr id="3" name="!!title"/>
          <p:cNvSpPr txBox="1"/>
          <p:nvPr/>
        </p:nvSpPr>
        <p:spPr>
          <a:xfrm>
            <a:off x="548640" y="384048"/>
            <a:ext cx="8229600" cy="640080"/>
          </a:xfrm>
          <a:prstGeom prst="rect">
            <a:avLst/>
          </a:prstGeom>
          <a:noFill/>
          <a:ln/>
        </p:spPr>
        <p:txBody>
          <a:bodyPr wrap="square" lIns="0" tIns="0" rIns="0" bIns="0" rtlCol="0" anchor="t"/>
          <a:lstStyle/>
          <a:p>
            <a:pPr marL="0" indent="0" algn="l">
              <a:buNone/>
            </a:pPr>
            <a:r>
              <a:rPr lang="nl-NL" sz="3400" b="1" dirty="0">
                <a:solidFill>
                  <a:srgbClr val="1E2A3A"/>
                </a:solidFill>
                <a:latin typeface="Calibri" pitchFamily="34" charset="0"/>
                <a:ea typeface="Calibri" pitchFamily="34" charset="-122"/>
                <a:cs typeface="Calibri" pitchFamily="34" charset="-120"/>
              </a:rPr>
              <a:t>Check jezelf</a:t>
            </a:r>
            <a:endParaRPr lang="nl-NL" sz="3400" dirty="0"/>
          </a:p>
        </p:txBody>
      </p:sp>
      <p:sp>
        <p:nvSpPr>
          <p:cNvPr id="4" name="s44_q"/>
          <p:cNvSpPr txBox="1"/>
          <p:nvPr/>
        </p:nvSpPr>
        <p:spPr>
          <a:xfrm>
            <a:off x="566928" y="1097280"/>
            <a:ext cx="10058400" cy="411480"/>
          </a:xfrm>
          <a:prstGeom prst="rect">
            <a:avLst/>
          </a:prstGeom>
          <a:noFill/>
          <a:ln/>
        </p:spPr>
        <p:txBody>
          <a:bodyPr wrap="square" lIns="0" tIns="0" rIns="0" bIns="0" rtlCol="0" anchor="t"/>
          <a:lstStyle/>
          <a:p>
            <a:pPr marL="0" indent="0" algn="l">
              <a:buNone/>
            </a:pPr>
            <a:r>
              <a:rPr lang="nl-NL" sz="2200" dirty="0">
                <a:solidFill>
                  <a:srgbClr val="5B6B7B"/>
                </a:solidFill>
                <a:latin typeface="Calibri" pitchFamily="34" charset="0"/>
                <a:ea typeface="Calibri" pitchFamily="34" charset="-122"/>
                <a:cs typeface="Calibri" pitchFamily="34" charset="-120"/>
              </a:rPr>
              <a:t>Beantwoord de hoofdvraag in 3 zinnen:</a:t>
            </a:r>
            <a:endParaRPr lang="nl-NL" sz="2200" dirty="0"/>
          </a:p>
        </p:txBody>
      </p:sp>
      <p:sp>
        <p:nvSpPr>
          <p:cNvPr id="5" name="s44_hv2"/>
          <p:cNvSpPr txBox="1"/>
          <p:nvPr/>
        </p:nvSpPr>
        <p:spPr>
          <a:xfrm>
            <a:off x="548640" y="1600200"/>
            <a:ext cx="11109960" cy="868680"/>
          </a:xfrm>
          <a:prstGeom prst="roundRect">
            <a:avLst>
              <a:gd name="adj" fmla="val 10526"/>
            </a:avLst>
          </a:prstGeom>
          <a:solidFill>
            <a:srgbClr val="E5F3EE"/>
          </a:solidFill>
          <a:ln/>
        </p:spPr>
        <p:txBody>
          <a:bodyPr wrap="square" lIns="76200" tIns="203200" rIns="203200" bIns="76200" rtlCol="0" anchor="ctr"/>
          <a:lstStyle/>
          <a:p>
            <a:pPr marL="0" indent="0" algn="l">
              <a:buNone/>
            </a:pPr>
            <a:r>
              <a:rPr lang="nl-NL" sz="2600" b="1" dirty="0">
                <a:solidFill>
                  <a:srgbClr val="1E2A3A"/>
                </a:solidFill>
                <a:latin typeface="Calibri" pitchFamily="34" charset="0"/>
                <a:ea typeface="Calibri" pitchFamily="34" charset="-122"/>
                <a:cs typeface="Calibri" pitchFamily="34" charset="-120"/>
              </a:rPr>
              <a:t>Hoe ontwikkelde de Nederlandse economie zich na de jaren dertig?</a:t>
            </a:r>
            <a:endParaRPr lang="nl-NL" sz="2600" dirty="0"/>
          </a:p>
        </p:txBody>
      </p:sp>
      <p:sp>
        <p:nvSpPr>
          <p:cNvPr id="6" name="s44_wl"/>
          <p:cNvSpPr txBox="1"/>
          <p:nvPr/>
        </p:nvSpPr>
        <p:spPr>
          <a:xfrm>
            <a:off x="566928" y="2697480"/>
            <a:ext cx="7315200" cy="320040"/>
          </a:xfrm>
          <a:prstGeom prst="rect">
            <a:avLst/>
          </a:prstGeom>
          <a:noFill/>
          <a:ln/>
        </p:spPr>
        <p:txBody>
          <a:bodyPr wrap="square" lIns="0" tIns="0" rIns="0" bIns="0" rtlCol="0" anchor="t"/>
          <a:lstStyle/>
          <a:p>
            <a:pPr marL="0" indent="0" algn="l">
              <a:buNone/>
            </a:pPr>
            <a:r>
              <a:rPr lang="nl-NL" sz="1600" b="1" dirty="0">
                <a:solidFill>
                  <a:srgbClr val="5B6B7B"/>
                </a:solidFill>
                <a:latin typeface="Calibri" pitchFamily="34" charset="0"/>
                <a:ea typeface="Calibri" pitchFamily="34" charset="-122"/>
                <a:cs typeface="Calibri" pitchFamily="34" charset="-120"/>
              </a:rPr>
              <a:t>Gebruik minstens 3 van deze woorden:</a:t>
            </a:r>
            <a:endParaRPr lang="nl-NL" sz="1600" dirty="0"/>
          </a:p>
        </p:txBody>
      </p:sp>
      <p:sp>
        <p:nvSpPr>
          <p:cNvPr id="7" name="s44_w0"/>
          <p:cNvSpPr txBox="1"/>
          <p:nvPr/>
        </p:nvSpPr>
        <p:spPr>
          <a:xfrm>
            <a:off x="548640" y="3108960"/>
            <a:ext cx="987552"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oorlog</a:t>
            </a:r>
            <a:endParaRPr lang="nl-NL" sz="1500" dirty="0"/>
          </a:p>
        </p:txBody>
      </p:sp>
      <p:sp>
        <p:nvSpPr>
          <p:cNvPr id="8" name="s44_w1"/>
          <p:cNvSpPr txBox="1"/>
          <p:nvPr/>
        </p:nvSpPr>
        <p:spPr>
          <a:xfrm>
            <a:off x="1673352" y="3108960"/>
            <a:ext cx="1591056"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Marshallhulp</a:t>
            </a:r>
            <a:endParaRPr lang="nl-NL" sz="1500" dirty="0"/>
          </a:p>
        </p:txBody>
      </p:sp>
      <p:sp>
        <p:nvSpPr>
          <p:cNvPr id="9" name="s44_w2"/>
          <p:cNvSpPr txBox="1"/>
          <p:nvPr/>
        </p:nvSpPr>
        <p:spPr>
          <a:xfrm>
            <a:off x="3401568" y="3108960"/>
            <a:ext cx="1389888"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lage lonen</a:t>
            </a:r>
            <a:endParaRPr lang="nl-NL" sz="1500" dirty="0"/>
          </a:p>
        </p:txBody>
      </p:sp>
      <p:sp>
        <p:nvSpPr>
          <p:cNvPr id="10" name="s44_w3"/>
          <p:cNvSpPr txBox="1"/>
          <p:nvPr/>
        </p:nvSpPr>
        <p:spPr>
          <a:xfrm>
            <a:off x="4928616" y="3108960"/>
            <a:ext cx="987552"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export</a:t>
            </a:r>
            <a:endParaRPr lang="nl-NL" sz="1500" dirty="0"/>
          </a:p>
        </p:txBody>
      </p:sp>
      <p:sp>
        <p:nvSpPr>
          <p:cNvPr id="11" name="s44_w4"/>
          <p:cNvSpPr txBox="1"/>
          <p:nvPr/>
        </p:nvSpPr>
        <p:spPr>
          <a:xfrm>
            <a:off x="6053328" y="3108960"/>
            <a:ext cx="2596896"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consumptiemaatschappij</a:t>
            </a:r>
            <a:endParaRPr lang="nl-NL" sz="1500" dirty="0"/>
          </a:p>
        </p:txBody>
      </p:sp>
      <p:sp>
        <p:nvSpPr>
          <p:cNvPr id="12" name="s44_w5"/>
          <p:cNvSpPr txBox="1"/>
          <p:nvPr/>
        </p:nvSpPr>
        <p:spPr>
          <a:xfrm>
            <a:off x="8787384" y="3108960"/>
            <a:ext cx="1389888"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oliecrisis</a:t>
            </a:r>
            <a:endParaRPr lang="nl-NL" sz="1500" dirty="0"/>
          </a:p>
        </p:txBody>
      </p:sp>
      <p:sp>
        <p:nvSpPr>
          <p:cNvPr id="13" name="s44_w6"/>
          <p:cNvSpPr txBox="1"/>
          <p:nvPr/>
        </p:nvSpPr>
        <p:spPr>
          <a:xfrm>
            <a:off x="10314432" y="3108960"/>
            <a:ext cx="987552" cy="384048"/>
          </a:xfrm>
          <a:prstGeom prst="roundRect">
            <a:avLst>
              <a:gd name="adj" fmla="val 35714"/>
            </a:avLst>
          </a:prstGeom>
          <a:solidFill>
            <a:srgbClr val="F28C38"/>
          </a:solidFill>
          <a:ln/>
        </p:spPr>
        <p:txBody>
          <a:bodyPr wrap="square" lIns="0" tIns="0" rIns="0" bIns="0" rtlCol="0" anchor="ctr"/>
          <a:lstStyle/>
          <a:p>
            <a:pPr marL="0" indent="0" algn="ctr">
              <a:buNone/>
            </a:pPr>
            <a:r>
              <a:rPr lang="nl-NL" sz="1500" b="1" dirty="0">
                <a:solidFill>
                  <a:srgbClr val="FFFFFF"/>
                </a:solidFill>
                <a:latin typeface="Calibri" pitchFamily="34" charset="0"/>
                <a:ea typeface="Calibri" pitchFamily="34" charset="-122"/>
                <a:cs typeface="Calibri" pitchFamily="34" charset="-120"/>
              </a:rPr>
              <a:t>handel</a:t>
            </a:r>
            <a:endParaRPr lang="nl-NL" sz="1500" dirty="0"/>
          </a:p>
        </p:txBody>
      </p:sp>
      <p:sp>
        <p:nvSpPr>
          <p:cNvPr id="14" name="s44_ans"/>
          <p:cNvSpPr txBox="1"/>
          <p:nvPr/>
        </p:nvSpPr>
        <p:spPr>
          <a:xfrm>
            <a:off x="548640" y="3840480"/>
            <a:ext cx="11109960" cy="1737360"/>
          </a:xfrm>
          <a:prstGeom prst="roundRect">
            <a:avLst>
              <a:gd name="adj" fmla="val 4211"/>
            </a:avLst>
          </a:prstGeom>
          <a:solidFill>
            <a:srgbClr val="FFFFFF"/>
          </a:solidFill>
          <a:ln/>
        </p:spPr>
        <p:txBody>
          <a:bodyPr wrap="square" lIns="101600" tIns="203200" rIns="203200" bIns="101600" rtlCol="0" anchor="ctr"/>
          <a:lstStyle/>
          <a:p>
            <a:pPr marL="0" indent="0" algn="l">
              <a:buNone/>
            </a:pPr>
            <a:r>
              <a:rPr lang="nl-NL" sz="1800" b="1" dirty="0">
                <a:solidFill>
                  <a:srgbClr val="2E8B74"/>
                </a:solidFill>
                <a:latin typeface="Calibri" pitchFamily="34" charset="0"/>
                <a:ea typeface="Calibri" pitchFamily="34" charset="-122"/>
                <a:cs typeface="Calibri" pitchFamily="34" charset="-120"/>
              </a:rPr>
              <a:t>Voorbeeldantwoord: </a:t>
            </a:r>
            <a:r>
              <a:rPr lang="nl-NL" sz="1800" dirty="0">
                <a:solidFill>
                  <a:srgbClr val="1E2A3A"/>
                </a:solidFill>
                <a:latin typeface="Calibri" pitchFamily="34" charset="0"/>
                <a:ea typeface="Calibri" pitchFamily="34" charset="-122"/>
                <a:cs typeface="Calibri" pitchFamily="34" charset="-120"/>
              </a:rPr>
              <a:t>Na de oorlog was Nederland arm en verwoest. Dankzij de Marshallhulp, lage lonen en veel export werd het land snel opgebouwd, en in de jaren 60 ontstond een consumptiemaatschappij. Na de oliecrisis verdween veel industrie en draait Nederland nu vooral op handel en diensten.</a:t>
            </a:r>
            <a:endParaRPr lang="nl-NL" sz="1800" dirty="0"/>
          </a:p>
        </p:txBody>
      </p:sp>
      <p:sp>
        <p:nvSpPr>
          <p:cNvPr id="15" name="s44_ansb"/>
          <p:cNvSpPr/>
          <p:nvPr/>
        </p:nvSpPr>
        <p:spPr>
          <a:xfrm>
            <a:off x="548640" y="3840480"/>
            <a:ext cx="11109960" cy="1737360"/>
          </a:xfrm>
          <a:prstGeom prst="roundRect">
            <a:avLst>
              <a:gd name="adj" fmla="val 5263"/>
            </a:avLst>
          </a:prstGeom>
          <a:ln w="25400">
            <a:solidFill>
              <a:srgbClr val="2E8B74"/>
            </a:solidFill>
            <a:prstDash val="solid"/>
          </a:ln>
        </p:spPr>
        <p:txBody>
          <a:bodyPr/>
          <a:lstStyle/>
          <a:p>
            <a:endParaRPr lang="nl-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50" fill="hold"/>
                                        <p:tgtEl>
                                          <p:spTgt spid="5"/>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8" dur="550" fill="hold"/>
                                        <p:tgtEl>
                                          <p:spTgt spid="5"/>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9" dur="275"/>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300" fill="hold"/>
                                        <p:tgtEl>
                                          <p:spTgt spid="7"/>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19" dur="300" fill="hold"/>
                                        <p:tgtEl>
                                          <p:spTgt spid="7"/>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0" dur="200"/>
                                        <p:tgtEl>
                                          <p:spTgt spid="7"/>
                                        </p:tgtEl>
                                      </p:cBhvr>
                                    </p:animEffect>
                                  </p:childTnLst>
                                </p:cTn>
                              </p:par>
                            </p:childTnLst>
                          </p:cTn>
                        </p:par>
                        <p:par>
                          <p:cTn id="21" fill="hold">
                            <p:stCondLst>
                              <p:cond delay="800"/>
                            </p:stCondLst>
                            <p:childTnLst>
                              <p:par>
                                <p:cTn id="22"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00" fill="hold"/>
                                        <p:tgtEl>
                                          <p:spTgt spid="8"/>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25" dur="300" fill="hold"/>
                                        <p:tgtEl>
                                          <p:spTgt spid="8"/>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26" dur="200"/>
                                        <p:tgtEl>
                                          <p:spTgt spid="8"/>
                                        </p:tgtEl>
                                      </p:cBhvr>
                                    </p:animEffect>
                                  </p:childTnLst>
                                </p:cTn>
                              </p:par>
                            </p:childTnLst>
                          </p:cTn>
                        </p:par>
                        <p:par>
                          <p:cTn id="27" fill="hold">
                            <p:stCondLst>
                              <p:cond delay="1100"/>
                            </p:stCondLst>
                            <p:childTnLst>
                              <p:par>
                                <p:cTn id="28"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300" fill="hold"/>
                                        <p:tgtEl>
                                          <p:spTgt spid="9"/>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1" dur="300" fill="hold"/>
                                        <p:tgtEl>
                                          <p:spTgt spid="9"/>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2" dur="200"/>
                                        <p:tgtEl>
                                          <p:spTgt spid="9"/>
                                        </p:tgtEl>
                                      </p:cBhvr>
                                    </p:animEffect>
                                  </p:childTnLst>
                                </p:cTn>
                              </p:par>
                            </p:childTnLst>
                          </p:cTn>
                        </p:par>
                        <p:par>
                          <p:cTn id="33" fill="hold">
                            <p:stCondLst>
                              <p:cond delay="1400"/>
                            </p:stCondLst>
                            <p:childTnLst>
                              <p:par>
                                <p:cTn id="34" presetID="53" presetClass="entr" presetSubtype="1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300" fill="hold"/>
                                        <p:tgtEl>
                                          <p:spTgt spid="10"/>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37" dur="300" fill="hold"/>
                                        <p:tgtEl>
                                          <p:spTgt spid="10"/>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38" dur="200"/>
                                        <p:tgtEl>
                                          <p:spTgt spid="10"/>
                                        </p:tgtEl>
                                      </p:cBhvr>
                                    </p:animEffect>
                                  </p:childTnLst>
                                </p:cTn>
                              </p:par>
                            </p:childTnLst>
                          </p:cTn>
                        </p:par>
                        <p:par>
                          <p:cTn id="39" fill="hold">
                            <p:stCondLst>
                              <p:cond delay="1700"/>
                            </p:stCondLst>
                            <p:childTnLst>
                              <p:par>
                                <p:cTn id="40" presetID="53" presetClass="entr" presetSubtype="16"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300" fill="hold"/>
                                        <p:tgtEl>
                                          <p:spTgt spid="11"/>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3" dur="300" fill="hold"/>
                                        <p:tgtEl>
                                          <p:spTgt spid="11"/>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44" dur="200"/>
                                        <p:tgtEl>
                                          <p:spTgt spid="11"/>
                                        </p:tgtEl>
                                      </p:cBhvr>
                                    </p:animEffect>
                                  </p:childTnLst>
                                </p:cTn>
                              </p:par>
                            </p:childTnLst>
                          </p:cTn>
                        </p:par>
                        <p:par>
                          <p:cTn id="45" fill="hold">
                            <p:stCondLst>
                              <p:cond delay="2000"/>
                            </p:stCondLst>
                            <p:childTnLst>
                              <p:par>
                                <p:cTn id="46" presetID="53" presetClass="entr" presetSubtype="16" fill="hold" grpId="0" nodeType="after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300" fill="hold"/>
                                        <p:tgtEl>
                                          <p:spTgt spid="12"/>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49" dur="300" fill="hold"/>
                                        <p:tgtEl>
                                          <p:spTgt spid="12"/>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0" dur="200"/>
                                        <p:tgtEl>
                                          <p:spTgt spid="12"/>
                                        </p:tgtEl>
                                      </p:cBhvr>
                                    </p:animEffect>
                                  </p:childTnLst>
                                </p:cTn>
                              </p:par>
                            </p:childTnLst>
                          </p:cTn>
                        </p:par>
                        <p:par>
                          <p:cTn id="51" fill="hold">
                            <p:stCondLst>
                              <p:cond delay="2300"/>
                            </p:stCondLst>
                            <p:childTnLst>
                              <p:par>
                                <p:cTn id="52" presetID="53" presetClass="entr" presetSubtype="16"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300" fill="hold"/>
                                        <p:tgtEl>
                                          <p:spTgt spid="13"/>
                                        </p:tgtEl>
                                        <p:attrNameLst>
                                          <p:attrName>ppt_w</p:attrName>
                                        </p:attrNameLst>
                                      </p:cBhvr>
                                      <p:tavLst>
                                        <p:tav tm="0">
                                          <p:val>
                                            <p:strVal val="0"/>
                                          </p:val>
                                        </p:tav>
                                        <p:tav tm="62000">
                                          <p:val>
                                            <p:strVal val="#ppt_w*1.1"/>
                                          </p:val>
                                        </p:tav>
                                        <p:tav tm="82000">
                                          <p:val>
                                            <p:strVal val="#ppt_w*0.97"/>
                                          </p:val>
                                        </p:tav>
                                        <p:tav tm="100000">
                                          <p:val>
                                            <p:strVal val="#ppt_w"/>
                                          </p:val>
                                        </p:tav>
                                      </p:tavLst>
                                    </p:anim>
                                    <p:anim calcmode="lin" valueType="num">
                                      <p:cBhvr additive="base">
                                        <p:cTn id="55" dur="300" fill="hold"/>
                                        <p:tgtEl>
                                          <p:spTgt spid="13"/>
                                        </p:tgtEl>
                                        <p:attrNameLst>
                                          <p:attrName>ppt_h</p:attrName>
                                        </p:attrNameLst>
                                      </p:cBhvr>
                                      <p:tavLst>
                                        <p:tav tm="0">
                                          <p:val>
                                            <p:strVal val="0"/>
                                          </p:val>
                                        </p:tav>
                                        <p:tav tm="62000">
                                          <p:val>
                                            <p:strVal val="#ppt_h*1.1"/>
                                          </p:val>
                                        </p:tav>
                                        <p:tav tm="82000">
                                          <p:val>
                                            <p:strVal val="#ppt_h*0.97"/>
                                          </p:val>
                                        </p:tav>
                                        <p:tav tm="100000">
                                          <p:val>
                                            <p:strVal val="#ppt_h"/>
                                          </p:val>
                                        </p:tav>
                                      </p:tavLst>
                                    </p:anim>
                                    <p:animEffect transition="in" filter="fade">
                                      <p:cBhvr>
                                        <p:cTn id="56" dur="2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50"/>
                                        <p:tgtEl>
                                          <p:spTgt spid="14"/>
                                        </p:tgtEl>
                                      </p:cBhvr>
                                    </p:animEffect>
                                    <p:anim calcmode="lin" valueType="num">
                                      <p:cBhvr additive="base">
                                        <p:cTn id="62"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63" dur="650" decel="100000" fill="hold"/>
                                        <p:tgtEl>
                                          <p:spTgt spid="14"/>
                                        </p:tgtEl>
                                        <p:attrNameLst>
                                          <p:attrName>ppt_y</p:attrName>
                                        </p:attrNameLst>
                                      </p:cBhvr>
                                      <p:tavLst>
                                        <p:tav tm="0">
                                          <p:val>
                                            <p:strVal val="#ppt_y+0.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50"/>
                                        <p:tgtEl>
                                          <p:spTgt spid="15"/>
                                        </p:tgtEl>
                                      </p:cBhvr>
                                    </p:animEffect>
                                    <p:anim calcmode="lin" valueType="num">
                                      <p:cBhvr additive="base">
                                        <p:cTn id="67" dur="650" decel="100000" fill="hold"/>
                                        <p:tgtEl>
                                          <p:spTgt spid="15"/>
                                        </p:tgtEl>
                                        <p:attrNameLst>
                                          <p:attrName>ppt_x</p:attrName>
                                        </p:attrNameLst>
                                      </p:cBhvr>
                                      <p:tavLst>
                                        <p:tav tm="0">
                                          <p:val>
                                            <p:strVal val="#ppt_x"/>
                                          </p:val>
                                        </p:tav>
                                        <p:tav tm="100000">
                                          <p:val>
                                            <p:strVal val="#ppt_x"/>
                                          </p:val>
                                        </p:tav>
                                      </p:tavLst>
                                    </p:anim>
                                    <p:anim calcmode="lin" valueType="num">
                                      <p:cBhvr additive="base">
                                        <p:cTn id="68" dur="650" decel="100000" fill="hold"/>
                                        <p:tgtEl>
                                          <p:spTgt spid="15"/>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4C34BD-26F4-0248-B3AD-E8ADD53BCB2B}">
  <we:reference id="WA200010001" version="1.0.0.1" store="Omex" storeType="OMEX"/>
  <we:alternateReferences>
    <we:reference id="WA200010001" version="1.0.0.1" store="WA200010001" storeType="OMEX"/>
  </we:alternateReferences>
  <we:properties>
    <we:property name="claude.fileId" value="&quot;2cccc559-9958-448c-98d1-f7bf09d9a6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125</TotalTime>
  <Words>9681</Words>
  <Application>Microsoft Macintosh PowerPoint</Application>
  <PresentationFormat>Breedbeeld</PresentationFormat>
  <Paragraphs>696</Paragraphs>
  <Slides>44</Slides>
  <Notes>44</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44</vt:i4>
      </vt:variant>
    </vt:vector>
  </HeadingPairs>
  <TitlesOfParts>
    <vt:vector size="47" baseType="lpstr">
      <vt:lpstr>Arial</vt:lpstr>
      <vt:lpstr>Calibri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H4 Welvaart voor iedereen</dc:title>
  <dc:subject>PptxGenJS Presentation</dc:subject>
  <dc:creator>Economie 3 mavo</dc:creator>
  <cp:lastModifiedBy>Boersen, J.</cp:lastModifiedBy>
  <cp:revision>2</cp:revision>
  <dcterms:created xsi:type="dcterms:W3CDTF">2026-09-24T14:01:47Z</dcterms:created>
  <dcterms:modified xsi:type="dcterms:W3CDTF">2026-09-24T16:09:05Z</dcterms:modified>
</cp:coreProperties>
</file>